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8.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pieChart>
        <c:varyColors val="1"/>
        <c:ser>
          <c:idx val="0"/>
          <c:order val="0"/>
          <c:tx>
            <c:strRef>
              <c:f>Sheet1!$B$1</c:f>
              <c:strCache>
                <c:ptCount val="1"/>
                <c:pt idx="0">
                  <c:v>Threat Types</c:v>
                </c:pt>
              </c:strCache>
            </c:strRef>
          </c:tx>
          <c:spPr>
            <a:solidFill>
              <a:schemeClr val="accent1"/>
            </a:solidFill>
            <a:ln w="9525" cap="flat">
              <a:solidFill>
                <a:srgbClr val="F9F9F9"/>
              </a:solidFill>
              <a:prstDash val="solid"/>
              <a:round/>
            </a:ln>
            <a:effectLst/>
          </c:spPr>
          <c:dPt>
            <c:idx val="0"/>
            <c:bubble3D val="0"/>
            <c:spPr>
              <a:solidFill>
                <a:srgbClr val="EF4444"/>
              </a:solidFill>
              <a:effectLst/>
            </c:spPr>
          </c:dPt>
          <c:dPt>
            <c:idx val="1"/>
            <c:bubble3D val="0"/>
            <c:spPr>
              <a:solidFill>
                <a:srgbClr val="F59E0B"/>
              </a:solidFill>
              <a:effectLst/>
            </c:spPr>
          </c:dPt>
          <c:dPt>
            <c:idx val="2"/>
            <c:bubble3D val="0"/>
            <c:spPr>
              <a:solidFill>
                <a:srgbClr val="8B5CF6"/>
              </a:solidFill>
              <a:effectLst/>
            </c:spPr>
          </c:dPt>
          <c:dPt>
            <c:idx val="3"/>
            <c:bubble3D val="0"/>
            <c:spPr>
              <a:solidFill>
                <a:srgbClr val="00B4D8"/>
              </a:solidFill>
              <a:effectLst/>
            </c:spPr>
          </c:dPt>
          <c:dPt>
            <c:idx val="4"/>
            <c:bubble3D val="0"/>
            <c:spPr>
              <a:solidFill>
                <a:srgbClr val="10B981"/>
              </a:solidFill>
              <a:effectLst/>
            </c:spPr>
          </c:dPt>
          <c:dPt>
            <c:idx val="5"/>
            <c:bubble3D val="0"/>
            <c:spPr>
              <a:solidFill>
                <a:srgbClr val="64748B"/>
              </a:solidFill>
              <a:effectLst/>
            </c:spPr>
          </c:dPt>
          <c:dLbls>
            <c:dLbl>
              <c:idx val="0"/>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11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Sheet1!$A$2:$A$7</c:f>
              <c:strCache>
                <c:ptCount val="6"/>
                <c:pt idx="0">
                  <c:v>Financial Fraud</c:v>
                </c:pt>
                <c:pt idx="1">
                  <c:v>Phishing</c:v>
                </c:pt>
                <c:pt idx="2">
                  <c:v>Identity Theft</c:v>
                </c:pt>
                <c:pt idx="3">
                  <c:v>Ransomware</c:v>
                </c:pt>
                <c:pt idx="4">
                  <c:v>Social Media
Hacking</c:v>
                </c:pt>
                <c:pt idx="5">
                  <c:v>Others</c:v>
                </c:pt>
              </c:strCache>
            </c:strRef>
          </c:cat>
          <c:val>
            <c:numRef>
              <c:f>Sheet1!$B$2:$B$7</c:f>
              <c:numCache>
                <c:ptCount val="6"/>
                <c:pt idx="0">
                  <c:v>35</c:v>
                </c:pt>
                <c:pt idx="1">
                  <c:v>25</c:v>
                </c:pt>
                <c:pt idx="2">
                  <c:v>15</c:v>
                </c:pt>
                <c:pt idx="3">
                  <c:v>10</c:v>
                </c:pt>
                <c:pt idx="4">
                  <c:v>8</c:v>
                </c:pt>
                <c:pt idx="5">
                  <c:v>7</c:v>
                </c:pt>
              </c:numCache>
            </c:numRef>
          </c:val>
        </c:ser>
        <c:firstSliceAng val="0"/>
      </c:pieChart>
      <c:spPr>
        <a:noFill/>
        <a:ln>
          <a:noFill/>
        </a:ln>
        <a:effectLst/>
      </c:spPr>
    </c:plotArea>
    <c:legend>
      <c:legendPos val="b"/>
      <c:overlay val="0"/>
    </c:legend>
    <c:plotVisOnly val="1"/>
    <c:dispBlanksAs val="span"/>
  </c:chart>
  <c:spPr>
    <a:solidFill>
      <a:srgbClr val="1B3A5C"/>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pieChart>
        <c:varyColors val="1"/>
        <c:ser>
          <c:idx val="0"/>
          <c:order val="0"/>
          <c:tx>
            <c:strRef>
              <c:f>Sheet1!$B$1</c:f>
              <c:strCache>
                <c:ptCount val="1"/>
                <c:pt idx="0">
                  <c:v>Age</c:v>
                </c:pt>
              </c:strCache>
            </c:strRef>
          </c:tx>
          <c:spPr>
            <a:solidFill>
              <a:schemeClr val="accent1"/>
            </a:solidFill>
            <a:ln w="9525" cap="flat">
              <a:solidFill>
                <a:srgbClr val="F9F9F9"/>
              </a:solidFill>
              <a:prstDash val="solid"/>
              <a:round/>
            </a:ln>
            <a:effectLst/>
          </c:spPr>
          <c:dPt>
            <c:idx val="0"/>
            <c:bubble3D val="0"/>
            <c:spPr>
              <a:solidFill>
                <a:srgbClr val="4E79A7"/>
              </a:solidFill>
              <a:effectLst/>
            </c:spPr>
          </c:dPt>
          <c:dPt>
            <c:idx val="1"/>
            <c:bubble3D val="0"/>
            <c:spPr>
              <a:solidFill>
                <a:srgbClr val="F28E2B"/>
              </a:solidFill>
              <a:effectLst/>
            </c:spPr>
          </c:dPt>
          <c:dPt>
            <c:idx val="2"/>
            <c:bubble3D val="0"/>
            <c:spPr>
              <a:solidFill>
                <a:srgbClr val="E15759"/>
              </a:solidFill>
              <a:effectLst/>
            </c:spPr>
          </c:dPt>
          <c:dPt>
            <c:idx val="3"/>
            <c:bubble3D val="0"/>
            <c:spPr>
              <a:solidFill>
                <a:srgbClr val="76B7B2"/>
              </a:solidFill>
              <a:effectLst/>
            </c:spPr>
          </c:dPt>
          <c:dPt>
            <c:idx val="4"/>
            <c:bubble3D val="0"/>
            <c:spPr>
              <a:solidFill>
                <a:srgbClr val="59A14F"/>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1"/>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1"/>
              <c:showSerName val="0"/>
              <c:showPercent val="1"/>
              <c:showBubbleSize val="0"/>
            </c:dLbl>
            <c:dLbl>
              <c:idx val="2"/>
              <c:numFmt formatCode="0%" sourceLinked="0"/>
              <c:spPr/>
              <c:txPr>
                <a:bodyPr/>
                <a:lstStyle/>
                <a:p>
                  <a:pPr>
                    <a:defRPr sz="1200" b="0" i="0" u="none" strike="noStrike">
                      <a:solidFill>
                        <a:srgbClr val="000000"/>
                      </a:solidFill>
                      <a:latin typeface="Arial"/>
                    </a:defRPr>
                  </a:pPr>
                </a:p>
              </c:txPr>
              <c:showLegendKey val="0"/>
              <c:showVal val="0"/>
              <c:showCatName val="1"/>
              <c:showSerName val="0"/>
              <c:showPercent val="1"/>
              <c:showBubbleSize val="0"/>
            </c:dLbl>
            <c:dLbl>
              <c:idx val="3"/>
              <c:numFmt formatCode="0%" sourceLinked="0"/>
              <c:spPr/>
              <c:txPr>
                <a:bodyPr/>
                <a:lstStyle/>
                <a:p>
                  <a:pPr>
                    <a:defRPr sz="1200" b="0" i="0" u="none" strike="noStrike">
                      <a:solidFill>
                        <a:srgbClr val="000000"/>
                      </a:solidFill>
                      <a:latin typeface="Arial"/>
                    </a:defRPr>
                  </a:pPr>
                </a:p>
              </c:txPr>
              <c:showLegendKey val="0"/>
              <c:showVal val="0"/>
              <c:showCatName val="1"/>
              <c:showSerName val="0"/>
              <c:showPercent val="1"/>
              <c:showBubbleSize val="0"/>
            </c:dLbl>
            <c:dLbl>
              <c:idx val="4"/>
              <c:numFmt formatCode="0%" sourceLinked="0"/>
              <c:spPr/>
              <c:txPr>
                <a:bodyPr/>
                <a:lstStyle/>
                <a:p>
                  <a:pPr>
                    <a:defRPr sz="1200" b="0" i="0" u="none" strike="noStrike">
                      <a:solidFill>
                        <a:srgbClr val="000000"/>
                      </a:solidFill>
                      <a:latin typeface="Arial"/>
                    </a:defRPr>
                  </a:pPr>
                </a:p>
              </c:txPr>
              <c:showLegendKey val="0"/>
              <c:showVal val="0"/>
              <c:showCatName val="1"/>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15–20 yrs</c:v>
                </c:pt>
                <c:pt idx="1">
                  <c:v>21–25 yrs</c:v>
                </c:pt>
                <c:pt idx="2">
                  <c:v>26–35 yrs</c:v>
                </c:pt>
                <c:pt idx="3">
                  <c:v>36–45 yrs</c:v>
                </c:pt>
                <c:pt idx="4">
                  <c:v>45+ yrs</c:v>
                </c:pt>
              </c:strCache>
            </c:strRef>
          </c:cat>
          <c:val>
            <c:numRef>
              <c:f>Sheet1!$B$2:$B$6</c:f>
              <c:numCache>
                <c:ptCount val="5"/>
                <c:pt idx="0">
                  <c:v>30</c:v>
                </c:pt>
                <c:pt idx="1">
                  <c:v>40</c:v>
                </c:pt>
                <c:pt idx="2">
                  <c:v>18</c:v>
                </c:pt>
                <c:pt idx="3">
                  <c:v>8</c:v>
                </c:pt>
                <c:pt idx="4">
                  <c:v>4</c:v>
                </c:pt>
              </c:numCache>
            </c:numRef>
          </c:val>
        </c:ser>
        <c:firstSliceAng val="0"/>
      </c:pieChart>
      <c:spPr>
        <a:noFill/>
        <a:ln>
          <a:noFill/>
        </a:ln>
        <a:effectLst/>
      </c:spPr>
    </c:plotArea>
    <c:legend>
      <c:legendPos val="b"/>
      <c:overlay val="0"/>
    </c:legend>
    <c:plotVisOnly val="1"/>
    <c:dispBlanksAs val="span"/>
  </c:chart>
  <c:spPr>
    <a:solidFill>
      <a:srgbClr val="F0F7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Frequency</c:v>
                </c:pt>
              </c:strCache>
            </c:strRef>
          </c:tx>
          <c:spPr>
            <a:solidFill>
              <a:srgbClr val="00B4D8"/>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Multiple times/day</c:v>
                  </c:pt>
                  <c:pt idx="1">
                    <c:v>Once a day</c:v>
                  </c:pt>
                  <c:pt idx="2">
                    <c:v>Few times/week</c:v>
                  </c:pt>
                  <c:pt idx="3">
                    <c:v>Rarely</c:v>
                  </c:pt>
                </c:lvl>
              </c:multiLvlStrCache>
            </c:multiLvlStrRef>
          </c:cat>
          <c:val>
            <c:numRef>
              <c:f>Sheet1!$B$2:$B$5</c:f>
              <c:numCache>
                <c:formatCode>General</c:formatCode>
                <c:ptCount val="4"/>
                <c:pt idx="0">
                  <c:v>55</c:v>
                </c:pt>
                <c:pt idx="1">
                  <c:v>25</c:v>
                </c:pt>
                <c:pt idx="2">
                  <c:v>14</c:v>
                </c:pt>
                <c:pt idx="3">
                  <c:v>6</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0F7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pieChart>
        <c:varyColors val="1"/>
        <c:ser>
          <c:idx val="0"/>
          <c:order val="0"/>
          <c:tx>
            <c:strRef>
              <c:f>Sheet1!$B$1</c:f>
              <c:strCache>
                <c:ptCount val="1"/>
                <c:pt idx="0">
                  <c:v>Threat</c:v>
                </c:pt>
              </c:strCache>
            </c:strRef>
          </c:tx>
          <c:spPr>
            <a:solidFill>
              <a:schemeClr val="accent1"/>
            </a:solidFill>
            <a:ln w="9525" cap="flat">
              <a:solidFill>
                <a:srgbClr val="F9F9F9"/>
              </a:solidFill>
              <a:prstDash val="solid"/>
              <a:round/>
            </a:ln>
            <a:effectLst/>
          </c:spPr>
          <c:dPt>
            <c:idx val="0"/>
            <c:bubble3D val="0"/>
            <c:spPr>
              <a:solidFill>
                <a:srgbClr val="EF4444"/>
              </a:solidFill>
              <a:effectLst/>
            </c:spPr>
          </c:dPt>
          <c:dPt>
            <c:idx val="1"/>
            <c:bubble3D val="0"/>
            <c:spPr>
              <a:solidFill>
                <a:srgbClr val="3B82F6"/>
              </a:solidFill>
              <a:effectLst/>
            </c:spPr>
          </c:dPt>
          <c:dPt>
            <c:idx val="2"/>
            <c:bubble3D val="0"/>
            <c:spPr>
              <a:solidFill>
                <a:srgbClr val="F59E0B"/>
              </a:solidFill>
              <a:effectLst/>
            </c:spPr>
          </c:dPt>
          <c:dLbls>
            <c:dLbl>
              <c:idx val="0"/>
              <c:numFmt formatCode="0%" sourceLinked="0"/>
              <c:spPr/>
              <c:txPr>
                <a:bodyPr/>
                <a:lstStyle/>
                <a:p>
                  <a:pPr>
                    <a:defRPr sz="1300" b="0" i="0" u="none" strike="noStrike">
                      <a:solidFill>
                        <a:srgbClr val="000000"/>
                      </a:solidFill>
                      <a:latin typeface="Arial"/>
                    </a:defRPr>
                  </a:pPr>
                </a:p>
              </c:txPr>
              <c:showLegendKey val="0"/>
              <c:showVal val="0"/>
              <c:showCatName val="1"/>
              <c:showSerName val="0"/>
              <c:showPercent val="1"/>
              <c:showBubbleSize val="0"/>
            </c:dLbl>
            <c:dLbl>
              <c:idx val="1"/>
              <c:numFmt formatCode="0%" sourceLinked="0"/>
              <c:spPr/>
              <c:txPr>
                <a:bodyPr/>
                <a:lstStyle/>
                <a:p>
                  <a:pPr>
                    <a:defRPr sz="1300" b="0" i="0" u="none" strike="noStrike">
                      <a:solidFill>
                        <a:srgbClr val="000000"/>
                      </a:solidFill>
                      <a:latin typeface="Arial"/>
                    </a:defRPr>
                  </a:pPr>
                </a:p>
              </c:txPr>
              <c:showLegendKey val="0"/>
              <c:showVal val="0"/>
              <c:showCatName val="1"/>
              <c:showSerName val="0"/>
              <c:showPercent val="1"/>
              <c:showBubbleSize val="0"/>
            </c:dLbl>
            <c:dLbl>
              <c:idx val="2"/>
              <c:numFmt formatCode="0%" sourceLinked="0"/>
              <c:spPr/>
              <c:txPr>
                <a:bodyPr/>
                <a:lstStyle/>
                <a:p>
                  <a:pPr>
                    <a:defRPr sz="1300" b="0" i="0" u="none" strike="noStrike">
                      <a:solidFill>
                        <a:srgbClr val="000000"/>
                      </a:solidFill>
                      <a:latin typeface="Arial"/>
                    </a:defRPr>
                  </a:pPr>
                </a:p>
              </c:txPr>
              <c:showLegendKey val="0"/>
              <c:showVal val="0"/>
              <c:showCatName val="1"/>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Yes</c:v>
                </c:pt>
                <c:pt idx="1">
                  <c:v>No</c:v>
                </c:pt>
                <c:pt idx="2">
                  <c:v>Not Sure</c:v>
                </c:pt>
              </c:strCache>
            </c:strRef>
          </c:cat>
          <c:val>
            <c:numRef>
              <c:f>Sheet1!$B$2:$B$4</c:f>
              <c:numCache>
                <c:ptCount val="3"/>
                <c:pt idx="0">
                  <c:v>48</c:v>
                </c:pt>
                <c:pt idx="1">
                  <c:v>35</c:v>
                </c:pt>
                <c:pt idx="2">
                  <c:v>17</c:v>
                </c:pt>
              </c:numCache>
            </c:numRef>
          </c:val>
        </c:ser>
        <c:firstSliceAng val="0"/>
      </c:pieChart>
      <c:spPr>
        <a:noFill/>
        <a:ln>
          <a:noFill/>
        </a:ln>
        <a:effectLst/>
      </c:spPr>
    </c:plotArea>
    <c:legend>
      <c:legendPos val="b"/>
      <c:overlay val="0"/>
    </c:legend>
    <c:plotVisOnly val="1"/>
    <c:dispBlanksAs val="span"/>
  </c:chart>
  <c:spPr>
    <a:solidFill>
      <a:srgbClr val="F0F7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bar"/>
        <c:grouping val="clustered"/>
        <c:varyColors val="0"/>
        <c:ser>
          <c:idx val="0"/>
          <c:order val="0"/>
          <c:tx>
            <c:strRef>
              <c:f>Sheet1!$B$1</c:f>
              <c:strCache>
                <c:ptCount val="1"/>
                <c:pt idx="0">
                  <c:v>Type</c:v>
                </c:pt>
              </c:strCache>
            </c:strRef>
          </c:tx>
          <c:spPr>
            <a:solidFill>
              <a:srgbClr val="00B4D8"/>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Phishing</c:v>
                  </c:pt>
                  <c:pt idx="1">
                    <c:v>Malware/Virus</c:v>
                  </c:pt>
                  <c:pt idx="2">
                    <c:v>Social Media
Hacking</c:v>
                  </c:pt>
                  <c:pt idx="3">
                    <c:v>Online Fraud</c:v>
                  </c:pt>
                  <c:pt idx="4">
                    <c:v>Identity Theft</c:v>
                  </c:pt>
                </c:lvl>
              </c:multiLvlStrCache>
            </c:multiLvlStrRef>
          </c:cat>
          <c:val>
            <c:numRef>
              <c:f>Sheet1!$B$2:$B$6</c:f>
              <c:numCache>
                <c:formatCode>General</c:formatCode>
                <c:ptCount val="5"/>
                <c:pt idx="0">
                  <c:v>38</c:v>
                </c:pt>
                <c:pt idx="1">
                  <c:v>27</c:v>
                </c:pt>
                <c:pt idx="2">
                  <c:v>20</c:v>
                </c:pt>
                <c:pt idx="3">
                  <c:v>10</c:v>
                </c:pt>
                <c:pt idx="4">
                  <c:v>5</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0F7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pieChart>
        <c:varyColors val="1"/>
        <c:ser>
          <c:idx val="0"/>
          <c:order val="0"/>
          <c:tx>
            <c:strRef>
              <c:f>Sheet1!$B$1</c:f>
              <c:strCache>
                <c:ptCount val="1"/>
                <c:pt idx="0">
                  <c:v>Antivirus</c:v>
                </c:pt>
              </c:strCache>
            </c:strRef>
          </c:tx>
          <c:spPr>
            <a:solidFill>
              <a:schemeClr val="accent1"/>
            </a:solidFill>
            <a:ln w="9525" cap="flat">
              <a:solidFill>
                <a:srgbClr val="F9F9F9"/>
              </a:solidFill>
              <a:prstDash val="solid"/>
              <a:round/>
            </a:ln>
            <a:effectLst/>
          </c:spPr>
          <c:dPt>
            <c:idx val="0"/>
            <c:bubble3D val="0"/>
            <c:spPr>
              <a:solidFill>
                <a:srgbClr val="10B981"/>
              </a:solidFill>
              <a:effectLst/>
            </c:spPr>
          </c:dPt>
          <c:dPt>
            <c:idx val="1"/>
            <c:bubble3D val="0"/>
            <c:spPr>
              <a:solidFill>
                <a:srgbClr val="F59E0B"/>
              </a:solidFill>
              <a:effectLst/>
            </c:spPr>
          </c:dPt>
          <c:dPt>
            <c:idx val="2"/>
            <c:bubble3D val="0"/>
            <c:spPr>
              <a:solidFill>
                <a:srgbClr val="EF4444"/>
              </a:solidFill>
              <a:effectLst/>
            </c:spPr>
          </c:dPt>
          <c:dPt>
            <c:idx val="3"/>
            <c:bubble3D val="0"/>
            <c:spPr>
              <a:solidFill>
                <a:srgbClr val="64748B"/>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1"/>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1"/>
              <c:showSerName val="0"/>
              <c:showPercent val="1"/>
              <c:showBubbleSize val="0"/>
            </c:dLbl>
            <c:dLbl>
              <c:idx val="2"/>
              <c:numFmt formatCode="0%" sourceLinked="0"/>
              <c:spPr/>
              <c:txPr>
                <a:bodyPr/>
                <a:lstStyle/>
                <a:p>
                  <a:pPr>
                    <a:defRPr sz="1200" b="0" i="0" u="none" strike="noStrike">
                      <a:solidFill>
                        <a:srgbClr val="000000"/>
                      </a:solidFill>
                      <a:latin typeface="Arial"/>
                    </a:defRPr>
                  </a:pPr>
                </a:p>
              </c:txPr>
              <c:showLegendKey val="0"/>
              <c:showVal val="0"/>
              <c:showCatName val="1"/>
              <c:showSerName val="0"/>
              <c:showPercent val="1"/>
              <c:showBubbleSize val="0"/>
            </c:dLbl>
            <c:dLbl>
              <c:idx val="3"/>
              <c:numFmt formatCode="0%" sourceLinked="0"/>
              <c:spPr/>
              <c:txPr>
                <a:bodyPr/>
                <a:lstStyle/>
                <a:p>
                  <a:pPr>
                    <a:defRPr sz="1200" b="0" i="0" u="none" strike="noStrike">
                      <a:solidFill>
                        <a:srgbClr val="000000"/>
                      </a:solidFill>
                      <a:latin typeface="Arial"/>
                    </a:defRPr>
                  </a:pPr>
                </a:p>
              </c:txPr>
              <c:showLegendKey val="0"/>
              <c:showVal val="0"/>
              <c:showCatName val="1"/>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Always</c:v>
                </c:pt>
                <c:pt idx="1">
                  <c:v>Sometimes</c:v>
                </c:pt>
                <c:pt idx="2">
                  <c:v>No</c:v>
                </c:pt>
                <c:pt idx="3">
                  <c:v>Don't Know</c:v>
                </c:pt>
              </c:strCache>
            </c:strRef>
          </c:cat>
          <c:val>
            <c:numRef>
              <c:f>Sheet1!$B$2:$B$5</c:f>
              <c:numCache>
                <c:ptCount val="4"/>
                <c:pt idx="0">
                  <c:v>42</c:v>
                </c:pt>
                <c:pt idx="1">
                  <c:v>28</c:v>
                </c:pt>
                <c:pt idx="2">
                  <c:v>22</c:v>
                </c:pt>
                <c:pt idx="3">
                  <c:v>8</c:v>
                </c:pt>
              </c:numCache>
            </c:numRef>
          </c:val>
        </c:ser>
        <c:firstSliceAng val="0"/>
      </c:pieChart>
      <c:spPr>
        <a:noFill/>
        <a:ln>
          <a:noFill/>
        </a:ln>
        <a:effectLst/>
      </c:spPr>
    </c:plotArea>
    <c:legend>
      <c:legendPos val="b"/>
      <c:overlay val="0"/>
    </c:legend>
    <c:plotVisOnly val="1"/>
    <c:dispBlanksAs val="span"/>
  </c:chart>
  <c:spPr>
    <a:solidFill>
      <a:srgbClr val="F0F7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Password</c:v>
                </c:pt>
              </c:strCache>
            </c:strRef>
          </c:tx>
          <c:spPr>
            <a:solidFill>
              <a:srgbClr val="10B98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10B981"/>
              </a:solidFill>
              <a:effectLst/>
            </c:spPr>
          </c:dPt>
          <c:dPt>
            <c:idx val="1"/>
            <c:invertIfNegative val="0"/>
            <c:bubble3D val="0"/>
            <c:spPr>
              <a:solidFill>
                <a:srgbClr val="F59E0B"/>
              </a:solidFill>
              <a:effectLst/>
            </c:spPr>
          </c:dPt>
          <c:dPt>
            <c:idx val="2"/>
            <c:invertIfNegative val="0"/>
            <c:bubble3D val="0"/>
            <c:spPr>
              <a:solidFill>
                <a:srgbClr val="EF4444"/>
              </a:solidFill>
              <a:effectLst/>
            </c:spPr>
          </c:dPt>
          <c:dPt>
            <c:idx val="3"/>
            <c:invertIfNegative val="0"/>
            <c:bubble3D val="0"/>
            <c:spPr>
              <a:solidFill>
                <a:srgbClr val="8B5CF6"/>
              </a:solidFill>
              <a:effectLst/>
            </c:spPr>
          </c:dPt>
          <c:cat>
            <c:multiLvlStrRef>
              <c:f>Sheet1!$A$2:$A$5</c:f>
              <c:multiLvlStrCache>
                <c:ptCount val="4"/>
                <c:lvl>
                  <c:pt idx="0">
                    <c:v>Very Strong</c:v>
                  </c:pt>
                  <c:pt idx="1">
                    <c:v>Moderate</c:v>
                  </c:pt>
                  <c:pt idx="2">
                    <c:v>Weak</c:v>
                  </c:pt>
                  <c:pt idx="3">
                    <c:v>Reuse Same</c:v>
                  </c:pt>
                </c:lvl>
              </c:multiLvlStrCache>
            </c:multiLvlStrRef>
          </c:cat>
          <c:val>
            <c:numRef>
              <c:f>Sheet1!$B$2:$B$5</c:f>
              <c:numCache>
                <c:formatCode>General</c:formatCode>
                <c:ptCount val="4"/>
                <c:pt idx="0">
                  <c:v>22</c:v>
                </c:pt>
                <c:pt idx="1">
                  <c:v>38</c:v>
                </c:pt>
                <c:pt idx="2">
                  <c:v>25</c:v>
                </c:pt>
                <c:pt idx="3">
                  <c:v>15</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0F7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Sharing</c:v>
                </c:pt>
              </c:strCache>
            </c:strRef>
          </c:tx>
          <c:spPr>
            <a:solidFill>
              <a:srgbClr val="EF4444"/>
            </a:solidFill>
            <a:effectLst/>
          </c:spPr>
          <c:invertIfNegative val="0"/>
          <c:dLbls>
            <c:numFmt formatCode="#,##0" sourceLinked="0"/>
            <c:txPr>
              <a:bodyPr/>
              <a:lstStyle/>
              <a:p>
                <a:pPr>
                  <a:defRPr b="0" i="0" strike="noStrike" sz="13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EF4444"/>
              </a:solidFill>
              <a:effectLst/>
            </c:spPr>
          </c:dPt>
          <c:dPt>
            <c:idx val="1"/>
            <c:invertIfNegative val="0"/>
            <c:bubble3D val="0"/>
            <c:spPr>
              <a:solidFill>
                <a:srgbClr val="F59E0B"/>
              </a:solidFill>
              <a:effectLst/>
            </c:spPr>
          </c:dPt>
          <c:dPt>
            <c:idx val="2"/>
            <c:invertIfNegative val="0"/>
            <c:bubble3D val="0"/>
            <c:spPr>
              <a:solidFill>
                <a:srgbClr val="00B4D8"/>
              </a:solidFill>
              <a:effectLst/>
            </c:spPr>
          </c:dPt>
          <c:dPt>
            <c:idx val="3"/>
            <c:invertIfNegative val="0"/>
            <c:bubble3D val="0"/>
            <c:spPr>
              <a:solidFill>
                <a:srgbClr val="10B981"/>
              </a:solidFill>
              <a:effectLst/>
            </c:spPr>
          </c:dPt>
          <c:cat>
            <c:multiLvlStrRef>
              <c:f>Sheet1!$A$2:$A$5</c:f>
              <c:multiLvlStrCache>
                <c:ptCount val="4"/>
                <c:lvl>
                  <c:pt idx="0">
                    <c:v>Frequently</c:v>
                  </c:pt>
                  <c:pt idx="1">
                    <c:v>Sometimes</c:v>
                  </c:pt>
                  <c:pt idx="2">
                    <c:v>Rarely</c:v>
                  </c:pt>
                  <c:pt idx="3">
                    <c:v>Never</c:v>
                  </c:pt>
                </c:lvl>
              </c:multiLvlStrCache>
            </c:multiLvlStrRef>
          </c:cat>
          <c:val>
            <c:numRef>
              <c:f>Sheet1!$B$2:$B$5</c:f>
              <c:numCache>
                <c:formatCode>General</c:formatCode>
                <c:ptCount val="4"/>
                <c:pt idx="0">
                  <c:v>18</c:v>
                </c:pt>
                <c:pt idx="1">
                  <c:v>35</c:v>
                </c:pt>
                <c:pt idx="2">
                  <c:v>32</c:v>
                </c:pt>
                <c:pt idx="3">
                  <c:v>15</c:v>
                </c:pt>
              </c:numCache>
            </c:numRef>
          </c:val>
        </c:ser>
        <c:dLbls>
          <c:numFmt formatCode="#,##0" sourceLinked="0"/>
          <c:txPr>
            <a:bodyPr/>
            <a:lstStyle/>
            <a:p>
              <a:pPr>
                <a:defRPr b="0" i="0" strike="noStrike" sz="13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AAAA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33415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AAAA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0D1B2A"/>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Awareness</c:v>
                </c:pt>
              </c:strCache>
            </c:strRef>
          </c:tx>
          <c:spPr>
            <a:solidFill>
              <a:srgbClr val="10B98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10B981"/>
              </a:solidFill>
              <a:effectLst/>
            </c:spPr>
          </c:dPt>
          <c:dPt>
            <c:idx val="1"/>
            <c:invertIfNegative val="0"/>
            <c:bubble3D val="0"/>
            <c:spPr>
              <a:solidFill>
                <a:srgbClr val="00B4D8"/>
              </a:solidFill>
              <a:effectLst/>
            </c:spPr>
          </c:dPt>
          <c:dPt>
            <c:idx val="2"/>
            <c:invertIfNegative val="0"/>
            <c:bubble3D val="0"/>
            <c:spPr>
              <a:solidFill>
                <a:srgbClr val="F59E0B"/>
              </a:solidFill>
              <a:effectLst/>
            </c:spPr>
          </c:dPt>
          <c:dPt>
            <c:idx val="3"/>
            <c:invertIfNegative val="0"/>
            <c:bubble3D val="0"/>
            <c:spPr>
              <a:solidFill>
                <a:srgbClr val="EF4444"/>
              </a:solidFill>
              <a:effectLst/>
            </c:spPr>
          </c:dPt>
          <c:cat>
            <c:multiLvlStrRef>
              <c:f>Sheet1!$A$2:$A$5</c:f>
              <c:multiLvlStrCache>
                <c:ptCount val="4"/>
                <c:lvl>
                  <c:pt idx="0">
                    <c:v>Fully Aware</c:v>
                  </c:pt>
                  <c:pt idx="1">
                    <c:v>Somewhat Aware</c:v>
                  </c:pt>
                  <c:pt idx="2">
                    <c:v>Heard/Unclear</c:v>
                  </c:pt>
                  <c:pt idx="3">
                    <c:v>Not Aware</c:v>
                  </c:pt>
                </c:lvl>
              </c:multiLvlStrCache>
            </c:multiLvlStrRef>
          </c:cat>
          <c:val>
            <c:numRef>
              <c:f>Sheet1!$B$2:$B$5</c:f>
              <c:numCache>
                <c:formatCode>General</c:formatCode>
                <c:ptCount val="4"/>
                <c:pt idx="0">
                  <c:v>30</c:v>
                </c:pt>
                <c:pt idx="1">
                  <c:v>38</c:v>
                </c:pt>
                <c:pt idx="2">
                  <c:v>22</c:v>
                </c:pt>
                <c:pt idx="3">
                  <c:v>10</c:v>
                </c:pt>
              </c:numCache>
            </c:numRef>
          </c:val>
        </c:ser>
        <c:dLbls>
          <c:numFmt formatCode="#,##0" sourceLinked="0"/>
          <c:txPr>
            <a:bodyPr/>
            <a:lstStyle/>
            <a:p>
              <a:pPr>
                <a:defRPr b="0" i="0" strike="noStrike" sz="12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0F7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pieChart>
        <c:varyColors val="1"/>
        <c:ser>
          <c:idx val="0"/>
          <c:order val="0"/>
          <c:tx>
            <c:strRef>
              <c:f>Sheet1!$B$1</c:f>
              <c:strCache>
                <c:ptCount val="1"/>
                <c:pt idx="0">
                  <c:v>Training</c:v>
                </c:pt>
              </c:strCache>
            </c:strRef>
          </c:tx>
          <c:spPr>
            <a:solidFill>
              <a:schemeClr val="accent1"/>
            </a:solidFill>
            <a:ln w="9525" cap="flat">
              <a:solidFill>
                <a:srgbClr val="F9F9F9"/>
              </a:solidFill>
              <a:prstDash val="solid"/>
              <a:round/>
            </a:ln>
            <a:effectLst/>
          </c:spPr>
          <c:dPt>
            <c:idx val="0"/>
            <c:bubble3D val="0"/>
            <c:spPr>
              <a:solidFill>
                <a:srgbClr val="10B981"/>
              </a:solidFill>
              <a:effectLst/>
            </c:spPr>
          </c:dPt>
          <c:dPt>
            <c:idx val="1"/>
            <c:bubble3D val="0"/>
            <c:spPr>
              <a:solidFill>
                <a:srgbClr val="00B4D8"/>
              </a:solidFill>
              <a:effectLst/>
            </c:spPr>
          </c:dPt>
          <c:dPt>
            <c:idx val="2"/>
            <c:bubble3D val="0"/>
            <c:spPr>
              <a:solidFill>
                <a:srgbClr val="EF4444"/>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1"/>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1"/>
              <c:showSerName val="0"/>
              <c:showPercent val="1"/>
              <c:showBubbleSize val="0"/>
            </c:dLbl>
            <c:dLbl>
              <c:idx val="2"/>
              <c:numFmt formatCode="0%" sourceLinked="0"/>
              <c:spPr/>
              <c:txPr>
                <a:bodyPr/>
                <a:lstStyle/>
                <a:p>
                  <a:pPr>
                    <a:defRPr sz="1200" b="0" i="0" u="none" strike="noStrike">
                      <a:solidFill>
                        <a:srgbClr val="000000"/>
                      </a:solidFill>
                      <a:latin typeface="Arial"/>
                    </a:defRPr>
                  </a:pPr>
                </a:p>
              </c:txPr>
              <c:showLegendKey val="0"/>
              <c:showVal val="0"/>
              <c:showCatName val="1"/>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Formal Training</c:v>
                </c:pt>
                <c:pt idx="1">
                  <c:v>Self-Taught</c:v>
                </c:pt>
                <c:pt idx="2">
                  <c:v>No Training</c:v>
                </c:pt>
              </c:strCache>
            </c:strRef>
          </c:cat>
          <c:val>
            <c:numRef>
              <c:f>Sheet1!$B$2:$B$4</c:f>
              <c:numCache>
                <c:ptCount val="3"/>
                <c:pt idx="0">
                  <c:v>20</c:v>
                </c:pt>
                <c:pt idx="1">
                  <c:v>45</c:v>
                </c:pt>
                <c:pt idx="2">
                  <c:v>35</c:v>
                </c:pt>
              </c:numCache>
            </c:numRef>
          </c:val>
        </c:ser>
        <c:firstSliceAng val="0"/>
      </c:pieChart>
      <c:spPr>
        <a:noFill/>
        <a:ln>
          <a:noFill/>
        </a:ln>
        <a:effectLst/>
      </c:spPr>
    </c:plotArea>
    <c:legend>
      <c:legendPos val="b"/>
      <c:overlay val="0"/>
    </c:legend>
    <c:plotVisOnly val="1"/>
    <c:dispBlanksAs val="span"/>
  </c:chart>
  <c:spPr>
    <a:solidFill>
      <a:srgbClr val="F0F7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pieChart>
        <c:varyColors val="1"/>
        <c:ser>
          <c:idx val="0"/>
          <c:order val="0"/>
          <c:tx>
            <c:strRef>
              <c:f>Sheet1!$B$1</c:f>
              <c:strCache>
                <c:ptCount val="1"/>
                <c:pt idx="0">
                  <c:v>Importance</c:v>
                </c:pt>
              </c:strCache>
            </c:strRef>
          </c:tx>
          <c:spPr>
            <a:solidFill>
              <a:schemeClr val="accent1"/>
            </a:solidFill>
            <a:ln w="9525" cap="flat">
              <a:solidFill>
                <a:srgbClr val="F9F9F9"/>
              </a:solidFill>
              <a:prstDash val="solid"/>
              <a:round/>
            </a:ln>
            <a:effectLst/>
          </c:spPr>
          <c:dPt>
            <c:idx val="0"/>
            <c:bubble3D val="0"/>
            <c:spPr>
              <a:solidFill>
                <a:srgbClr val="00B4D8"/>
              </a:solidFill>
              <a:effectLst/>
            </c:spPr>
          </c:dPt>
          <c:dPt>
            <c:idx val="1"/>
            <c:bubble3D val="0"/>
            <c:spPr>
              <a:solidFill>
                <a:srgbClr val="3B82F6"/>
              </a:solidFill>
              <a:effectLst/>
            </c:spPr>
          </c:dPt>
          <c:dPt>
            <c:idx val="2"/>
            <c:bubble3D val="0"/>
            <c:spPr>
              <a:solidFill>
                <a:srgbClr val="F59E0B"/>
              </a:solidFill>
              <a:effectLst/>
            </c:spPr>
          </c:dPt>
          <c:dPt>
            <c:idx val="3"/>
            <c:bubble3D val="0"/>
            <c:spPr>
              <a:solidFill>
                <a:srgbClr val="EF4444"/>
              </a:solidFill>
              <a:effectLst/>
            </c:spPr>
          </c:dPt>
          <c:dLbls>
            <c:dLbl>
              <c:idx val="0"/>
              <c:numFmt formatCode="0%" sourceLinked="0"/>
              <c:spPr/>
              <c:txPr>
                <a:bodyPr/>
                <a:lstStyle/>
                <a:p>
                  <a:pPr>
                    <a:defRPr sz="1300" b="0" i="0" u="none" strike="noStrike">
                      <a:solidFill>
                        <a:srgbClr val="FFFFFF"/>
                      </a:solidFill>
                      <a:latin typeface="Arial"/>
                    </a:defRPr>
                  </a:pPr>
                </a:p>
              </c:txPr>
              <c:showLegendKey val="0"/>
              <c:showVal val="0"/>
              <c:showCatName val="1"/>
              <c:showSerName val="0"/>
              <c:showPercent val="1"/>
              <c:showBubbleSize val="0"/>
            </c:dLbl>
            <c:dLbl>
              <c:idx val="1"/>
              <c:numFmt formatCode="0%" sourceLinked="0"/>
              <c:spPr/>
              <c:txPr>
                <a:bodyPr/>
                <a:lstStyle/>
                <a:p>
                  <a:pPr>
                    <a:defRPr sz="1300" b="0" i="0" u="none" strike="noStrike">
                      <a:solidFill>
                        <a:srgbClr val="FFFFFF"/>
                      </a:solidFill>
                      <a:latin typeface="Arial"/>
                    </a:defRPr>
                  </a:pPr>
                </a:p>
              </c:txPr>
              <c:showLegendKey val="0"/>
              <c:showVal val="0"/>
              <c:showCatName val="1"/>
              <c:showSerName val="0"/>
              <c:showPercent val="1"/>
              <c:showBubbleSize val="0"/>
            </c:dLbl>
            <c:dLbl>
              <c:idx val="2"/>
              <c:numFmt formatCode="0%" sourceLinked="0"/>
              <c:spPr/>
              <c:txPr>
                <a:bodyPr/>
                <a:lstStyle/>
                <a:p>
                  <a:pPr>
                    <a:defRPr sz="1300" b="0" i="0" u="none" strike="noStrike">
                      <a:solidFill>
                        <a:srgbClr val="FFFFFF"/>
                      </a:solidFill>
                      <a:latin typeface="Arial"/>
                    </a:defRPr>
                  </a:pPr>
                </a:p>
              </c:txPr>
              <c:showLegendKey val="0"/>
              <c:showVal val="0"/>
              <c:showCatName val="1"/>
              <c:showSerName val="0"/>
              <c:showPercent val="1"/>
              <c:showBubbleSize val="0"/>
            </c:dLbl>
            <c:dLbl>
              <c:idx val="3"/>
              <c:numFmt formatCode="0%" sourceLinked="0"/>
              <c:spPr/>
              <c:txPr>
                <a:bodyPr/>
                <a:lstStyle/>
                <a:p>
                  <a:pPr>
                    <a:defRPr sz="1300" b="0" i="0" u="none" strike="noStrike">
                      <a:solidFill>
                        <a:srgbClr val="FFFFFF"/>
                      </a:solidFill>
                      <a:latin typeface="Arial"/>
                    </a:defRPr>
                  </a:pPr>
                </a:p>
              </c:txPr>
              <c:showLegendKey val="0"/>
              <c:showVal val="0"/>
              <c:showCatName val="1"/>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Extremely Important</c:v>
                </c:pt>
                <c:pt idx="1">
                  <c:v>Important</c:v>
                </c:pt>
                <c:pt idx="2">
                  <c:v>Neutral</c:v>
                </c:pt>
                <c:pt idx="3">
                  <c:v>Not Important</c:v>
                </c:pt>
              </c:strCache>
            </c:strRef>
          </c:cat>
          <c:val>
            <c:numRef>
              <c:f>Sheet1!$B$2:$B$5</c:f>
              <c:numCache>
                <c:ptCount val="4"/>
                <c:pt idx="0">
                  <c:v>62</c:v>
                </c:pt>
                <c:pt idx="1">
                  <c:v>28</c:v>
                </c:pt>
                <c:pt idx="2">
                  <c:v>7</c:v>
                </c:pt>
                <c:pt idx="3">
                  <c:v>3</c:v>
                </c:pt>
              </c:numCache>
            </c:numRef>
          </c:val>
        </c:ser>
        <c:firstSliceAng val="0"/>
      </c:pieChart>
      <c:spPr>
        <a:noFill/>
        <a:ln>
          <a:noFill/>
        </a:ln>
        <a:effectLst/>
      </c:spPr>
    </c:plotArea>
    <c:legend>
      <c:legendPos val="b"/>
      <c:overlay val="0"/>
    </c:legend>
    <c:plotVisOnly val="1"/>
    <c:dispBlanksAs val="span"/>
  </c:chart>
  <c:spPr>
    <a:solidFill>
      <a:srgbClr val="0D1B2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sp>
      <p:sp>
        <p:nvSpPr>
          <p:cNvPr id="3" name="Text 1"/>
          <p:cNvSpPr/>
          <p:nvPr/>
        </p:nvSpPr>
        <p:spPr>
          <a:xfrm>
            <a:off x="365760" y="256032"/>
            <a:ext cx="8412480" cy="320040"/>
          </a:xfrm>
          <a:prstGeom prst="rect">
            <a:avLst/>
          </a:prstGeom>
          <a:noFill/>
          <a:ln/>
        </p:spPr>
        <p:txBody>
          <a:bodyPr wrap="square" rtlCol="0" anchor="ctr"/>
          <a:lstStyle/>
          <a:p>
            <a:pPr indent="0" marL="0">
              <a:buNone/>
            </a:pPr>
            <a:r>
              <a:rPr lang="en-US" sz="900" b="1" spc="300" kern="0" dirty="0">
                <a:solidFill>
                  <a:srgbClr val="00B4D8"/>
                </a:solidFill>
              </a:rPr>
              <a:t>COMMUNITY ENGAGEMENT PROJECT  |  CEP 01</a:t>
            </a:r>
            <a:endParaRPr lang="en-US" sz="900" dirty="0"/>
          </a:p>
        </p:txBody>
      </p:sp>
      <p:sp>
        <p:nvSpPr>
          <p:cNvPr id="4" name="Text 2"/>
          <p:cNvSpPr/>
          <p:nvPr/>
        </p:nvSpPr>
        <p:spPr>
          <a:xfrm>
            <a:off x="365760" y="749808"/>
            <a:ext cx="8412480" cy="6858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Awareness and Impact of</a:t>
            </a:r>
            <a:endParaRPr lang="en-US" sz="3600" dirty="0"/>
          </a:p>
        </p:txBody>
      </p:sp>
      <p:sp>
        <p:nvSpPr>
          <p:cNvPr id="5" name="Text 3"/>
          <p:cNvSpPr/>
          <p:nvPr/>
        </p:nvSpPr>
        <p:spPr>
          <a:xfrm>
            <a:off x="365760" y="1389888"/>
            <a:ext cx="8412480" cy="685800"/>
          </a:xfrm>
          <a:prstGeom prst="rect">
            <a:avLst/>
          </a:prstGeom>
          <a:noFill/>
          <a:ln/>
        </p:spPr>
        <p:txBody>
          <a:bodyPr wrap="square" rtlCol="0" anchor="ctr"/>
          <a:lstStyle/>
          <a:p>
            <a:pPr indent="0" marL="0">
              <a:buNone/>
            </a:pPr>
            <a:r>
              <a:rPr lang="en-US" sz="3600" b="1" dirty="0">
                <a:solidFill>
                  <a:srgbClr val="00B4D8"/>
                </a:solidFill>
                <a:latin typeface="Calibri" pitchFamily="34" charset="0"/>
                <a:ea typeface="Calibri" pitchFamily="34" charset="-122"/>
                <a:cs typeface="Calibri" pitchFamily="34" charset="-120"/>
              </a:rPr>
              <a:t>Cybersecurity Threats</a:t>
            </a:r>
            <a:endParaRPr lang="en-US" sz="3600" dirty="0"/>
          </a:p>
        </p:txBody>
      </p:sp>
      <p:sp>
        <p:nvSpPr>
          <p:cNvPr id="6" name="Text 4"/>
          <p:cNvSpPr/>
          <p:nvPr/>
        </p:nvSpPr>
        <p:spPr>
          <a:xfrm>
            <a:off x="365760" y="2084832"/>
            <a:ext cx="8412480" cy="457200"/>
          </a:xfrm>
          <a:prstGeom prst="rect">
            <a:avLst/>
          </a:prstGeom>
          <a:noFill/>
          <a:ln/>
        </p:spPr>
        <p:txBody>
          <a:bodyPr wrap="square" rtlCol="0" anchor="ctr"/>
          <a:lstStyle/>
          <a:p>
            <a:pPr indent="0" marL="0">
              <a:buNone/>
            </a:pPr>
            <a:r>
              <a:rPr lang="en-US" sz="2000" dirty="0">
                <a:solidFill>
                  <a:srgbClr val="CBD5E1"/>
                </a:solidFill>
                <a:latin typeface="Calibri" pitchFamily="34" charset="0"/>
                <a:ea typeface="Calibri" pitchFamily="34" charset="-122"/>
                <a:cs typeface="Calibri" pitchFamily="34" charset="-120"/>
              </a:rPr>
              <a:t>Among Online Users in Ahmednagar District</a:t>
            </a:r>
            <a:endParaRPr lang="en-US" sz="2000" dirty="0"/>
          </a:p>
        </p:txBody>
      </p:sp>
      <p:sp>
        <p:nvSpPr>
          <p:cNvPr id="7" name="Shape 5"/>
          <p:cNvSpPr/>
          <p:nvPr/>
        </p:nvSpPr>
        <p:spPr>
          <a:xfrm>
            <a:off x="365760" y="2697480"/>
            <a:ext cx="3200400" cy="36576"/>
          </a:xfrm>
          <a:prstGeom prst="rect">
            <a:avLst/>
          </a:prstGeom>
          <a:solidFill>
            <a:srgbClr val="00B4D8"/>
          </a:solidFill>
          <a:ln w="12700">
            <a:solidFill>
              <a:srgbClr val="00B4D8"/>
            </a:solidFill>
            <a:prstDash val="solid"/>
          </a:ln>
        </p:spPr>
      </p:sp>
      <p:sp>
        <p:nvSpPr>
          <p:cNvPr id="8" name="Text 6"/>
          <p:cNvSpPr/>
          <p:nvPr/>
        </p:nvSpPr>
        <p:spPr>
          <a:xfrm>
            <a:off x="365760" y="2907792"/>
            <a:ext cx="6400800" cy="320040"/>
          </a:xfrm>
          <a:prstGeom prst="rect">
            <a:avLst/>
          </a:prstGeom>
          <a:noFill/>
          <a:ln/>
        </p:spPr>
        <p:txBody>
          <a:bodyPr wrap="square" rtlCol="0" anchor="ctr"/>
          <a:lstStyle/>
          <a:p>
            <a:pPr indent="0" marL="0">
              <a:buNone/>
            </a:pPr>
            <a:r>
              <a:rPr lang="en-US" sz="1400" b="1" dirty="0">
                <a:solidFill>
                  <a:srgbClr val="CBD5E1"/>
                </a:solidFill>
              </a:rPr>
              <a:t>Submitted By:  </a:t>
            </a:r>
            <a:pPr indent="0" marL="0">
              <a:buNone/>
            </a:pPr>
            <a:r>
              <a:rPr lang="en-US" sz="1400" dirty="0">
                <a:solidFill>
                  <a:srgbClr val="FFFFFF"/>
                </a:solidFill>
              </a:rPr>
              <a:t>Vimal Borana  &amp;  Yash Goyal</a:t>
            </a:r>
            <a:endParaRPr lang="en-US" sz="1400" dirty="0"/>
          </a:p>
        </p:txBody>
      </p:sp>
      <p:sp>
        <p:nvSpPr>
          <p:cNvPr id="9" name="Text 7"/>
          <p:cNvSpPr/>
          <p:nvPr/>
        </p:nvSpPr>
        <p:spPr>
          <a:xfrm>
            <a:off x="365760" y="3273552"/>
            <a:ext cx="7315200" cy="320040"/>
          </a:xfrm>
          <a:prstGeom prst="rect">
            <a:avLst/>
          </a:prstGeom>
          <a:noFill/>
          <a:ln/>
        </p:spPr>
        <p:txBody>
          <a:bodyPr wrap="square" rtlCol="0" anchor="ctr"/>
          <a:lstStyle/>
          <a:p>
            <a:pPr indent="0" marL="0">
              <a:buNone/>
            </a:pPr>
            <a:r>
              <a:rPr lang="en-US" sz="1300" b="1" dirty="0">
                <a:solidFill>
                  <a:srgbClr val="CBD5E1"/>
                </a:solidFill>
              </a:rPr>
              <a:t>Class: </a:t>
            </a:r>
            <a:pPr indent="0" marL="0">
              <a:buNone/>
            </a:pPr>
            <a:r>
              <a:rPr lang="en-US" sz="1300" dirty="0">
                <a:solidFill>
                  <a:srgbClr val="FFFFFF"/>
                </a:solidFill>
              </a:rPr>
              <a:t>SYBCA   |   </a:t>
            </a:r>
            <a:pPr indent="0" marL="0">
              <a:buNone/>
            </a:pPr>
            <a:r>
              <a:rPr lang="en-US" sz="1300" b="1" dirty="0">
                <a:solidFill>
                  <a:srgbClr val="CBD5E1"/>
                </a:solidFill>
              </a:rPr>
              <a:t>Guide: </a:t>
            </a:r>
            <a:pPr indent="0" marL="0">
              <a:buNone/>
            </a:pPr>
            <a:r>
              <a:rPr lang="en-US" sz="1300" dirty="0">
                <a:solidFill>
                  <a:srgbClr val="FFFFFF"/>
                </a:solidFill>
              </a:rPr>
              <a:t>Prof. _______________</a:t>
            </a:r>
            <a:endParaRPr lang="en-US" sz="1300" dirty="0"/>
          </a:p>
        </p:txBody>
      </p:sp>
      <p:sp>
        <p:nvSpPr>
          <p:cNvPr id="10" name="Text 8"/>
          <p:cNvSpPr/>
          <p:nvPr/>
        </p:nvSpPr>
        <p:spPr>
          <a:xfrm>
            <a:off x="365760" y="3639312"/>
            <a:ext cx="8229600" cy="320040"/>
          </a:xfrm>
          <a:prstGeom prst="rect">
            <a:avLst/>
          </a:prstGeom>
          <a:noFill/>
          <a:ln/>
        </p:spPr>
        <p:txBody>
          <a:bodyPr wrap="square" rtlCol="0" anchor="ctr"/>
          <a:lstStyle/>
          <a:p>
            <a:pPr indent="0" marL="0">
              <a:buNone/>
            </a:pPr>
            <a:r>
              <a:rPr lang="en-US" sz="1100" b="1" dirty="0">
                <a:solidFill>
                  <a:srgbClr val="CBD5E1"/>
                </a:solidFill>
              </a:rPr>
              <a:t>College: </a:t>
            </a:r>
            <a:pPr indent="0" marL="0">
              <a:buNone/>
            </a:pPr>
            <a:r>
              <a:rPr lang="en-US" sz="1100" dirty="0">
                <a:solidFill>
                  <a:srgbClr val="CBD5E1"/>
                </a:solidFill>
              </a:rPr>
              <a:t>New Arts, Commerce and Science College, Ahmednagar   |   2025–2026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Agenda</a:t>
            </a:r>
            <a:endParaRPr lang="en-US" sz="3000" dirty="0"/>
          </a:p>
        </p:txBody>
      </p:sp>
      <p:sp>
        <p:nvSpPr>
          <p:cNvPr id="3" name="Shape 1"/>
          <p:cNvSpPr/>
          <p:nvPr/>
        </p:nvSpPr>
        <p:spPr>
          <a:xfrm>
            <a:off x="457200" y="749808"/>
            <a:ext cx="8229600" cy="36576"/>
          </a:xfrm>
          <a:prstGeom prst="rect">
            <a:avLst/>
          </a:prstGeom>
          <a:solidFill>
            <a:srgbClr val="CBD5E1"/>
          </a:solidFill>
          <a:ln w="12700">
            <a:solidFill>
              <a:srgbClr val="CBD5E1"/>
            </a:solidFill>
            <a:prstDash val="solid"/>
          </a:ln>
        </p:spPr>
      </p:sp>
      <p:sp>
        <p:nvSpPr>
          <p:cNvPr id="4" name="Shape 2"/>
          <p:cNvSpPr/>
          <p:nvPr/>
        </p:nvSpPr>
        <p:spPr>
          <a:xfrm>
            <a:off x="457200" y="960120"/>
            <a:ext cx="4114800" cy="475488"/>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566928" y="1014984"/>
            <a:ext cx="411480" cy="365760"/>
          </a:xfrm>
          <a:prstGeom prst="rect">
            <a:avLst/>
          </a:prstGeom>
          <a:noFill/>
          <a:ln/>
        </p:spPr>
        <p:txBody>
          <a:bodyPr wrap="square"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01</a:t>
            </a:r>
            <a:endParaRPr lang="en-US" sz="1400" dirty="0"/>
          </a:p>
        </p:txBody>
      </p:sp>
      <p:sp>
        <p:nvSpPr>
          <p:cNvPr id="6" name="Text 4"/>
          <p:cNvSpPr/>
          <p:nvPr/>
        </p:nvSpPr>
        <p:spPr>
          <a:xfrm>
            <a:off x="1024128" y="1042416"/>
            <a:ext cx="3429000" cy="310896"/>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Introduction &amp; Background</a:t>
            </a:r>
            <a:endParaRPr lang="en-US" sz="1200" dirty="0"/>
          </a:p>
        </p:txBody>
      </p:sp>
      <p:sp>
        <p:nvSpPr>
          <p:cNvPr id="7" name="Shape 5"/>
          <p:cNvSpPr/>
          <p:nvPr/>
        </p:nvSpPr>
        <p:spPr>
          <a:xfrm>
            <a:off x="4846320" y="960120"/>
            <a:ext cx="4114800" cy="475488"/>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8" name="Text 6"/>
          <p:cNvSpPr/>
          <p:nvPr/>
        </p:nvSpPr>
        <p:spPr>
          <a:xfrm>
            <a:off x="4956048" y="1014984"/>
            <a:ext cx="411480" cy="365760"/>
          </a:xfrm>
          <a:prstGeom prst="rect">
            <a:avLst/>
          </a:prstGeom>
          <a:noFill/>
          <a:ln/>
        </p:spPr>
        <p:txBody>
          <a:bodyPr wrap="square"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02</a:t>
            </a:r>
            <a:endParaRPr lang="en-US" sz="1400" dirty="0"/>
          </a:p>
        </p:txBody>
      </p:sp>
      <p:sp>
        <p:nvSpPr>
          <p:cNvPr id="9" name="Text 7"/>
          <p:cNvSpPr/>
          <p:nvPr/>
        </p:nvSpPr>
        <p:spPr>
          <a:xfrm>
            <a:off x="5413248" y="1042416"/>
            <a:ext cx="3429000" cy="310896"/>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Digital India &amp; Cybercrime Landscape</a:t>
            </a:r>
            <a:endParaRPr lang="en-US" sz="1200" dirty="0"/>
          </a:p>
        </p:txBody>
      </p:sp>
      <p:sp>
        <p:nvSpPr>
          <p:cNvPr id="10" name="Shape 8"/>
          <p:cNvSpPr/>
          <p:nvPr/>
        </p:nvSpPr>
        <p:spPr>
          <a:xfrm>
            <a:off x="457200" y="1527048"/>
            <a:ext cx="4114800" cy="475488"/>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1" name="Text 9"/>
          <p:cNvSpPr/>
          <p:nvPr/>
        </p:nvSpPr>
        <p:spPr>
          <a:xfrm>
            <a:off x="566928" y="1581912"/>
            <a:ext cx="411480" cy="365760"/>
          </a:xfrm>
          <a:prstGeom prst="rect">
            <a:avLst/>
          </a:prstGeom>
          <a:noFill/>
          <a:ln/>
        </p:spPr>
        <p:txBody>
          <a:bodyPr wrap="square"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03</a:t>
            </a:r>
            <a:endParaRPr lang="en-US" sz="1400" dirty="0"/>
          </a:p>
        </p:txBody>
      </p:sp>
      <p:sp>
        <p:nvSpPr>
          <p:cNvPr id="12" name="Text 10"/>
          <p:cNvSpPr/>
          <p:nvPr/>
        </p:nvSpPr>
        <p:spPr>
          <a:xfrm>
            <a:off x="1024128" y="1609344"/>
            <a:ext cx="3429000" cy="310896"/>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Need for Community Engagement</a:t>
            </a:r>
            <a:endParaRPr lang="en-US" sz="1200" dirty="0"/>
          </a:p>
        </p:txBody>
      </p:sp>
      <p:sp>
        <p:nvSpPr>
          <p:cNvPr id="13" name="Shape 11"/>
          <p:cNvSpPr/>
          <p:nvPr/>
        </p:nvSpPr>
        <p:spPr>
          <a:xfrm>
            <a:off x="4846320" y="1527048"/>
            <a:ext cx="4114800" cy="475488"/>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4" name="Text 12"/>
          <p:cNvSpPr/>
          <p:nvPr/>
        </p:nvSpPr>
        <p:spPr>
          <a:xfrm>
            <a:off x="4956048" y="1581912"/>
            <a:ext cx="411480" cy="365760"/>
          </a:xfrm>
          <a:prstGeom prst="rect">
            <a:avLst/>
          </a:prstGeom>
          <a:noFill/>
          <a:ln/>
        </p:spPr>
        <p:txBody>
          <a:bodyPr wrap="square"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04</a:t>
            </a:r>
            <a:endParaRPr lang="en-US" sz="1400" dirty="0"/>
          </a:p>
        </p:txBody>
      </p:sp>
      <p:sp>
        <p:nvSpPr>
          <p:cNvPr id="15" name="Text 13"/>
          <p:cNvSpPr/>
          <p:nvPr/>
        </p:nvSpPr>
        <p:spPr>
          <a:xfrm>
            <a:off x="5413248" y="1609344"/>
            <a:ext cx="3429000" cy="310896"/>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Objectives of the Project</a:t>
            </a:r>
            <a:endParaRPr lang="en-US" sz="1200" dirty="0"/>
          </a:p>
        </p:txBody>
      </p:sp>
      <p:sp>
        <p:nvSpPr>
          <p:cNvPr id="16" name="Shape 14"/>
          <p:cNvSpPr/>
          <p:nvPr/>
        </p:nvSpPr>
        <p:spPr>
          <a:xfrm>
            <a:off x="457200" y="2093976"/>
            <a:ext cx="4114800" cy="475488"/>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7" name="Text 15"/>
          <p:cNvSpPr/>
          <p:nvPr/>
        </p:nvSpPr>
        <p:spPr>
          <a:xfrm>
            <a:off x="566928" y="2148840"/>
            <a:ext cx="411480" cy="365760"/>
          </a:xfrm>
          <a:prstGeom prst="rect">
            <a:avLst/>
          </a:prstGeom>
          <a:noFill/>
          <a:ln/>
        </p:spPr>
        <p:txBody>
          <a:bodyPr wrap="square"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05</a:t>
            </a:r>
            <a:endParaRPr lang="en-US" sz="1400" dirty="0"/>
          </a:p>
        </p:txBody>
      </p:sp>
      <p:sp>
        <p:nvSpPr>
          <p:cNvPr id="18" name="Text 16"/>
          <p:cNvSpPr/>
          <p:nvPr/>
        </p:nvSpPr>
        <p:spPr>
          <a:xfrm>
            <a:off x="1024128" y="2176272"/>
            <a:ext cx="3429000" cy="310896"/>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Community Profile – Ahmednagar</a:t>
            </a:r>
            <a:endParaRPr lang="en-US" sz="1200" dirty="0"/>
          </a:p>
        </p:txBody>
      </p:sp>
      <p:sp>
        <p:nvSpPr>
          <p:cNvPr id="19" name="Shape 17"/>
          <p:cNvSpPr/>
          <p:nvPr/>
        </p:nvSpPr>
        <p:spPr>
          <a:xfrm>
            <a:off x="4846320" y="2093976"/>
            <a:ext cx="4114800" cy="475488"/>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20" name="Text 18"/>
          <p:cNvSpPr/>
          <p:nvPr/>
        </p:nvSpPr>
        <p:spPr>
          <a:xfrm>
            <a:off x="4956048" y="2148840"/>
            <a:ext cx="411480" cy="365760"/>
          </a:xfrm>
          <a:prstGeom prst="rect">
            <a:avLst/>
          </a:prstGeom>
          <a:noFill/>
          <a:ln/>
        </p:spPr>
        <p:txBody>
          <a:bodyPr wrap="square"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06</a:t>
            </a:r>
            <a:endParaRPr lang="en-US" sz="1400" dirty="0"/>
          </a:p>
        </p:txBody>
      </p:sp>
      <p:sp>
        <p:nvSpPr>
          <p:cNvPr id="21" name="Text 19"/>
          <p:cNvSpPr/>
          <p:nvPr/>
        </p:nvSpPr>
        <p:spPr>
          <a:xfrm>
            <a:off x="5413248" y="2176272"/>
            <a:ext cx="3429000" cy="310896"/>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Cybersecurity Scenario in India</a:t>
            </a:r>
            <a:endParaRPr lang="en-US" sz="1200" dirty="0"/>
          </a:p>
        </p:txBody>
      </p:sp>
      <p:sp>
        <p:nvSpPr>
          <p:cNvPr id="22" name="Shape 20"/>
          <p:cNvSpPr/>
          <p:nvPr/>
        </p:nvSpPr>
        <p:spPr>
          <a:xfrm>
            <a:off x="457200" y="2660904"/>
            <a:ext cx="4114800" cy="475488"/>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23" name="Text 21"/>
          <p:cNvSpPr/>
          <p:nvPr/>
        </p:nvSpPr>
        <p:spPr>
          <a:xfrm>
            <a:off x="566928" y="2715768"/>
            <a:ext cx="411480" cy="365760"/>
          </a:xfrm>
          <a:prstGeom prst="rect">
            <a:avLst/>
          </a:prstGeom>
          <a:noFill/>
          <a:ln/>
        </p:spPr>
        <p:txBody>
          <a:bodyPr wrap="square"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07</a:t>
            </a:r>
            <a:endParaRPr lang="en-US" sz="1400" dirty="0"/>
          </a:p>
        </p:txBody>
      </p:sp>
      <p:sp>
        <p:nvSpPr>
          <p:cNvPr id="24" name="Text 22"/>
          <p:cNvSpPr/>
          <p:nvPr/>
        </p:nvSpPr>
        <p:spPr>
          <a:xfrm>
            <a:off x="1024128" y="2743200"/>
            <a:ext cx="3429000" cy="310896"/>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Research Methodology</a:t>
            </a:r>
            <a:endParaRPr lang="en-US" sz="1200" dirty="0"/>
          </a:p>
        </p:txBody>
      </p:sp>
      <p:sp>
        <p:nvSpPr>
          <p:cNvPr id="25" name="Shape 23"/>
          <p:cNvSpPr/>
          <p:nvPr/>
        </p:nvSpPr>
        <p:spPr>
          <a:xfrm>
            <a:off x="4846320" y="2660904"/>
            <a:ext cx="4114800" cy="475488"/>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26" name="Text 24"/>
          <p:cNvSpPr/>
          <p:nvPr/>
        </p:nvSpPr>
        <p:spPr>
          <a:xfrm>
            <a:off x="4956048" y="2715768"/>
            <a:ext cx="411480" cy="365760"/>
          </a:xfrm>
          <a:prstGeom prst="rect">
            <a:avLst/>
          </a:prstGeom>
          <a:noFill/>
          <a:ln/>
        </p:spPr>
        <p:txBody>
          <a:bodyPr wrap="square"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08</a:t>
            </a:r>
            <a:endParaRPr lang="en-US" sz="1400" dirty="0"/>
          </a:p>
        </p:txBody>
      </p:sp>
      <p:sp>
        <p:nvSpPr>
          <p:cNvPr id="27" name="Text 25"/>
          <p:cNvSpPr/>
          <p:nvPr/>
        </p:nvSpPr>
        <p:spPr>
          <a:xfrm>
            <a:off x="5413248" y="2743200"/>
            <a:ext cx="3429000" cy="310896"/>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Data Analysis – Demographics</a:t>
            </a:r>
            <a:endParaRPr lang="en-US" sz="1200" dirty="0"/>
          </a:p>
        </p:txBody>
      </p:sp>
      <p:sp>
        <p:nvSpPr>
          <p:cNvPr id="28" name="Shape 26"/>
          <p:cNvSpPr/>
          <p:nvPr/>
        </p:nvSpPr>
        <p:spPr>
          <a:xfrm>
            <a:off x="457200" y="3227832"/>
            <a:ext cx="4114800" cy="475488"/>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29" name="Text 27"/>
          <p:cNvSpPr/>
          <p:nvPr/>
        </p:nvSpPr>
        <p:spPr>
          <a:xfrm>
            <a:off x="566928" y="3282696"/>
            <a:ext cx="411480" cy="365760"/>
          </a:xfrm>
          <a:prstGeom prst="rect">
            <a:avLst/>
          </a:prstGeom>
          <a:noFill/>
          <a:ln/>
        </p:spPr>
        <p:txBody>
          <a:bodyPr wrap="square"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09</a:t>
            </a:r>
            <a:endParaRPr lang="en-US" sz="1400" dirty="0"/>
          </a:p>
        </p:txBody>
      </p:sp>
      <p:sp>
        <p:nvSpPr>
          <p:cNvPr id="30" name="Text 28"/>
          <p:cNvSpPr/>
          <p:nvPr/>
        </p:nvSpPr>
        <p:spPr>
          <a:xfrm>
            <a:off x="1024128" y="3310128"/>
            <a:ext cx="3429000" cy="310896"/>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Key Findings – Threat Exposure</a:t>
            </a:r>
            <a:endParaRPr lang="en-US" sz="1200" dirty="0"/>
          </a:p>
        </p:txBody>
      </p:sp>
      <p:sp>
        <p:nvSpPr>
          <p:cNvPr id="31" name="Shape 29"/>
          <p:cNvSpPr/>
          <p:nvPr/>
        </p:nvSpPr>
        <p:spPr>
          <a:xfrm>
            <a:off x="4846320" y="3227832"/>
            <a:ext cx="4114800" cy="475488"/>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32" name="Text 30"/>
          <p:cNvSpPr/>
          <p:nvPr/>
        </p:nvSpPr>
        <p:spPr>
          <a:xfrm>
            <a:off x="4956048" y="3282696"/>
            <a:ext cx="411480" cy="365760"/>
          </a:xfrm>
          <a:prstGeom prst="rect">
            <a:avLst/>
          </a:prstGeom>
          <a:noFill/>
          <a:ln/>
        </p:spPr>
        <p:txBody>
          <a:bodyPr wrap="square"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10</a:t>
            </a:r>
            <a:endParaRPr lang="en-US" sz="1400" dirty="0"/>
          </a:p>
        </p:txBody>
      </p:sp>
      <p:sp>
        <p:nvSpPr>
          <p:cNvPr id="33" name="Text 31"/>
          <p:cNvSpPr/>
          <p:nvPr/>
        </p:nvSpPr>
        <p:spPr>
          <a:xfrm>
            <a:off x="5413248" y="3310128"/>
            <a:ext cx="3429000" cy="310896"/>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Key Findings – Security Habits</a:t>
            </a:r>
            <a:endParaRPr lang="en-US" sz="1200" dirty="0"/>
          </a:p>
        </p:txBody>
      </p:sp>
      <p:sp>
        <p:nvSpPr>
          <p:cNvPr id="34" name="Shape 32"/>
          <p:cNvSpPr/>
          <p:nvPr/>
        </p:nvSpPr>
        <p:spPr>
          <a:xfrm>
            <a:off x="457200" y="3794760"/>
            <a:ext cx="4114800" cy="475488"/>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35" name="Text 33"/>
          <p:cNvSpPr/>
          <p:nvPr/>
        </p:nvSpPr>
        <p:spPr>
          <a:xfrm>
            <a:off x="566928" y="3849624"/>
            <a:ext cx="411480" cy="365760"/>
          </a:xfrm>
          <a:prstGeom prst="rect">
            <a:avLst/>
          </a:prstGeom>
          <a:noFill/>
          <a:ln/>
        </p:spPr>
        <p:txBody>
          <a:bodyPr wrap="square"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11</a:t>
            </a:r>
            <a:endParaRPr lang="en-US" sz="1400" dirty="0"/>
          </a:p>
        </p:txBody>
      </p:sp>
      <p:sp>
        <p:nvSpPr>
          <p:cNvPr id="36" name="Text 34"/>
          <p:cNvSpPr/>
          <p:nvPr/>
        </p:nvSpPr>
        <p:spPr>
          <a:xfrm>
            <a:off x="1024128" y="3877056"/>
            <a:ext cx="3429000" cy="310896"/>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Key Findings – Awareness &amp; Training</a:t>
            </a:r>
            <a:endParaRPr lang="en-US" sz="1200" dirty="0"/>
          </a:p>
        </p:txBody>
      </p:sp>
      <p:sp>
        <p:nvSpPr>
          <p:cNvPr id="37" name="Shape 35"/>
          <p:cNvSpPr/>
          <p:nvPr/>
        </p:nvSpPr>
        <p:spPr>
          <a:xfrm>
            <a:off x="4846320" y="3794760"/>
            <a:ext cx="4114800" cy="475488"/>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38" name="Text 36"/>
          <p:cNvSpPr/>
          <p:nvPr/>
        </p:nvSpPr>
        <p:spPr>
          <a:xfrm>
            <a:off x="4956048" y="3849624"/>
            <a:ext cx="411480" cy="365760"/>
          </a:xfrm>
          <a:prstGeom prst="rect">
            <a:avLst/>
          </a:prstGeom>
          <a:noFill/>
          <a:ln/>
        </p:spPr>
        <p:txBody>
          <a:bodyPr wrap="square"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12</a:t>
            </a:r>
            <a:endParaRPr lang="en-US" sz="1400" dirty="0"/>
          </a:p>
        </p:txBody>
      </p:sp>
      <p:sp>
        <p:nvSpPr>
          <p:cNvPr id="39" name="Text 37"/>
          <p:cNvSpPr/>
          <p:nvPr/>
        </p:nvSpPr>
        <p:spPr>
          <a:xfrm>
            <a:off x="5413248" y="3877056"/>
            <a:ext cx="3429000" cy="310896"/>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Summary of Statistics</a:t>
            </a:r>
            <a:endParaRPr lang="en-US" sz="1200" dirty="0"/>
          </a:p>
        </p:txBody>
      </p:sp>
      <p:sp>
        <p:nvSpPr>
          <p:cNvPr id="40" name="Shape 38"/>
          <p:cNvSpPr/>
          <p:nvPr/>
        </p:nvSpPr>
        <p:spPr>
          <a:xfrm>
            <a:off x="457200" y="4361688"/>
            <a:ext cx="4114800" cy="475488"/>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41" name="Text 39"/>
          <p:cNvSpPr/>
          <p:nvPr/>
        </p:nvSpPr>
        <p:spPr>
          <a:xfrm>
            <a:off x="566928" y="4416552"/>
            <a:ext cx="411480" cy="365760"/>
          </a:xfrm>
          <a:prstGeom prst="rect">
            <a:avLst/>
          </a:prstGeom>
          <a:noFill/>
          <a:ln/>
        </p:spPr>
        <p:txBody>
          <a:bodyPr wrap="square"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13</a:t>
            </a:r>
            <a:endParaRPr lang="en-US" sz="1400" dirty="0"/>
          </a:p>
        </p:txBody>
      </p:sp>
      <p:sp>
        <p:nvSpPr>
          <p:cNvPr id="42" name="Text 40"/>
          <p:cNvSpPr/>
          <p:nvPr/>
        </p:nvSpPr>
        <p:spPr>
          <a:xfrm>
            <a:off x="1024128" y="4443984"/>
            <a:ext cx="3429000" cy="310896"/>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Recommendations</a:t>
            </a:r>
            <a:endParaRPr lang="en-US" sz="1200" dirty="0"/>
          </a:p>
        </p:txBody>
      </p:sp>
      <p:sp>
        <p:nvSpPr>
          <p:cNvPr id="43" name="Shape 41"/>
          <p:cNvSpPr/>
          <p:nvPr/>
        </p:nvSpPr>
        <p:spPr>
          <a:xfrm>
            <a:off x="4846320" y="4361688"/>
            <a:ext cx="4114800" cy="475488"/>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44" name="Text 42"/>
          <p:cNvSpPr/>
          <p:nvPr/>
        </p:nvSpPr>
        <p:spPr>
          <a:xfrm>
            <a:off x="4956048" y="4416552"/>
            <a:ext cx="411480" cy="365760"/>
          </a:xfrm>
          <a:prstGeom prst="rect">
            <a:avLst/>
          </a:prstGeom>
          <a:noFill/>
          <a:ln/>
        </p:spPr>
        <p:txBody>
          <a:bodyPr wrap="square"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14</a:t>
            </a:r>
            <a:endParaRPr lang="en-US" sz="1400" dirty="0"/>
          </a:p>
        </p:txBody>
      </p:sp>
      <p:sp>
        <p:nvSpPr>
          <p:cNvPr id="45" name="Text 43"/>
          <p:cNvSpPr/>
          <p:nvPr/>
        </p:nvSpPr>
        <p:spPr>
          <a:xfrm>
            <a:off x="5413248" y="4443984"/>
            <a:ext cx="3429000" cy="310896"/>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Conclusion &amp; Learning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Introduction – Background</a:t>
            </a:r>
            <a:endParaRPr lang="en-US" sz="3000" dirty="0"/>
          </a:p>
        </p:txBody>
      </p:sp>
      <p:sp>
        <p:nvSpPr>
          <p:cNvPr id="3" name="Shape 1"/>
          <p:cNvSpPr/>
          <p:nvPr/>
        </p:nvSpPr>
        <p:spPr>
          <a:xfrm>
            <a:off x="457200" y="749808"/>
            <a:ext cx="8229600" cy="36576"/>
          </a:xfrm>
          <a:prstGeom prst="rect">
            <a:avLst/>
          </a:prstGeom>
          <a:solidFill>
            <a:srgbClr val="CBD5E1"/>
          </a:solidFill>
          <a:ln w="12700">
            <a:solidFill>
              <a:srgbClr val="CBD5E1"/>
            </a:solidFill>
            <a:prstDash val="solid"/>
          </a:ln>
        </p:spPr>
      </p:sp>
      <p:sp>
        <p:nvSpPr>
          <p:cNvPr id="4" name="Shape 2"/>
          <p:cNvSpPr/>
          <p:nvPr/>
        </p:nvSpPr>
        <p:spPr>
          <a:xfrm>
            <a:off x="457200" y="960120"/>
            <a:ext cx="8321040" cy="96012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457200" y="960120"/>
            <a:ext cx="109728" cy="960120"/>
          </a:xfrm>
          <a:prstGeom prst="rect">
            <a:avLst/>
          </a:prstGeom>
          <a:solidFill>
            <a:srgbClr val="00B4D8"/>
          </a:solidFill>
          <a:ln w="12700">
            <a:solidFill>
              <a:srgbClr val="00B4D8"/>
            </a:solidFill>
            <a:prstDash val="solid"/>
          </a:ln>
        </p:spPr>
      </p:sp>
      <p:sp>
        <p:nvSpPr>
          <p:cNvPr id="6" name="Text 4"/>
          <p:cNvSpPr/>
          <p:nvPr/>
        </p:nvSpPr>
        <p:spPr>
          <a:xfrm>
            <a:off x="685800" y="1005840"/>
            <a:ext cx="7955280" cy="320040"/>
          </a:xfrm>
          <a:prstGeom prst="rect">
            <a:avLst/>
          </a:prstGeom>
          <a:noFill/>
          <a:ln/>
        </p:spPr>
        <p:txBody>
          <a:bodyPr wrap="square" rtlCol="0" anchor="ctr"/>
          <a:lstStyle/>
          <a:p>
            <a:pPr indent="0" marL="0">
              <a:buNone/>
            </a:pPr>
            <a:r>
              <a:rPr lang="en-US" sz="1400" b="1" dirty="0">
                <a:solidFill>
                  <a:srgbClr val="1B3A5C"/>
                </a:solidFill>
              </a:rPr>
              <a:t>What is Cybersecurity?</a:t>
            </a:r>
            <a:endParaRPr lang="en-US" sz="1400" dirty="0"/>
          </a:p>
        </p:txBody>
      </p:sp>
      <p:sp>
        <p:nvSpPr>
          <p:cNvPr id="7" name="Text 5"/>
          <p:cNvSpPr/>
          <p:nvPr/>
        </p:nvSpPr>
        <p:spPr>
          <a:xfrm>
            <a:off x="0" y="1234440"/>
            <a:ext cx="685800" cy="7955280"/>
          </a:xfrm>
          <a:prstGeom prst="rect">
            <a:avLst/>
          </a:prstGeom>
          <a:noFill/>
          <a:ln/>
        </p:spPr>
        <p:txBody>
          <a:bodyPr wrap="square" rtlCol="0" anchor="t"/>
          <a:lstStyle/>
          <a:p>
            <a:pPr indent="0" marL="0">
              <a:lnSpc>
                <a:spcPct val="140000"/>
              </a:lnSpc>
              <a:buNone/>
            </a:pPr>
            <a:r>
              <a:rPr lang="en-US" sz="200" dirty="0">
                <a:solidFill>
                  <a:srgbClr val="1E293B"/>
                </a:solidFill>
                <a:latin typeface="Calibri" pitchFamily="34" charset="0"/>
                <a:ea typeface="Calibri" pitchFamily="34" charset="-122"/>
                <a:cs typeface="Calibri" pitchFamily="34" charset="-120"/>
              </a:rPr>
              <a:t>Cybersecurity refers to the practice of protecting computers, servers, mobile devices, electronic systems, networks, and data from malicious attacks, unauthorized access, and digital threats. It encompasses everything from personal device protection to national critical infrastructure security.</a:t>
            </a:r>
            <a:endParaRPr lang="en-US" sz="200" dirty="0"/>
          </a:p>
        </p:txBody>
      </p:sp>
      <p:sp>
        <p:nvSpPr>
          <p:cNvPr id="8" name="Shape 6"/>
          <p:cNvSpPr/>
          <p:nvPr/>
        </p:nvSpPr>
        <p:spPr>
          <a:xfrm>
            <a:off x="457200" y="2148840"/>
            <a:ext cx="2011680" cy="269748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9" name="Text 7"/>
          <p:cNvSpPr/>
          <p:nvPr/>
        </p:nvSpPr>
        <p:spPr>
          <a:xfrm>
            <a:off x="457200" y="2240280"/>
            <a:ext cx="201168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0" name="Text 8"/>
          <p:cNvSpPr/>
          <p:nvPr/>
        </p:nvSpPr>
        <p:spPr>
          <a:xfrm>
            <a:off x="457200" y="2816352"/>
            <a:ext cx="2011680" cy="1005840"/>
          </a:xfrm>
          <a:prstGeom prst="rect">
            <a:avLst/>
          </a:prstGeom>
          <a:noFill/>
          <a:ln/>
        </p:spPr>
        <p:txBody>
          <a:bodyPr wrap="square" rtlCol="0" anchor="ctr"/>
          <a:lstStyle/>
          <a:p>
            <a:pPr algn="ctr" indent="0" marL="0">
              <a:lnSpc>
                <a:spcPct val="135000"/>
              </a:lnSpc>
              <a:buNone/>
            </a:pPr>
            <a:r>
              <a:rPr lang="en-US" sz="1250" b="1" dirty="0">
                <a:solidFill>
                  <a:srgbClr val="FFFFFF"/>
                </a:solidFill>
                <a:latin typeface="Calibri" pitchFamily="34" charset="0"/>
                <a:ea typeface="Calibri" pitchFamily="34" charset="-122"/>
                <a:cs typeface="Calibri" pitchFamily="34" charset="-120"/>
              </a:rPr>
              <a:t>900M+</a:t>
            </a:r>
            <a:endParaRPr lang="en-US" sz="1250" dirty="0"/>
          </a:p>
          <a:p>
            <a:pPr algn="ctr" indent="0" marL="0">
              <a:lnSpc>
                <a:spcPct val="135000"/>
              </a:lnSpc>
              <a:buNone/>
            </a:pPr>
            <a:r>
              <a:rPr lang="en-US" sz="1250" b="1" dirty="0">
                <a:solidFill>
                  <a:srgbClr val="FFFFFF"/>
                </a:solidFill>
                <a:latin typeface="Calibri" pitchFamily="34" charset="0"/>
                <a:ea typeface="Calibri" pitchFamily="34" charset="-122"/>
                <a:cs typeface="Calibri" pitchFamily="34" charset="-120"/>
              </a:rPr>
              <a:t>Internet Users</a:t>
            </a:r>
            <a:endParaRPr lang="en-US" sz="1250" dirty="0"/>
          </a:p>
          <a:p>
            <a:pPr algn="ctr" indent="0" marL="0">
              <a:lnSpc>
                <a:spcPct val="135000"/>
              </a:lnSpc>
              <a:buNone/>
            </a:pPr>
            <a:r>
              <a:rPr lang="en-US" sz="1250" b="1" dirty="0">
                <a:solidFill>
                  <a:srgbClr val="FFFFFF"/>
                </a:solidFill>
                <a:latin typeface="Calibri" pitchFamily="34" charset="0"/>
                <a:ea typeface="Calibri" pitchFamily="34" charset="-122"/>
                <a:cs typeface="Calibri" pitchFamily="34" charset="-120"/>
              </a:rPr>
              <a:t>in India</a:t>
            </a:r>
            <a:endParaRPr lang="en-US" sz="1250" dirty="0"/>
          </a:p>
        </p:txBody>
      </p:sp>
      <p:sp>
        <p:nvSpPr>
          <p:cNvPr id="11" name="Shape 9"/>
          <p:cNvSpPr/>
          <p:nvPr/>
        </p:nvSpPr>
        <p:spPr>
          <a:xfrm>
            <a:off x="2633472" y="2148840"/>
            <a:ext cx="2011680" cy="269748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2" name="Text 10"/>
          <p:cNvSpPr/>
          <p:nvPr/>
        </p:nvSpPr>
        <p:spPr>
          <a:xfrm>
            <a:off x="2633472" y="2240280"/>
            <a:ext cx="201168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3" name="Text 11"/>
          <p:cNvSpPr/>
          <p:nvPr/>
        </p:nvSpPr>
        <p:spPr>
          <a:xfrm>
            <a:off x="2633472" y="2816352"/>
            <a:ext cx="2011680" cy="1005840"/>
          </a:xfrm>
          <a:prstGeom prst="rect">
            <a:avLst/>
          </a:prstGeom>
          <a:noFill/>
          <a:ln/>
        </p:spPr>
        <p:txBody>
          <a:bodyPr wrap="square" rtlCol="0" anchor="ctr"/>
          <a:lstStyle/>
          <a:p>
            <a:pPr algn="ctr" indent="0" marL="0">
              <a:lnSpc>
                <a:spcPct val="135000"/>
              </a:lnSpc>
              <a:buNone/>
            </a:pPr>
            <a:r>
              <a:rPr lang="en-US" sz="1250" b="1" dirty="0">
                <a:solidFill>
                  <a:srgbClr val="FFFFFF"/>
                </a:solidFill>
                <a:latin typeface="Calibri" pitchFamily="34" charset="0"/>
                <a:ea typeface="Calibri" pitchFamily="34" charset="-122"/>
                <a:cs typeface="Calibri" pitchFamily="34" charset="-120"/>
              </a:rPr>
              <a:t>1.39 Million</a:t>
            </a:r>
            <a:endParaRPr lang="en-US" sz="1250" dirty="0"/>
          </a:p>
          <a:p>
            <a:pPr algn="ctr" indent="0" marL="0">
              <a:lnSpc>
                <a:spcPct val="135000"/>
              </a:lnSpc>
              <a:buNone/>
            </a:pPr>
            <a:r>
              <a:rPr lang="en-US" sz="1250" b="1" dirty="0">
                <a:solidFill>
                  <a:srgbClr val="FFFFFF"/>
                </a:solidFill>
                <a:latin typeface="Calibri" pitchFamily="34" charset="0"/>
                <a:ea typeface="Calibri" pitchFamily="34" charset="-122"/>
                <a:cs typeface="Calibri" pitchFamily="34" charset="-120"/>
              </a:rPr>
              <a:t>Cyber Incidents</a:t>
            </a:r>
            <a:endParaRPr lang="en-US" sz="1250" dirty="0"/>
          </a:p>
          <a:p>
            <a:pPr algn="ctr" indent="0" marL="0">
              <a:lnSpc>
                <a:spcPct val="135000"/>
              </a:lnSpc>
              <a:buNone/>
            </a:pPr>
            <a:r>
              <a:rPr lang="en-US" sz="1250" b="1" dirty="0">
                <a:solidFill>
                  <a:srgbClr val="FFFFFF"/>
                </a:solidFill>
                <a:latin typeface="Calibri" pitchFamily="34" charset="0"/>
                <a:ea typeface="Calibri" pitchFamily="34" charset="-122"/>
                <a:cs typeface="Calibri" pitchFamily="34" charset="-120"/>
              </a:rPr>
              <a:t>(India, 2022)</a:t>
            </a:r>
            <a:endParaRPr lang="en-US" sz="1250" dirty="0"/>
          </a:p>
        </p:txBody>
      </p:sp>
      <p:sp>
        <p:nvSpPr>
          <p:cNvPr id="14" name="Shape 12"/>
          <p:cNvSpPr/>
          <p:nvPr/>
        </p:nvSpPr>
        <p:spPr>
          <a:xfrm>
            <a:off x="4809744" y="2148840"/>
            <a:ext cx="2011680" cy="269748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5" name="Text 13"/>
          <p:cNvSpPr/>
          <p:nvPr/>
        </p:nvSpPr>
        <p:spPr>
          <a:xfrm>
            <a:off x="4809744" y="2240280"/>
            <a:ext cx="201168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6" name="Text 14"/>
          <p:cNvSpPr/>
          <p:nvPr/>
        </p:nvSpPr>
        <p:spPr>
          <a:xfrm>
            <a:off x="4809744" y="2816352"/>
            <a:ext cx="2011680" cy="1005840"/>
          </a:xfrm>
          <a:prstGeom prst="rect">
            <a:avLst/>
          </a:prstGeom>
          <a:noFill/>
          <a:ln/>
        </p:spPr>
        <p:txBody>
          <a:bodyPr wrap="square" rtlCol="0" anchor="ctr"/>
          <a:lstStyle/>
          <a:p>
            <a:pPr algn="ctr" indent="0" marL="0">
              <a:lnSpc>
                <a:spcPct val="135000"/>
              </a:lnSpc>
              <a:buNone/>
            </a:pPr>
            <a:r>
              <a:rPr lang="en-US" sz="1250" b="1" dirty="0">
                <a:solidFill>
                  <a:srgbClr val="FFFFFF"/>
                </a:solidFill>
                <a:latin typeface="Calibri" pitchFamily="34" charset="0"/>
                <a:ea typeface="Calibri" pitchFamily="34" charset="-122"/>
                <a:cs typeface="Calibri" pitchFamily="34" charset="-120"/>
              </a:rPr>
              <a:t>80%</a:t>
            </a:r>
            <a:endParaRPr lang="en-US" sz="1250" dirty="0"/>
          </a:p>
          <a:p>
            <a:pPr algn="ctr" indent="0" marL="0">
              <a:lnSpc>
                <a:spcPct val="135000"/>
              </a:lnSpc>
              <a:buNone/>
            </a:pPr>
            <a:r>
              <a:rPr lang="en-US" sz="1250" b="1" dirty="0">
                <a:solidFill>
                  <a:srgbClr val="FFFFFF"/>
                </a:solidFill>
                <a:latin typeface="Calibri" pitchFamily="34" charset="0"/>
                <a:ea typeface="Calibri" pitchFamily="34" charset="-122"/>
                <a:cs typeface="Calibri" pitchFamily="34" charset="-120"/>
              </a:rPr>
              <a:t>Access via</a:t>
            </a:r>
            <a:endParaRPr lang="en-US" sz="1250" dirty="0"/>
          </a:p>
          <a:p>
            <a:pPr algn="ctr" indent="0" marL="0">
              <a:lnSpc>
                <a:spcPct val="135000"/>
              </a:lnSpc>
              <a:buNone/>
            </a:pPr>
            <a:r>
              <a:rPr lang="en-US" sz="1250" b="1" dirty="0">
                <a:solidFill>
                  <a:srgbClr val="FFFFFF"/>
                </a:solidFill>
                <a:latin typeface="Calibri" pitchFamily="34" charset="0"/>
                <a:ea typeface="Calibri" pitchFamily="34" charset="-122"/>
                <a:cs typeface="Calibri" pitchFamily="34" charset="-120"/>
              </a:rPr>
              <a:t>Smartphone</a:t>
            </a:r>
            <a:endParaRPr lang="en-US" sz="1250" dirty="0"/>
          </a:p>
        </p:txBody>
      </p:sp>
      <p:sp>
        <p:nvSpPr>
          <p:cNvPr id="17" name="Shape 15"/>
          <p:cNvSpPr/>
          <p:nvPr/>
        </p:nvSpPr>
        <p:spPr>
          <a:xfrm>
            <a:off x="6986016" y="2148840"/>
            <a:ext cx="2011680" cy="269748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8" name="Text 16"/>
          <p:cNvSpPr/>
          <p:nvPr/>
        </p:nvSpPr>
        <p:spPr>
          <a:xfrm>
            <a:off x="6986016" y="2240280"/>
            <a:ext cx="2011680" cy="54864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19" name="Text 17"/>
          <p:cNvSpPr/>
          <p:nvPr/>
        </p:nvSpPr>
        <p:spPr>
          <a:xfrm>
            <a:off x="6986016" y="2816352"/>
            <a:ext cx="2011680" cy="1005840"/>
          </a:xfrm>
          <a:prstGeom prst="rect">
            <a:avLst/>
          </a:prstGeom>
          <a:noFill/>
          <a:ln/>
        </p:spPr>
        <p:txBody>
          <a:bodyPr wrap="square" rtlCol="0" anchor="ctr"/>
          <a:lstStyle/>
          <a:p>
            <a:pPr algn="ctr" indent="0" marL="0">
              <a:lnSpc>
                <a:spcPct val="135000"/>
              </a:lnSpc>
              <a:buNone/>
            </a:pPr>
            <a:r>
              <a:rPr lang="en-US" sz="1250" b="1" dirty="0">
                <a:solidFill>
                  <a:srgbClr val="FFFFFF"/>
                </a:solidFill>
                <a:latin typeface="Calibri" pitchFamily="34" charset="0"/>
                <a:ea typeface="Calibri" pitchFamily="34" charset="-122"/>
                <a:cs typeface="Calibri" pitchFamily="34" charset="-120"/>
              </a:rPr>
              <a:t>Top 3</a:t>
            </a:r>
            <a:endParaRPr lang="en-US" sz="1250" dirty="0"/>
          </a:p>
          <a:p>
            <a:pPr algn="ctr" indent="0" marL="0">
              <a:lnSpc>
                <a:spcPct val="135000"/>
              </a:lnSpc>
              <a:buNone/>
            </a:pPr>
            <a:r>
              <a:rPr lang="en-US" sz="1250" b="1" dirty="0">
                <a:solidFill>
                  <a:srgbClr val="FFFFFF"/>
                </a:solidFill>
                <a:latin typeface="Calibri" pitchFamily="34" charset="0"/>
                <a:ea typeface="Calibri" pitchFamily="34" charset="-122"/>
                <a:cs typeface="Calibri" pitchFamily="34" charset="-120"/>
              </a:rPr>
              <a:t>Maharashtra in</a:t>
            </a:r>
            <a:endParaRPr lang="en-US" sz="1250" dirty="0"/>
          </a:p>
          <a:p>
            <a:pPr algn="ctr" indent="0" marL="0">
              <a:lnSpc>
                <a:spcPct val="135000"/>
              </a:lnSpc>
              <a:buNone/>
            </a:pPr>
            <a:r>
              <a:rPr lang="en-US" sz="1250" b="1" dirty="0">
                <a:solidFill>
                  <a:srgbClr val="FFFFFF"/>
                </a:solidFill>
                <a:latin typeface="Calibri" pitchFamily="34" charset="0"/>
                <a:ea typeface="Calibri" pitchFamily="34" charset="-122"/>
                <a:cs typeface="Calibri" pitchFamily="34" charset="-120"/>
              </a:rPr>
              <a:t>Cybercrime Cases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Digital India &amp; the Cybercrime Problem</a:t>
            </a:r>
            <a:endParaRPr lang="en-US" sz="3000" dirty="0"/>
          </a:p>
        </p:txBody>
      </p:sp>
      <p:sp>
        <p:nvSpPr>
          <p:cNvPr id="3" name="Shape 1"/>
          <p:cNvSpPr/>
          <p:nvPr/>
        </p:nvSpPr>
        <p:spPr>
          <a:xfrm>
            <a:off x="457200" y="749808"/>
            <a:ext cx="8229600" cy="36576"/>
          </a:xfrm>
          <a:prstGeom prst="rect">
            <a:avLst/>
          </a:prstGeom>
          <a:solidFill>
            <a:srgbClr val="00B4D8"/>
          </a:solidFill>
          <a:ln w="12700">
            <a:solidFill>
              <a:srgbClr val="00B4D8"/>
            </a:solidFill>
            <a:prstDash val="solid"/>
          </a:ln>
        </p:spPr>
      </p:sp>
      <p:sp>
        <p:nvSpPr>
          <p:cNvPr id="4" name="Text 2"/>
          <p:cNvSpPr/>
          <p:nvPr/>
        </p:nvSpPr>
        <p:spPr>
          <a:xfrm>
            <a:off x="457200" y="960120"/>
            <a:ext cx="4114800" cy="347472"/>
          </a:xfrm>
          <a:prstGeom prst="rect">
            <a:avLst/>
          </a:prstGeom>
          <a:noFill/>
          <a:ln/>
        </p:spPr>
        <p:txBody>
          <a:bodyPr wrap="square" rtlCol="0" anchor="ctr"/>
          <a:lstStyle/>
          <a:p>
            <a:pPr indent="0" marL="0">
              <a:buNone/>
            </a:pPr>
            <a:r>
              <a:rPr lang="en-US" sz="1500" b="1" dirty="0">
                <a:solidFill>
                  <a:srgbClr val="00B4D8"/>
                </a:solidFill>
              </a:rPr>
              <a:t>India's Rapid Digital Growth</a:t>
            </a:r>
            <a:endParaRPr lang="en-US" sz="1500" dirty="0"/>
          </a:p>
        </p:txBody>
      </p:sp>
      <p:sp>
        <p:nvSpPr>
          <p:cNvPr id="5" name="Shape 3"/>
          <p:cNvSpPr/>
          <p:nvPr/>
        </p:nvSpPr>
        <p:spPr>
          <a:xfrm>
            <a:off x="457200" y="1325880"/>
            <a:ext cx="4114800" cy="342900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6" name="Shape 4"/>
          <p:cNvSpPr/>
          <p:nvPr/>
        </p:nvSpPr>
        <p:spPr>
          <a:xfrm>
            <a:off x="594360" y="1481328"/>
            <a:ext cx="164592" cy="164592"/>
          </a:xfrm>
          <a:prstGeom prst="ellipse">
            <a:avLst/>
          </a:prstGeom>
          <a:solidFill>
            <a:srgbClr val="00B4D8"/>
          </a:solidFill>
          <a:ln w="12700">
            <a:solidFill>
              <a:srgbClr val="00B4D8"/>
            </a:solidFill>
            <a:prstDash val="solid"/>
          </a:ln>
        </p:spPr>
      </p:sp>
      <p:sp>
        <p:nvSpPr>
          <p:cNvPr id="7" name="Text 5"/>
          <p:cNvSpPr/>
          <p:nvPr/>
        </p:nvSpPr>
        <p:spPr>
          <a:xfrm>
            <a:off x="841248" y="1444752"/>
            <a:ext cx="356616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India is the world's 2nd largest internet user base</a:t>
            </a:r>
            <a:endParaRPr lang="en-US" sz="1200" dirty="0"/>
          </a:p>
        </p:txBody>
      </p:sp>
      <p:sp>
        <p:nvSpPr>
          <p:cNvPr id="8" name="Shape 6"/>
          <p:cNvSpPr/>
          <p:nvPr/>
        </p:nvSpPr>
        <p:spPr>
          <a:xfrm>
            <a:off x="594360" y="2103120"/>
            <a:ext cx="164592" cy="164592"/>
          </a:xfrm>
          <a:prstGeom prst="ellipse">
            <a:avLst/>
          </a:prstGeom>
          <a:solidFill>
            <a:srgbClr val="00B4D8"/>
          </a:solidFill>
          <a:ln w="12700">
            <a:solidFill>
              <a:srgbClr val="00B4D8"/>
            </a:solidFill>
            <a:prstDash val="solid"/>
          </a:ln>
        </p:spPr>
      </p:sp>
      <p:sp>
        <p:nvSpPr>
          <p:cNvPr id="9" name="Text 7"/>
          <p:cNvSpPr/>
          <p:nvPr/>
        </p:nvSpPr>
        <p:spPr>
          <a:xfrm>
            <a:off x="841248" y="2066544"/>
            <a:ext cx="356616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Post-Jio revolution (2016): affordable data transformed access</a:t>
            </a:r>
            <a:endParaRPr lang="en-US" sz="1200" dirty="0"/>
          </a:p>
        </p:txBody>
      </p:sp>
      <p:sp>
        <p:nvSpPr>
          <p:cNvPr id="10" name="Shape 8"/>
          <p:cNvSpPr/>
          <p:nvPr/>
        </p:nvSpPr>
        <p:spPr>
          <a:xfrm>
            <a:off x="594360" y="2724912"/>
            <a:ext cx="164592" cy="164592"/>
          </a:xfrm>
          <a:prstGeom prst="ellipse">
            <a:avLst/>
          </a:prstGeom>
          <a:solidFill>
            <a:srgbClr val="00B4D8"/>
          </a:solidFill>
          <a:ln w="12700">
            <a:solidFill>
              <a:srgbClr val="00B4D8"/>
            </a:solidFill>
            <a:prstDash val="solid"/>
          </a:ln>
        </p:spPr>
      </p:sp>
      <p:sp>
        <p:nvSpPr>
          <p:cNvPr id="11" name="Text 9"/>
          <p:cNvSpPr/>
          <p:nvPr/>
        </p:nvSpPr>
        <p:spPr>
          <a:xfrm>
            <a:off x="841248" y="2688336"/>
            <a:ext cx="356616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Digital payments via UPI crossed 100 billion transactions</a:t>
            </a:r>
            <a:endParaRPr lang="en-US" sz="1200" dirty="0"/>
          </a:p>
        </p:txBody>
      </p:sp>
      <p:sp>
        <p:nvSpPr>
          <p:cNvPr id="12" name="Shape 10"/>
          <p:cNvSpPr/>
          <p:nvPr/>
        </p:nvSpPr>
        <p:spPr>
          <a:xfrm>
            <a:off x="594360" y="3346704"/>
            <a:ext cx="164592" cy="164592"/>
          </a:xfrm>
          <a:prstGeom prst="ellipse">
            <a:avLst/>
          </a:prstGeom>
          <a:solidFill>
            <a:srgbClr val="00B4D8"/>
          </a:solidFill>
          <a:ln w="12700">
            <a:solidFill>
              <a:srgbClr val="00B4D8"/>
            </a:solidFill>
            <a:prstDash val="solid"/>
          </a:ln>
        </p:spPr>
      </p:sp>
      <p:sp>
        <p:nvSpPr>
          <p:cNvPr id="13" name="Text 11"/>
          <p:cNvSpPr/>
          <p:nvPr/>
        </p:nvSpPr>
        <p:spPr>
          <a:xfrm>
            <a:off x="841248" y="3310128"/>
            <a:ext cx="356616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BharatNet connecting 2.5 lakh gram panchayats</a:t>
            </a:r>
            <a:endParaRPr lang="en-US" sz="1200" dirty="0"/>
          </a:p>
        </p:txBody>
      </p:sp>
      <p:sp>
        <p:nvSpPr>
          <p:cNvPr id="14" name="Shape 12"/>
          <p:cNvSpPr/>
          <p:nvPr/>
        </p:nvSpPr>
        <p:spPr>
          <a:xfrm>
            <a:off x="594360" y="3968496"/>
            <a:ext cx="164592" cy="164592"/>
          </a:xfrm>
          <a:prstGeom prst="ellipse">
            <a:avLst/>
          </a:prstGeom>
          <a:solidFill>
            <a:srgbClr val="00B4D8"/>
          </a:solidFill>
          <a:ln w="12700">
            <a:solidFill>
              <a:srgbClr val="00B4D8"/>
            </a:solidFill>
            <a:prstDash val="solid"/>
          </a:ln>
        </p:spPr>
      </p:sp>
      <p:sp>
        <p:nvSpPr>
          <p:cNvPr id="15" name="Text 13"/>
          <p:cNvSpPr/>
          <p:nvPr/>
        </p:nvSpPr>
        <p:spPr>
          <a:xfrm>
            <a:off x="841248" y="3931920"/>
            <a:ext cx="3566160" cy="47548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Semi-urban districts like Ahmednagar seeing explosive growth</a:t>
            </a:r>
            <a:endParaRPr lang="en-US" sz="1200" dirty="0"/>
          </a:p>
        </p:txBody>
      </p:sp>
      <p:sp>
        <p:nvSpPr>
          <p:cNvPr id="16" name="Text 14"/>
          <p:cNvSpPr/>
          <p:nvPr/>
        </p:nvSpPr>
        <p:spPr>
          <a:xfrm>
            <a:off x="4754880" y="960120"/>
            <a:ext cx="4114800" cy="347472"/>
          </a:xfrm>
          <a:prstGeom prst="rect">
            <a:avLst/>
          </a:prstGeom>
          <a:noFill/>
          <a:ln/>
        </p:spPr>
        <p:txBody>
          <a:bodyPr wrap="square" rtlCol="0" anchor="ctr"/>
          <a:lstStyle/>
          <a:p>
            <a:pPr indent="0" marL="0">
              <a:buNone/>
            </a:pPr>
            <a:r>
              <a:rPr lang="en-US" sz="1500" b="1" dirty="0">
                <a:solidFill>
                  <a:srgbClr val="00B4D8"/>
                </a:solidFill>
              </a:rPr>
              <a:t>The Cybercrime Reality</a:t>
            </a:r>
            <a:endParaRPr lang="en-US" sz="1500" dirty="0"/>
          </a:p>
        </p:txBody>
      </p:sp>
      <p:sp>
        <p:nvSpPr>
          <p:cNvPr id="17" name="Shape 15"/>
          <p:cNvSpPr/>
          <p:nvPr/>
        </p:nvSpPr>
        <p:spPr>
          <a:xfrm>
            <a:off x="4754880" y="1325880"/>
            <a:ext cx="4114800" cy="342900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8" name="Text 16"/>
          <p:cNvSpPr/>
          <p:nvPr/>
        </p:nvSpPr>
        <p:spPr>
          <a:xfrm>
            <a:off x="4892040" y="1481328"/>
            <a:ext cx="1371600" cy="384048"/>
          </a:xfrm>
          <a:prstGeom prst="rect">
            <a:avLst/>
          </a:prstGeom>
          <a:noFill/>
          <a:ln/>
        </p:spPr>
        <p:txBody>
          <a:bodyPr wrap="square" rtlCol="0" anchor="ctr"/>
          <a:lstStyle/>
          <a:p>
            <a:pPr indent="0" marL="0">
              <a:buNone/>
            </a:pPr>
            <a:r>
              <a:rPr lang="en-US" sz="1600" b="1" dirty="0">
                <a:solidFill>
                  <a:srgbClr val="00B4D8"/>
                </a:solidFill>
                <a:latin typeface="Calibri" pitchFamily="34" charset="0"/>
                <a:ea typeface="Calibri" pitchFamily="34" charset="-122"/>
                <a:cs typeface="Calibri" pitchFamily="34" charset="-120"/>
              </a:rPr>
              <a:t>65,000+</a:t>
            </a:r>
            <a:endParaRPr lang="en-US" sz="1600" dirty="0"/>
          </a:p>
        </p:txBody>
      </p:sp>
      <p:sp>
        <p:nvSpPr>
          <p:cNvPr id="19" name="Text 17"/>
          <p:cNvSpPr/>
          <p:nvPr/>
        </p:nvSpPr>
        <p:spPr>
          <a:xfrm>
            <a:off x="6309360" y="1508760"/>
            <a:ext cx="2423160" cy="38404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cybercrime cases in India (2022)</a:t>
            </a:r>
            <a:endParaRPr lang="en-US" sz="1200" dirty="0"/>
          </a:p>
        </p:txBody>
      </p:sp>
      <p:sp>
        <p:nvSpPr>
          <p:cNvPr id="20" name="Text 18"/>
          <p:cNvSpPr/>
          <p:nvPr/>
        </p:nvSpPr>
        <p:spPr>
          <a:xfrm>
            <a:off x="4892040" y="2103120"/>
            <a:ext cx="1371600" cy="384048"/>
          </a:xfrm>
          <a:prstGeom prst="rect">
            <a:avLst/>
          </a:prstGeom>
          <a:noFill/>
          <a:ln/>
        </p:spPr>
        <p:txBody>
          <a:bodyPr wrap="square" rtlCol="0" anchor="ctr"/>
          <a:lstStyle/>
          <a:p>
            <a:pPr indent="0" marL="0">
              <a:buNone/>
            </a:pPr>
            <a:r>
              <a:rPr lang="en-US" sz="1600" b="1" dirty="0">
                <a:solidFill>
                  <a:srgbClr val="00B4D8"/>
                </a:solidFill>
                <a:latin typeface="Calibri" pitchFamily="34" charset="0"/>
                <a:ea typeface="Calibri" pitchFamily="34" charset="-122"/>
                <a:cs typeface="Calibri" pitchFamily="34" charset="-120"/>
              </a:rPr>
              <a:t>₹1,750 Cr</a:t>
            </a:r>
            <a:endParaRPr lang="en-US" sz="1600" dirty="0"/>
          </a:p>
        </p:txBody>
      </p:sp>
      <p:sp>
        <p:nvSpPr>
          <p:cNvPr id="21" name="Text 19"/>
          <p:cNvSpPr/>
          <p:nvPr/>
        </p:nvSpPr>
        <p:spPr>
          <a:xfrm>
            <a:off x="6309360" y="2130552"/>
            <a:ext cx="2423160" cy="38404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lost to cyber fraud annually</a:t>
            </a:r>
            <a:endParaRPr lang="en-US" sz="1200" dirty="0"/>
          </a:p>
        </p:txBody>
      </p:sp>
      <p:sp>
        <p:nvSpPr>
          <p:cNvPr id="22" name="Text 20"/>
          <p:cNvSpPr/>
          <p:nvPr/>
        </p:nvSpPr>
        <p:spPr>
          <a:xfrm>
            <a:off x="4892040" y="2724912"/>
            <a:ext cx="1371600" cy="384048"/>
          </a:xfrm>
          <a:prstGeom prst="rect">
            <a:avLst/>
          </a:prstGeom>
          <a:noFill/>
          <a:ln/>
        </p:spPr>
        <p:txBody>
          <a:bodyPr wrap="square" rtlCol="0" anchor="ctr"/>
          <a:lstStyle/>
          <a:p>
            <a:pPr indent="0" marL="0">
              <a:buNone/>
            </a:pPr>
            <a:r>
              <a:rPr lang="en-US" sz="1600" b="1" dirty="0">
                <a:solidFill>
                  <a:srgbClr val="00B4D8"/>
                </a:solidFill>
                <a:latin typeface="Calibri" pitchFamily="34" charset="0"/>
                <a:ea typeface="Calibri" pitchFamily="34" charset="-122"/>
                <a:cs typeface="Calibri" pitchFamily="34" charset="-120"/>
              </a:rPr>
              <a:t>#1 Threat</a:t>
            </a:r>
            <a:endParaRPr lang="en-US" sz="1600" dirty="0"/>
          </a:p>
        </p:txBody>
      </p:sp>
      <p:sp>
        <p:nvSpPr>
          <p:cNvPr id="23" name="Text 21"/>
          <p:cNvSpPr/>
          <p:nvPr/>
        </p:nvSpPr>
        <p:spPr>
          <a:xfrm>
            <a:off x="6309360" y="2752344"/>
            <a:ext cx="2423160" cy="38404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phishing — most common attack type</a:t>
            </a:r>
            <a:endParaRPr lang="en-US" sz="1200" dirty="0"/>
          </a:p>
        </p:txBody>
      </p:sp>
      <p:sp>
        <p:nvSpPr>
          <p:cNvPr id="24" name="Text 22"/>
          <p:cNvSpPr/>
          <p:nvPr/>
        </p:nvSpPr>
        <p:spPr>
          <a:xfrm>
            <a:off x="4892040" y="3346704"/>
            <a:ext cx="1371600" cy="384048"/>
          </a:xfrm>
          <a:prstGeom prst="rect">
            <a:avLst/>
          </a:prstGeom>
          <a:noFill/>
          <a:ln/>
        </p:spPr>
        <p:txBody>
          <a:bodyPr wrap="square" rtlCol="0" anchor="ctr"/>
          <a:lstStyle/>
          <a:p>
            <a:pPr indent="0" marL="0">
              <a:buNone/>
            </a:pPr>
            <a:r>
              <a:rPr lang="en-US" sz="1600" b="1" dirty="0">
                <a:solidFill>
                  <a:srgbClr val="00B4D8"/>
                </a:solidFill>
                <a:latin typeface="Calibri" pitchFamily="34" charset="0"/>
                <a:ea typeface="Calibri" pitchFamily="34" charset="-122"/>
                <a:cs typeface="Calibri" pitchFamily="34" charset="-120"/>
              </a:rPr>
              <a:t>Maharashtra</a:t>
            </a:r>
            <a:endParaRPr lang="en-US" sz="1600" dirty="0"/>
          </a:p>
        </p:txBody>
      </p:sp>
      <p:sp>
        <p:nvSpPr>
          <p:cNvPr id="25" name="Text 23"/>
          <p:cNvSpPr/>
          <p:nvPr/>
        </p:nvSpPr>
        <p:spPr>
          <a:xfrm>
            <a:off x="6309360" y="3374136"/>
            <a:ext cx="2423160" cy="38404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consistently top 3 state for cybercrime</a:t>
            </a:r>
            <a:endParaRPr lang="en-US" sz="1200" dirty="0"/>
          </a:p>
        </p:txBody>
      </p:sp>
      <p:sp>
        <p:nvSpPr>
          <p:cNvPr id="26" name="Text 24"/>
          <p:cNvSpPr/>
          <p:nvPr/>
        </p:nvSpPr>
        <p:spPr>
          <a:xfrm>
            <a:off x="4892040" y="3968496"/>
            <a:ext cx="1371600" cy="384048"/>
          </a:xfrm>
          <a:prstGeom prst="rect">
            <a:avLst/>
          </a:prstGeom>
          <a:noFill/>
          <a:ln/>
        </p:spPr>
        <p:txBody>
          <a:bodyPr wrap="square" rtlCol="0" anchor="ctr"/>
          <a:lstStyle/>
          <a:p>
            <a:pPr indent="0" marL="0">
              <a:buNone/>
            </a:pPr>
            <a:r>
              <a:rPr lang="en-US" sz="1600" b="1" dirty="0">
                <a:solidFill>
                  <a:srgbClr val="00B4D8"/>
                </a:solidFill>
                <a:latin typeface="Calibri" pitchFamily="34" charset="0"/>
                <a:ea typeface="Calibri" pitchFamily="34" charset="-122"/>
                <a:cs typeface="Calibri" pitchFamily="34" charset="-120"/>
              </a:rPr>
              <a:t>Only 3%</a:t>
            </a:r>
            <a:endParaRPr lang="en-US" sz="1600" dirty="0"/>
          </a:p>
        </p:txBody>
      </p:sp>
      <p:sp>
        <p:nvSpPr>
          <p:cNvPr id="27" name="Text 25"/>
          <p:cNvSpPr/>
          <p:nvPr/>
        </p:nvSpPr>
        <p:spPr>
          <a:xfrm>
            <a:off x="6309360" y="3995928"/>
            <a:ext cx="2423160" cy="384048"/>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of incidents ever get reported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Need for Community Engagement</a:t>
            </a:r>
            <a:endParaRPr lang="en-US" sz="3000" dirty="0"/>
          </a:p>
        </p:txBody>
      </p:sp>
      <p:sp>
        <p:nvSpPr>
          <p:cNvPr id="3" name="Shape 1"/>
          <p:cNvSpPr/>
          <p:nvPr/>
        </p:nvSpPr>
        <p:spPr>
          <a:xfrm>
            <a:off x="457200" y="749808"/>
            <a:ext cx="8229600" cy="36576"/>
          </a:xfrm>
          <a:prstGeom prst="rect">
            <a:avLst/>
          </a:prstGeom>
          <a:solidFill>
            <a:srgbClr val="CBD5E1"/>
          </a:solidFill>
          <a:ln w="12700">
            <a:solidFill>
              <a:srgbClr val="CBD5E1"/>
            </a:solidFill>
            <a:prstDash val="solid"/>
          </a:ln>
        </p:spPr>
      </p:sp>
      <p:sp>
        <p:nvSpPr>
          <p:cNvPr id="4" name="Shape 2"/>
          <p:cNvSpPr/>
          <p:nvPr/>
        </p:nvSpPr>
        <p:spPr>
          <a:xfrm>
            <a:off x="457200" y="960120"/>
            <a:ext cx="2697480" cy="1828800"/>
          </a:xfrm>
          <a:prstGeom prst="rect">
            <a:avLst/>
          </a:prstGeom>
          <a:solidFill>
            <a:srgbClr val="1B3A5C"/>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457200" y="1069848"/>
            <a:ext cx="269748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6" name="Text 4"/>
          <p:cNvSpPr/>
          <p:nvPr/>
        </p:nvSpPr>
        <p:spPr>
          <a:xfrm>
            <a:off x="566928" y="1554480"/>
            <a:ext cx="2468880" cy="365760"/>
          </a:xfrm>
          <a:prstGeom prst="rect">
            <a:avLst/>
          </a:prstGeom>
          <a:noFill/>
          <a:ln/>
        </p:spPr>
        <p:txBody>
          <a:bodyPr wrap="square" rtlCol="0" anchor="ctr"/>
          <a:lstStyle/>
          <a:p>
            <a:pPr algn="ctr" indent="0" marL="0">
              <a:buNone/>
            </a:pPr>
            <a:r>
              <a:rPr lang="en-US" sz="1200" b="1" dirty="0">
                <a:solidFill>
                  <a:srgbClr val="00B4D8"/>
                </a:solidFill>
              </a:rPr>
              <a:t>Awareness = First Line of Defense</a:t>
            </a:r>
            <a:endParaRPr lang="en-US" sz="1200" dirty="0"/>
          </a:p>
        </p:txBody>
      </p:sp>
      <p:sp>
        <p:nvSpPr>
          <p:cNvPr id="7" name="Text 5"/>
          <p:cNvSpPr/>
          <p:nvPr/>
        </p:nvSpPr>
        <p:spPr>
          <a:xfrm>
            <a:off x="566928" y="1947672"/>
            <a:ext cx="2487168" cy="713232"/>
          </a:xfrm>
          <a:prstGeom prst="rect">
            <a:avLst/>
          </a:prstGeom>
          <a:noFill/>
          <a:ln/>
        </p:spPr>
        <p:txBody>
          <a:bodyPr wrap="square" rtlCol="0" anchor="t"/>
          <a:lstStyle/>
          <a:p>
            <a:pPr indent="0" marL="0">
              <a:lnSpc>
                <a:spcPct val="140000"/>
              </a:lnSpc>
              <a:buNone/>
            </a:pPr>
            <a:r>
              <a:rPr lang="en-US" sz="1100" dirty="0">
                <a:solidFill>
                  <a:srgbClr val="FFFFFF"/>
                </a:solidFill>
                <a:latin typeface="Calibri" pitchFamily="34" charset="0"/>
                <a:ea typeface="Calibri" pitchFamily="34" charset="-122"/>
                <a:cs typeface="Calibri" pitchFamily="34" charset="-120"/>
              </a:rPr>
              <a:t>Unlike physical crime, cybercrime operates invisibly. Public awareness is often the ONLY protection available at the individual level.</a:t>
            </a:r>
            <a:endParaRPr lang="en-US" sz="1100" dirty="0"/>
          </a:p>
        </p:txBody>
      </p:sp>
      <p:sp>
        <p:nvSpPr>
          <p:cNvPr id="8" name="Shape 6"/>
          <p:cNvSpPr/>
          <p:nvPr/>
        </p:nvSpPr>
        <p:spPr>
          <a:xfrm>
            <a:off x="3310128" y="960120"/>
            <a:ext cx="2697480" cy="1828800"/>
          </a:xfrm>
          <a:prstGeom prst="rect">
            <a:avLst/>
          </a:prstGeom>
          <a:solidFill>
            <a:srgbClr val="1B3A5C"/>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9" name="Text 7"/>
          <p:cNvSpPr/>
          <p:nvPr/>
        </p:nvSpPr>
        <p:spPr>
          <a:xfrm>
            <a:off x="3310128" y="1069848"/>
            <a:ext cx="269748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0" name="Text 8"/>
          <p:cNvSpPr/>
          <p:nvPr/>
        </p:nvSpPr>
        <p:spPr>
          <a:xfrm>
            <a:off x="3419856" y="1554480"/>
            <a:ext cx="2468880" cy="365760"/>
          </a:xfrm>
          <a:prstGeom prst="rect">
            <a:avLst/>
          </a:prstGeom>
          <a:noFill/>
          <a:ln/>
        </p:spPr>
        <p:txBody>
          <a:bodyPr wrap="square" rtlCol="0" anchor="ctr"/>
          <a:lstStyle/>
          <a:p>
            <a:pPr algn="ctr" indent="0" marL="0">
              <a:buNone/>
            </a:pPr>
            <a:r>
              <a:rPr lang="en-US" sz="1200" b="1" dirty="0">
                <a:solidFill>
                  <a:srgbClr val="00B4D8"/>
                </a:solidFill>
              </a:rPr>
              <a:t>Widening Literacy Gap</a:t>
            </a:r>
            <a:endParaRPr lang="en-US" sz="1200" dirty="0"/>
          </a:p>
        </p:txBody>
      </p:sp>
      <p:sp>
        <p:nvSpPr>
          <p:cNvPr id="11" name="Text 9"/>
          <p:cNvSpPr/>
          <p:nvPr/>
        </p:nvSpPr>
        <p:spPr>
          <a:xfrm>
            <a:off x="3419856" y="1947672"/>
            <a:ext cx="2487168" cy="713232"/>
          </a:xfrm>
          <a:prstGeom prst="rect">
            <a:avLst/>
          </a:prstGeom>
          <a:noFill/>
          <a:ln/>
        </p:spPr>
        <p:txBody>
          <a:bodyPr wrap="square" rtlCol="0" anchor="t"/>
          <a:lstStyle/>
          <a:p>
            <a:pPr indent="0" marL="0">
              <a:lnSpc>
                <a:spcPct val="140000"/>
              </a:lnSpc>
              <a:buNone/>
            </a:pPr>
            <a:r>
              <a:rPr lang="en-US" sz="1100" dirty="0">
                <a:solidFill>
                  <a:srgbClr val="FFFFFF"/>
                </a:solidFill>
                <a:latin typeface="Calibri" pitchFamily="34" charset="0"/>
                <a:ea typeface="Calibri" pitchFamily="34" charset="-122"/>
                <a:cs typeface="Calibri" pitchFamily="34" charset="-120"/>
              </a:rPr>
              <a:t>Digital access is growing fast in Ahmednagar, but cybersecurity literacy is not keeping pace — creating a vulnerable population.</a:t>
            </a:r>
            <a:endParaRPr lang="en-US" sz="1100" dirty="0"/>
          </a:p>
        </p:txBody>
      </p:sp>
      <p:sp>
        <p:nvSpPr>
          <p:cNvPr id="12" name="Shape 10"/>
          <p:cNvSpPr/>
          <p:nvPr/>
        </p:nvSpPr>
        <p:spPr>
          <a:xfrm>
            <a:off x="6163056" y="960120"/>
            <a:ext cx="2697480" cy="1828800"/>
          </a:xfrm>
          <a:prstGeom prst="rect">
            <a:avLst/>
          </a:prstGeom>
          <a:solidFill>
            <a:srgbClr val="1B3A5C"/>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13" name="Text 11"/>
          <p:cNvSpPr/>
          <p:nvPr/>
        </p:nvSpPr>
        <p:spPr>
          <a:xfrm>
            <a:off x="6163056" y="1069848"/>
            <a:ext cx="269748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4" name="Text 12"/>
          <p:cNvSpPr/>
          <p:nvPr/>
        </p:nvSpPr>
        <p:spPr>
          <a:xfrm>
            <a:off x="6272784" y="1554480"/>
            <a:ext cx="2468880" cy="365760"/>
          </a:xfrm>
          <a:prstGeom prst="rect">
            <a:avLst/>
          </a:prstGeom>
          <a:noFill/>
          <a:ln/>
        </p:spPr>
        <p:txBody>
          <a:bodyPr wrap="square" rtlCol="0" anchor="ctr"/>
          <a:lstStyle/>
          <a:p>
            <a:pPr algn="ctr" indent="0" marL="0">
              <a:buNone/>
            </a:pPr>
            <a:r>
              <a:rPr lang="en-US" sz="1200" b="1" dirty="0">
                <a:solidFill>
                  <a:srgbClr val="00B4D8"/>
                </a:solidFill>
              </a:rPr>
              <a:t>Community-Level Impact</a:t>
            </a:r>
            <a:endParaRPr lang="en-US" sz="1200" dirty="0"/>
          </a:p>
        </p:txBody>
      </p:sp>
      <p:sp>
        <p:nvSpPr>
          <p:cNvPr id="15" name="Text 13"/>
          <p:cNvSpPr/>
          <p:nvPr/>
        </p:nvSpPr>
        <p:spPr>
          <a:xfrm>
            <a:off x="6272784" y="1947672"/>
            <a:ext cx="2487168" cy="713232"/>
          </a:xfrm>
          <a:prstGeom prst="rect">
            <a:avLst/>
          </a:prstGeom>
          <a:noFill/>
          <a:ln/>
        </p:spPr>
        <p:txBody>
          <a:bodyPr wrap="square" rtlCol="0" anchor="t"/>
          <a:lstStyle/>
          <a:p>
            <a:pPr indent="0" marL="0">
              <a:lnSpc>
                <a:spcPct val="140000"/>
              </a:lnSpc>
              <a:buNone/>
            </a:pPr>
            <a:r>
              <a:rPr lang="en-US" sz="1100" dirty="0">
                <a:solidFill>
                  <a:srgbClr val="FFFFFF"/>
                </a:solidFill>
                <a:latin typeface="Calibri" pitchFamily="34" charset="0"/>
                <a:ea typeface="Calibri" pitchFamily="34" charset="-122"/>
                <a:cs typeface="Calibri" pitchFamily="34" charset="-120"/>
              </a:rPr>
              <a:t>Scams, UPI fraud, and account hacking directly affect household finances and erode trust in digital services at a local level.</a:t>
            </a:r>
            <a:endParaRPr lang="en-US" sz="1100" dirty="0"/>
          </a:p>
        </p:txBody>
      </p:sp>
      <p:sp>
        <p:nvSpPr>
          <p:cNvPr id="16" name="Shape 14"/>
          <p:cNvSpPr/>
          <p:nvPr/>
        </p:nvSpPr>
        <p:spPr>
          <a:xfrm>
            <a:off x="457200" y="2953512"/>
            <a:ext cx="2697480" cy="18288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17" name="Text 15"/>
          <p:cNvSpPr/>
          <p:nvPr/>
        </p:nvSpPr>
        <p:spPr>
          <a:xfrm>
            <a:off x="457200" y="3063240"/>
            <a:ext cx="269748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8" name="Text 16"/>
          <p:cNvSpPr/>
          <p:nvPr/>
        </p:nvSpPr>
        <p:spPr>
          <a:xfrm>
            <a:off x="566928" y="3547872"/>
            <a:ext cx="2468880" cy="365760"/>
          </a:xfrm>
          <a:prstGeom prst="rect">
            <a:avLst/>
          </a:prstGeom>
          <a:noFill/>
          <a:ln/>
        </p:spPr>
        <p:txBody>
          <a:bodyPr wrap="square" rtlCol="0" anchor="ctr"/>
          <a:lstStyle/>
          <a:p>
            <a:pPr algn="ctr" indent="0" marL="0">
              <a:buNone/>
            </a:pPr>
            <a:r>
              <a:rPr lang="en-US" sz="1200" b="1" dirty="0">
                <a:solidFill>
                  <a:srgbClr val="1B3A5C"/>
                </a:solidFill>
              </a:rPr>
              <a:t>No Baseline Data Exists</a:t>
            </a:r>
            <a:endParaRPr lang="en-US" sz="1200" dirty="0"/>
          </a:p>
        </p:txBody>
      </p:sp>
      <p:sp>
        <p:nvSpPr>
          <p:cNvPr id="19" name="Text 17"/>
          <p:cNvSpPr/>
          <p:nvPr/>
        </p:nvSpPr>
        <p:spPr>
          <a:xfrm>
            <a:off x="566928" y="3941064"/>
            <a:ext cx="2487168" cy="713232"/>
          </a:xfrm>
          <a:prstGeom prst="rect">
            <a:avLst/>
          </a:prstGeom>
          <a:noFill/>
          <a:ln/>
        </p:spPr>
        <p:txBody>
          <a:bodyPr wrap="square" rtlCol="0" anchor="t"/>
          <a:lstStyle/>
          <a:p>
            <a:pPr indent="0" marL="0">
              <a:lnSpc>
                <a:spcPct val="140000"/>
              </a:lnSpc>
              <a:buNone/>
            </a:pPr>
            <a:r>
              <a:rPr lang="en-US" sz="1100" dirty="0">
                <a:solidFill>
                  <a:srgbClr val="1E293B"/>
                </a:solidFill>
                <a:latin typeface="Calibri" pitchFamily="34" charset="0"/>
                <a:ea typeface="Calibri" pitchFamily="34" charset="-122"/>
                <a:cs typeface="Calibri" pitchFamily="34" charset="-120"/>
              </a:rPr>
              <a:t>No structured study has measured cybersecurity awareness levels for online users specifically in the Ahmednagar district.</a:t>
            </a:r>
            <a:endParaRPr lang="en-US" sz="1100" dirty="0"/>
          </a:p>
        </p:txBody>
      </p:sp>
      <p:sp>
        <p:nvSpPr>
          <p:cNvPr id="20" name="Shape 18"/>
          <p:cNvSpPr/>
          <p:nvPr/>
        </p:nvSpPr>
        <p:spPr>
          <a:xfrm>
            <a:off x="3310128" y="2953512"/>
            <a:ext cx="2697480" cy="18288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21" name="Text 19"/>
          <p:cNvSpPr/>
          <p:nvPr/>
        </p:nvSpPr>
        <p:spPr>
          <a:xfrm>
            <a:off x="3310128" y="3063240"/>
            <a:ext cx="269748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2" name="Text 20"/>
          <p:cNvSpPr/>
          <p:nvPr/>
        </p:nvSpPr>
        <p:spPr>
          <a:xfrm>
            <a:off x="3419856" y="3547872"/>
            <a:ext cx="2468880" cy="365760"/>
          </a:xfrm>
          <a:prstGeom prst="rect">
            <a:avLst/>
          </a:prstGeom>
          <a:noFill/>
          <a:ln/>
        </p:spPr>
        <p:txBody>
          <a:bodyPr wrap="square" rtlCol="0" anchor="ctr"/>
          <a:lstStyle/>
          <a:p>
            <a:pPr algn="ctr" indent="0" marL="0">
              <a:buNone/>
            </a:pPr>
            <a:r>
              <a:rPr lang="en-US" sz="1200" b="1" dirty="0">
                <a:solidFill>
                  <a:srgbClr val="1B3A5C"/>
                </a:solidFill>
              </a:rPr>
              <a:t>Education Gap in Schools</a:t>
            </a:r>
            <a:endParaRPr lang="en-US" sz="1200" dirty="0"/>
          </a:p>
        </p:txBody>
      </p:sp>
      <p:sp>
        <p:nvSpPr>
          <p:cNvPr id="23" name="Text 21"/>
          <p:cNvSpPr/>
          <p:nvPr/>
        </p:nvSpPr>
        <p:spPr>
          <a:xfrm>
            <a:off x="3419856" y="3941064"/>
            <a:ext cx="2487168" cy="713232"/>
          </a:xfrm>
          <a:prstGeom prst="rect">
            <a:avLst/>
          </a:prstGeom>
          <a:noFill/>
          <a:ln/>
        </p:spPr>
        <p:txBody>
          <a:bodyPr wrap="square" rtlCol="0" anchor="t"/>
          <a:lstStyle/>
          <a:p>
            <a:pPr indent="0" marL="0">
              <a:lnSpc>
                <a:spcPct val="140000"/>
              </a:lnSpc>
              <a:buNone/>
            </a:pPr>
            <a:r>
              <a:rPr lang="en-US" sz="1100" dirty="0">
                <a:solidFill>
                  <a:srgbClr val="1E293B"/>
                </a:solidFill>
                <a:latin typeface="Calibri" pitchFamily="34" charset="0"/>
                <a:ea typeface="Calibri" pitchFamily="34" charset="-122"/>
                <a:cs typeface="Calibri" pitchFamily="34" charset="-120"/>
              </a:rPr>
              <a:t>Formal cybersecurity education is absent from most school and college curricula in semi-urban Maharashtra.</a:t>
            </a:r>
            <a:endParaRPr lang="en-US" sz="1100" dirty="0"/>
          </a:p>
        </p:txBody>
      </p:sp>
      <p:sp>
        <p:nvSpPr>
          <p:cNvPr id="24" name="Shape 22"/>
          <p:cNvSpPr/>
          <p:nvPr/>
        </p:nvSpPr>
        <p:spPr>
          <a:xfrm>
            <a:off x="6163056" y="2953512"/>
            <a:ext cx="2697480" cy="18288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25" name="Text 23"/>
          <p:cNvSpPr/>
          <p:nvPr/>
        </p:nvSpPr>
        <p:spPr>
          <a:xfrm>
            <a:off x="6163056" y="3063240"/>
            <a:ext cx="2697480" cy="45720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6" name="Text 24"/>
          <p:cNvSpPr/>
          <p:nvPr/>
        </p:nvSpPr>
        <p:spPr>
          <a:xfrm>
            <a:off x="6272784" y="3547872"/>
            <a:ext cx="2468880" cy="365760"/>
          </a:xfrm>
          <a:prstGeom prst="rect">
            <a:avLst/>
          </a:prstGeom>
          <a:noFill/>
          <a:ln/>
        </p:spPr>
        <p:txBody>
          <a:bodyPr wrap="square" rtlCol="0" anchor="ctr"/>
          <a:lstStyle/>
          <a:p>
            <a:pPr algn="ctr" indent="0" marL="0">
              <a:buNone/>
            </a:pPr>
            <a:r>
              <a:rPr lang="en-US" sz="1200" b="1" dirty="0">
                <a:solidFill>
                  <a:srgbClr val="1B3A5C"/>
                </a:solidFill>
              </a:rPr>
              <a:t>Breaking the Cycle</a:t>
            </a:r>
            <a:endParaRPr lang="en-US" sz="1200" dirty="0"/>
          </a:p>
        </p:txBody>
      </p:sp>
      <p:sp>
        <p:nvSpPr>
          <p:cNvPr id="27" name="Text 25"/>
          <p:cNvSpPr/>
          <p:nvPr/>
        </p:nvSpPr>
        <p:spPr>
          <a:xfrm>
            <a:off x="6272784" y="3941064"/>
            <a:ext cx="2487168" cy="713232"/>
          </a:xfrm>
          <a:prstGeom prst="rect">
            <a:avLst/>
          </a:prstGeom>
          <a:noFill/>
          <a:ln/>
        </p:spPr>
        <p:txBody>
          <a:bodyPr wrap="square" rtlCol="0" anchor="t"/>
          <a:lstStyle/>
          <a:p>
            <a:pPr indent="0" marL="0">
              <a:lnSpc>
                <a:spcPct val="140000"/>
              </a:lnSpc>
              <a:buNone/>
            </a:pPr>
            <a:r>
              <a:rPr lang="en-US" sz="1100" dirty="0">
                <a:solidFill>
                  <a:srgbClr val="1E293B"/>
                </a:solidFill>
                <a:latin typeface="Calibri" pitchFamily="34" charset="0"/>
                <a:ea typeface="Calibri" pitchFamily="34" charset="-122"/>
                <a:cs typeface="Calibri" pitchFamily="34" charset="-120"/>
              </a:rPr>
              <a:t>Without awareness programs, each new wave of internet users remains equally vulnerable — the problem compounds over time.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Objectives of the Project</a:t>
            </a:r>
            <a:endParaRPr lang="en-US" sz="3000" dirty="0"/>
          </a:p>
        </p:txBody>
      </p:sp>
      <p:sp>
        <p:nvSpPr>
          <p:cNvPr id="3" name="Shape 1"/>
          <p:cNvSpPr/>
          <p:nvPr/>
        </p:nvSpPr>
        <p:spPr>
          <a:xfrm>
            <a:off x="457200" y="749808"/>
            <a:ext cx="8229600" cy="36576"/>
          </a:xfrm>
          <a:prstGeom prst="rect">
            <a:avLst/>
          </a:prstGeom>
          <a:solidFill>
            <a:srgbClr val="00B4D8"/>
          </a:solidFill>
          <a:ln w="12700">
            <a:solidFill>
              <a:srgbClr val="00B4D8"/>
            </a:solidFill>
            <a:prstDash val="solid"/>
          </a:ln>
        </p:spPr>
      </p:sp>
      <p:sp>
        <p:nvSpPr>
          <p:cNvPr id="4" name="Shape 2"/>
          <p:cNvSpPr/>
          <p:nvPr/>
        </p:nvSpPr>
        <p:spPr>
          <a:xfrm>
            <a:off x="457200" y="960120"/>
            <a:ext cx="4160520" cy="1097280"/>
          </a:xfrm>
          <a:prstGeom prst="rect">
            <a:avLst/>
          </a:prstGeom>
          <a:solidFill>
            <a:srgbClr val="1B3A5C"/>
          </a:solidFill>
          <a:ln w="12700">
            <a:solidFill>
              <a:srgbClr val="00B4D8"/>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594360" y="1069848"/>
            <a:ext cx="502920" cy="822960"/>
          </a:xfrm>
          <a:prstGeom prst="rect">
            <a:avLst/>
          </a:prstGeom>
          <a:noFill/>
          <a:ln/>
        </p:spPr>
        <p:txBody>
          <a:bodyPr wrap="square" rtlCol="0" anchor="ctr"/>
          <a:lstStyle/>
          <a:p>
            <a:pPr indent="0" marL="0">
              <a:buNone/>
            </a:pPr>
            <a:r>
              <a:rPr lang="en-US" sz="2400" b="1" dirty="0">
                <a:solidFill>
                  <a:srgbClr val="00B4D8"/>
                </a:solidFill>
                <a:latin typeface="Calibri" pitchFamily="34" charset="0"/>
                <a:ea typeface="Calibri" pitchFamily="34" charset="-122"/>
                <a:cs typeface="Calibri" pitchFamily="34" charset="-120"/>
              </a:rPr>
              <a:t>01</a:t>
            </a:r>
            <a:endParaRPr lang="en-US" sz="2400" dirty="0"/>
          </a:p>
        </p:txBody>
      </p:sp>
      <p:sp>
        <p:nvSpPr>
          <p:cNvPr id="6" name="Text 4"/>
          <p:cNvSpPr/>
          <p:nvPr/>
        </p:nvSpPr>
        <p:spPr>
          <a:xfrm>
            <a:off x="1170432" y="1051560"/>
            <a:ext cx="3291840" cy="320040"/>
          </a:xfrm>
          <a:prstGeom prst="rect">
            <a:avLst/>
          </a:prstGeom>
          <a:noFill/>
          <a:ln/>
        </p:spPr>
        <p:txBody>
          <a:bodyPr wrap="square" rtlCol="0" anchor="ctr"/>
          <a:lstStyle/>
          <a:p>
            <a:pPr indent="0" marL="0">
              <a:buNone/>
            </a:pPr>
            <a:r>
              <a:rPr lang="en-US" sz="1300" b="1" dirty="0">
                <a:solidFill>
                  <a:srgbClr val="FFFFFF"/>
                </a:solidFill>
              </a:rPr>
              <a:t>Assess Awareness Levels</a:t>
            </a:r>
            <a:endParaRPr lang="en-US" sz="1300" dirty="0"/>
          </a:p>
        </p:txBody>
      </p:sp>
      <p:sp>
        <p:nvSpPr>
          <p:cNvPr id="7" name="Text 5"/>
          <p:cNvSpPr/>
          <p:nvPr/>
        </p:nvSpPr>
        <p:spPr>
          <a:xfrm>
            <a:off x="1170432" y="1417320"/>
            <a:ext cx="3291840" cy="54864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Measure the general level of cybersecurity awareness among online users in Ahmednagar district.</a:t>
            </a:r>
            <a:endParaRPr lang="en-US" sz="1150" dirty="0"/>
          </a:p>
        </p:txBody>
      </p:sp>
      <p:sp>
        <p:nvSpPr>
          <p:cNvPr id="8" name="Shape 6"/>
          <p:cNvSpPr/>
          <p:nvPr/>
        </p:nvSpPr>
        <p:spPr>
          <a:xfrm>
            <a:off x="4800600" y="960120"/>
            <a:ext cx="4160520" cy="1097280"/>
          </a:xfrm>
          <a:prstGeom prst="rect">
            <a:avLst/>
          </a:prstGeom>
          <a:solidFill>
            <a:srgbClr val="1B3A5C"/>
          </a:solidFill>
          <a:ln w="12700">
            <a:solidFill>
              <a:srgbClr val="00B4D8"/>
            </a:solidFill>
            <a:prstDash val="solid"/>
          </a:ln>
          <a:effectLst>
            <a:outerShdw sx="100000" sy="100000" kx="0" ky="0" algn="bl" rotWithShape="0" blurRad="101600" dist="38100" dir="8100000">
              <a:srgbClr val="000000">
                <a:alpha val="18000"/>
              </a:srgbClr>
            </a:outerShdw>
          </a:effectLst>
        </p:spPr>
      </p:sp>
      <p:sp>
        <p:nvSpPr>
          <p:cNvPr id="9" name="Text 7"/>
          <p:cNvSpPr/>
          <p:nvPr/>
        </p:nvSpPr>
        <p:spPr>
          <a:xfrm>
            <a:off x="4937760" y="1069848"/>
            <a:ext cx="502920" cy="822960"/>
          </a:xfrm>
          <a:prstGeom prst="rect">
            <a:avLst/>
          </a:prstGeom>
          <a:noFill/>
          <a:ln/>
        </p:spPr>
        <p:txBody>
          <a:bodyPr wrap="square" rtlCol="0" anchor="ctr"/>
          <a:lstStyle/>
          <a:p>
            <a:pPr indent="0" marL="0">
              <a:buNone/>
            </a:pPr>
            <a:r>
              <a:rPr lang="en-US" sz="2400" b="1" dirty="0">
                <a:solidFill>
                  <a:srgbClr val="00B4D8"/>
                </a:solidFill>
                <a:latin typeface="Calibri" pitchFamily="34" charset="0"/>
                <a:ea typeface="Calibri" pitchFamily="34" charset="-122"/>
                <a:cs typeface="Calibri" pitchFamily="34" charset="-120"/>
              </a:rPr>
              <a:t>02</a:t>
            </a:r>
            <a:endParaRPr lang="en-US" sz="2400" dirty="0"/>
          </a:p>
        </p:txBody>
      </p:sp>
      <p:sp>
        <p:nvSpPr>
          <p:cNvPr id="10" name="Text 8"/>
          <p:cNvSpPr/>
          <p:nvPr/>
        </p:nvSpPr>
        <p:spPr>
          <a:xfrm>
            <a:off x="5513832" y="1051560"/>
            <a:ext cx="3291840" cy="320040"/>
          </a:xfrm>
          <a:prstGeom prst="rect">
            <a:avLst/>
          </a:prstGeom>
          <a:noFill/>
          <a:ln/>
        </p:spPr>
        <p:txBody>
          <a:bodyPr wrap="square" rtlCol="0" anchor="ctr"/>
          <a:lstStyle/>
          <a:p>
            <a:pPr indent="0" marL="0">
              <a:buNone/>
            </a:pPr>
            <a:r>
              <a:rPr lang="en-US" sz="1300" b="1" dirty="0">
                <a:solidFill>
                  <a:srgbClr val="FFFFFF"/>
                </a:solidFill>
              </a:rPr>
              <a:t>Identify Common Threats</a:t>
            </a:r>
            <a:endParaRPr lang="en-US" sz="1300" dirty="0"/>
          </a:p>
        </p:txBody>
      </p:sp>
      <p:sp>
        <p:nvSpPr>
          <p:cNvPr id="11" name="Text 9"/>
          <p:cNvSpPr/>
          <p:nvPr/>
        </p:nvSpPr>
        <p:spPr>
          <a:xfrm>
            <a:off x="5513832" y="1417320"/>
            <a:ext cx="3291840" cy="54864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Identify and categorize the types of cybersecurity threats most commonly encountered by respondents.</a:t>
            </a:r>
            <a:endParaRPr lang="en-US" sz="1150" dirty="0"/>
          </a:p>
        </p:txBody>
      </p:sp>
      <p:sp>
        <p:nvSpPr>
          <p:cNvPr id="12" name="Shape 10"/>
          <p:cNvSpPr/>
          <p:nvPr/>
        </p:nvSpPr>
        <p:spPr>
          <a:xfrm>
            <a:off x="457200" y="2221992"/>
            <a:ext cx="4160520" cy="1097280"/>
          </a:xfrm>
          <a:prstGeom prst="rect">
            <a:avLst/>
          </a:prstGeom>
          <a:solidFill>
            <a:srgbClr val="1B3A5C"/>
          </a:solidFill>
          <a:ln w="12700">
            <a:solidFill>
              <a:srgbClr val="00B4D8"/>
            </a:solidFill>
            <a:prstDash val="solid"/>
          </a:ln>
          <a:effectLst>
            <a:outerShdw sx="100000" sy="100000" kx="0" ky="0" algn="bl" rotWithShape="0" blurRad="101600" dist="38100" dir="8100000">
              <a:srgbClr val="000000">
                <a:alpha val="18000"/>
              </a:srgbClr>
            </a:outerShdw>
          </a:effectLst>
        </p:spPr>
      </p:sp>
      <p:sp>
        <p:nvSpPr>
          <p:cNvPr id="13" name="Text 11"/>
          <p:cNvSpPr/>
          <p:nvPr/>
        </p:nvSpPr>
        <p:spPr>
          <a:xfrm>
            <a:off x="594360" y="2331720"/>
            <a:ext cx="502920" cy="822960"/>
          </a:xfrm>
          <a:prstGeom prst="rect">
            <a:avLst/>
          </a:prstGeom>
          <a:noFill/>
          <a:ln/>
        </p:spPr>
        <p:txBody>
          <a:bodyPr wrap="square" rtlCol="0" anchor="ctr"/>
          <a:lstStyle/>
          <a:p>
            <a:pPr indent="0" marL="0">
              <a:buNone/>
            </a:pPr>
            <a:r>
              <a:rPr lang="en-US" sz="2400" b="1" dirty="0">
                <a:solidFill>
                  <a:srgbClr val="00B4D8"/>
                </a:solidFill>
                <a:latin typeface="Calibri" pitchFamily="34" charset="0"/>
                <a:ea typeface="Calibri" pitchFamily="34" charset="-122"/>
                <a:cs typeface="Calibri" pitchFamily="34" charset="-120"/>
              </a:rPr>
              <a:t>03</a:t>
            </a:r>
            <a:endParaRPr lang="en-US" sz="2400" dirty="0"/>
          </a:p>
        </p:txBody>
      </p:sp>
      <p:sp>
        <p:nvSpPr>
          <p:cNvPr id="14" name="Text 12"/>
          <p:cNvSpPr/>
          <p:nvPr/>
        </p:nvSpPr>
        <p:spPr>
          <a:xfrm>
            <a:off x="1170432" y="2313432"/>
            <a:ext cx="3291840" cy="320040"/>
          </a:xfrm>
          <a:prstGeom prst="rect">
            <a:avLst/>
          </a:prstGeom>
          <a:noFill/>
          <a:ln/>
        </p:spPr>
        <p:txBody>
          <a:bodyPr wrap="square" rtlCol="0" anchor="ctr"/>
          <a:lstStyle/>
          <a:p>
            <a:pPr indent="0" marL="0">
              <a:buNone/>
            </a:pPr>
            <a:r>
              <a:rPr lang="en-US" sz="1300" b="1" dirty="0">
                <a:solidFill>
                  <a:srgbClr val="FFFFFF"/>
                </a:solidFill>
              </a:rPr>
              <a:t>Evaluate Security Habits</a:t>
            </a:r>
            <a:endParaRPr lang="en-US" sz="1300" dirty="0"/>
          </a:p>
        </p:txBody>
      </p:sp>
      <p:sp>
        <p:nvSpPr>
          <p:cNvPr id="15" name="Text 13"/>
          <p:cNvSpPr/>
          <p:nvPr/>
        </p:nvSpPr>
        <p:spPr>
          <a:xfrm>
            <a:off x="1170432" y="2679192"/>
            <a:ext cx="3291840" cy="54864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Evaluate existing security practices including password strength, antivirus usage, and data sharing behavior.</a:t>
            </a:r>
            <a:endParaRPr lang="en-US" sz="1150" dirty="0"/>
          </a:p>
        </p:txBody>
      </p:sp>
      <p:sp>
        <p:nvSpPr>
          <p:cNvPr id="16" name="Shape 14"/>
          <p:cNvSpPr/>
          <p:nvPr/>
        </p:nvSpPr>
        <p:spPr>
          <a:xfrm>
            <a:off x="4800600" y="2221992"/>
            <a:ext cx="4160520" cy="1097280"/>
          </a:xfrm>
          <a:prstGeom prst="rect">
            <a:avLst/>
          </a:prstGeom>
          <a:solidFill>
            <a:srgbClr val="1B3A5C"/>
          </a:solidFill>
          <a:ln w="12700">
            <a:solidFill>
              <a:srgbClr val="00B4D8"/>
            </a:solidFill>
            <a:prstDash val="solid"/>
          </a:ln>
          <a:effectLst>
            <a:outerShdw sx="100000" sy="100000" kx="0" ky="0" algn="bl" rotWithShape="0" blurRad="101600" dist="38100" dir="8100000">
              <a:srgbClr val="000000">
                <a:alpha val="18000"/>
              </a:srgbClr>
            </a:outerShdw>
          </a:effectLst>
        </p:spPr>
      </p:sp>
      <p:sp>
        <p:nvSpPr>
          <p:cNvPr id="17" name="Text 15"/>
          <p:cNvSpPr/>
          <p:nvPr/>
        </p:nvSpPr>
        <p:spPr>
          <a:xfrm>
            <a:off x="4937760" y="2331720"/>
            <a:ext cx="502920" cy="822960"/>
          </a:xfrm>
          <a:prstGeom prst="rect">
            <a:avLst/>
          </a:prstGeom>
          <a:noFill/>
          <a:ln/>
        </p:spPr>
        <p:txBody>
          <a:bodyPr wrap="square" rtlCol="0" anchor="ctr"/>
          <a:lstStyle/>
          <a:p>
            <a:pPr indent="0" marL="0">
              <a:buNone/>
            </a:pPr>
            <a:r>
              <a:rPr lang="en-US" sz="2400" b="1" dirty="0">
                <a:solidFill>
                  <a:srgbClr val="00B4D8"/>
                </a:solidFill>
                <a:latin typeface="Calibri" pitchFamily="34" charset="0"/>
                <a:ea typeface="Calibri" pitchFamily="34" charset="-122"/>
                <a:cs typeface="Calibri" pitchFamily="34" charset="-120"/>
              </a:rPr>
              <a:t>04</a:t>
            </a:r>
            <a:endParaRPr lang="en-US" sz="2400" dirty="0"/>
          </a:p>
        </p:txBody>
      </p:sp>
      <p:sp>
        <p:nvSpPr>
          <p:cNvPr id="18" name="Text 16"/>
          <p:cNvSpPr/>
          <p:nvPr/>
        </p:nvSpPr>
        <p:spPr>
          <a:xfrm>
            <a:off x="5513832" y="2313432"/>
            <a:ext cx="3291840" cy="320040"/>
          </a:xfrm>
          <a:prstGeom prst="rect">
            <a:avLst/>
          </a:prstGeom>
          <a:noFill/>
          <a:ln/>
        </p:spPr>
        <p:txBody>
          <a:bodyPr wrap="square" rtlCol="0" anchor="ctr"/>
          <a:lstStyle/>
          <a:p>
            <a:pPr indent="0" marL="0">
              <a:buNone/>
            </a:pPr>
            <a:r>
              <a:rPr lang="en-US" sz="1300" b="1" dirty="0">
                <a:solidFill>
                  <a:srgbClr val="FFFFFF"/>
                </a:solidFill>
              </a:rPr>
              <a:t>Gauge Training Exposure</a:t>
            </a:r>
            <a:endParaRPr lang="en-US" sz="1300" dirty="0"/>
          </a:p>
        </p:txBody>
      </p:sp>
      <p:sp>
        <p:nvSpPr>
          <p:cNvPr id="19" name="Text 17"/>
          <p:cNvSpPr/>
          <p:nvPr/>
        </p:nvSpPr>
        <p:spPr>
          <a:xfrm>
            <a:off x="5513832" y="2679192"/>
            <a:ext cx="3291840" cy="54864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Determine the extent to which respondents have received formal or informal cybersecurity education.</a:t>
            </a:r>
            <a:endParaRPr lang="en-US" sz="1150" dirty="0"/>
          </a:p>
        </p:txBody>
      </p:sp>
      <p:sp>
        <p:nvSpPr>
          <p:cNvPr id="20" name="Shape 18"/>
          <p:cNvSpPr/>
          <p:nvPr/>
        </p:nvSpPr>
        <p:spPr>
          <a:xfrm>
            <a:off x="457200" y="3657600"/>
            <a:ext cx="8321040" cy="1097280"/>
          </a:xfrm>
          <a:prstGeom prst="rect">
            <a:avLst/>
          </a:prstGeom>
          <a:solidFill>
            <a:srgbClr val="1B3A5C"/>
          </a:solidFill>
          <a:ln w="12700">
            <a:solidFill>
              <a:srgbClr val="00B4D8"/>
            </a:solidFill>
            <a:prstDash val="solid"/>
          </a:ln>
          <a:effectLst>
            <a:outerShdw sx="100000" sy="100000" kx="0" ky="0" algn="bl" rotWithShape="0" blurRad="101600" dist="38100" dir="8100000">
              <a:srgbClr val="000000">
                <a:alpha val="18000"/>
              </a:srgbClr>
            </a:outerShdw>
          </a:effectLst>
        </p:spPr>
      </p:sp>
      <p:sp>
        <p:nvSpPr>
          <p:cNvPr id="21" name="Text 19"/>
          <p:cNvSpPr/>
          <p:nvPr/>
        </p:nvSpPr>
        <p:spPr>
          <a:xfrm>
            <a:off x="594360" y="3767328"/>
            <a:ext cx="502920" cy="822960"/>
          </a:xfrm>
          <a:prstGeom prst="rect">
            <a:avLst/>
          </a:prstGeom>
          <a:noFill/>
          <a:ln/>
        </p:spPr>
        <p:txBody>
          <a:bodyPr wrap="square" rtlCol="0" anchor="ctr"/>
          <a:lstStyle/>
          <a:p>
            <a:pPr indent="0" marL="0">
              <a:buNone/>
            </a:pPr>
            <a:r>
              <a:rPr lang="en-US" sz="2400" b="1" dirty="0">
                <a:solidFill>
                  <a:srgbClr val="00B4D8"/>
                </a:solidFill>
                <a:latin typeface="Calibri" pitchFamily="34" charset="0"/>
                <a:ea typeface="Calibri" pitchFamily="34" charset="-122"/>
                <a:cs typeface="Calibri" pitchFamily="34" charset="-120"/>
              </a:rPr>
              <a:t>05</a:t>
            </a:r>
            <a:endParaRPr lang="en-US" sz="2400" dirty="0"/>
          </a:p>
        </p:txBody>
      </p:sp>
      <p:sp>
        <p:nvSpPr>
          <p:cNvPr id="22" name="Text 20"/>
          <p:cNvSpPr/>
          <p:nvPr/>
        </p:nvSpPr>
        <p:spPr>
          <a:xfrm>
            <a:off x="1170432" y="3749040"/>
            <a:ext cx="7452360" cy="320040"/>
          </a:xfrm>
          <a:prstGeom prst="rect">
            <a:avLst/>
          </a:prstGeom>
          <a:noFill/>
          <a:ln/>
        </p:spPr>
        <p:txBody>
          <a:bodyPr wrap="square" rtlCol="0" anchor="ctr"/>
          <a:lstStyle/>
          <a:p>
            <a:pPr indent="0" marL="0">
              <a:buNone/>
            </a:pPr>
            <a:r>
              <a:rPr lang="en-US" sz="1300" b="1" dirty="0">
                <a:solidFill>
                  <a:srgbClr val="FFFFFF"/>
                </a:solidFill>
              </a:rPr>
              <a:t>Formulate Recommendations</a:t>
            </a:r>
            <a:endParaRPr lang="en-US" sz="1300" dirty="0"/>
          </a:p>
        </p:txBody>
      </p:sp>
      <p:sp>
        <p:nvSpPr>
          <p:cNvPr id="23" name="Text 21"/>
          <p:cNvSpPr/>
          <p:nvPr/>
        </p:nvSpPr>
        <p:spPr>
          <a:xfrm>
            <a:off x="1170432" y="4114800"/>
            <a:ext cx="7452360" cy="54864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Develop practical, community-level recommendations to improve cybersecurity awareness and reduce vulnerability.</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7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Community Profile – Ahmednagar District</a:t>
            </a:r>
            <a:endParaRPr lang="en-US" sz="3000" dirty="0"/>
          </a:p>
        </p:txBody>
      </p:sp>
      <p:sp>
        <p:nvSpPr>
          <p:cNvPr id="3" name="Shape 1"/>
          <p:cNvSpPr/>
          <p:nvPr/>
        </p:nvSpPr>
        <p:spPr>
          <a:xfrm>
            <a:off x="457200" y="749808"/>
            <a:ext cx="8229600" cy="36576"/>
          </a:xfrm>
          <a:prstGeom prst="rect">
            <a:avLst/>
          </a:prstGeom>
          <a:solidFill>
            <a:srgbClr val="CBD5E1"/>
          </a:solidFill>
          <a:ln w="12700">
            <a:solidFill>
              <a:srgbClr val="CBD5E1"/>
            </a:solidFill>
            <a:prstDash val="solid"/>
          </a:ln>
        </p:spPr>
      </p:sp>
      <p:sp>
        <p:nvSpPr>
          <p:cNvPr id="4" name="Shape 2"/>
          <p:cNvSpPr/>
          <p:nvPr/>
        </p:nvSpPr>
        <p:spPr>
          <a:xfrm>
            <a:off x="457200" y="960120"/>
            <a:ext cx="2011680" cy="105156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457200" y="1005840"/>
            <a:ext cx="2011680" cy="502920"/>
          </a:xfrm>
          <a:prstGeom prst="rect">
            <a:avLst/>
          </a:prstGeom>
          <a:noFill/>
          <a:ln/>
        </p:spPr>
        <p:txBody>
          <a:bodyPr wrap="square" rtlCol="0" anchor="ctr"/>
          <a:lstStyle/>
          <a:p>
            <a:pPr algn="ctr" indent="0" marL="0">
              <a:buNone/>
            </a:pPr>
            <a:r>
              <a:rPr lang="en-US" sz="2400" b="1" dirty="0">
                <a:solidFill>
                  <a:srgbClr val="00B4D8"/>
                </a:solidFill>
                <a:latin typeface="Calibri" pitchFamily="34" charset="0"/>
                <a:ea typeface="Calibri" pitchFamily="34" charset="-122"/>
                <a:cs typeface="Calibri" pitchFamily="34" charset="-120"/>
              </a:rPr>
              <a:t>4.54M</a:t>
            </a:r>
            <a:endParaRPr lang="en-US" sz="2400" dirty="0"/>
          </a:p>
        </p:txBody>
      </p:sp>
      <p:sp>
        <p:nvSpPr>
          <p:cNvPr id="6" name="Text 4"/>
          <p:cNvSpPr/>
          <p:nvPr/>
        </p:nvSpPr>
        <p:spPr>
          <a:xfrm>
            <a:off x="457200" y="1508760"/>
            <a:ext cx="2011680" cy="384048"/>
          </a:xfrm>
          <a:prstGeom prst="rect">
            <a:avLst/>
          </a:prstGeom>
          <a:noFill/>
          <a:ln/>
        </p:spPr>
        <p:txBody>
          <a:bodyPr wrap="square" rtlCol="0" anchor="ctr"/>
          <a:lstStyle/>
          <a:p>
            <a:pPr algn="ctr" indent="0" marL="0">
              <a:buNone/>
            </a:pPr>
            <a:r>
              <a:rPr lang="en-US" sz="1000" dirty="0">
                <a:solidFill>
                  <a:srgbClr val="FFFFFF"/>
                </a:solidFill>
              </a:rPr>
              <a:t>Population</a:t>
            </a:r>
            <a:endParaRPr lang="en-US" sz="1000" dirty="0"/>
          </a:p>
        </p:txBody>
      </p:sp>
      <p:sp>
        <p:nvSpPr>
          <p:cNvPr id="7" name="Shape 5"/>
          <p:cNvSpPr/>
          <p:nvPr/>
        </p:nvSpPr>
        <p:spPr>
          <a:xfrm>
            <a:off x="2633472" y="960120"/>
            <a:ext cx="2011680" cy="105156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8" name="Text 6"/>
          <p:cNvSpPr/>
          <p:nvPr/>
        </p:nvSpPr>
        <p:spPr>
          <a:xfrm>
            <a:off x="2633472" y="1005840"/>
            <a:ext cx="2011680" cy="502920"/>
          </a:xfrm>
          <a:prstGeom prst="rect">
            <a:avLst/>
          </a:prstGeom>
          <a:noFill/>
          <a:ln/>
        </p:spPr>
        <p:txBody>
          <a:bodyPr wrap="square" rtlCol="0" anchor="ctr"/>
          <a:lstStyle/>
          <a:p>
            <a:pPr algn="ctr" indent="0" marL="0">
              <a:buNone/>
            </a:pPr>
            <a:r>
              <a:rPr lang="en-US" sz="2400" b="1" dirty="0">
                <a:solidFill>
                  <a:srgbClr val="00B4D8"/>
                </a:solidFill>
                <a:latin typeface="Calibri" pitchFamily="34" charset="0"/>
                <a:ea typeface="Calibri" pitchFamily="34" charset="-122"/>
                <a:cs typeface="Calibri" pitchFamily="34" charset="-120"/>
              </a:rPr>
              <a:t>17,048</a:t>
            </a:r>
            <a:endParaRPr lang="en-US" sz="2400" dirty="0"/>
          </a:p>
        </p:txBody>
      </p:sp>
      <p:sp>
        <p:nvSpPr>
          <p:cNvPr id="9" name="Text 7"/>
          <p:cNvSpPr/>
          <p:nvPr/>
        </p:nvSpPr>
        <p:spPr>
          <a:xfrm>
            <a:off x="2633472" y="1508760"/>
            <a:ext cx="2011680" cy="384048"/>
          </a:xfrm>
          <a:prstGeom prst="rect">
            <a:avLst/>
          </a:prstGeom>
          <a:noFill/>
          <a:ln/>
        </p:spPr>
        <p:txBody>
          <a:bodyPr wrap="square" rtlCol="0" anchor="ctr"/>
          <a:lstStyle/>
          <a:p>
            <a:pPr algn="ctr" indent="0" marL="0">
              <a:buNone/>
            </a:pPr>
            <a:r>
              <a:rPr lang="en-US" sz="1000" dirty="0">
                <a:solidFill>
                  <a:srgbClr val="FFFFFF"/>
                </a:solidFill>
              </a:rPr>
              <a:t>Area (sq km)</a:t>
            </a:r>
            <a:endParaRPr lang="en-US" sz="1000" dirty="0"/>
          </a:p>
        </p:txBody>
      </p:sp>
      <p:sp>
        <p:nvSpPr>
          <p:cNvPr id="10" name="Shape 8"/>
          <p:cNvSpPr/>
          <p:nvPr/>
        </p:nvSpPr>
        <p:spPr>
          <a:xfrm>
            <a:off x="4809744" y="960120"/>
            <a:ext cx="2011680" cy="105156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1" name="Text 9"/>
          <p:cNvSpPr/>
          <p:nvPr/>
        </p:nvSpPr>
        <p:spPr>
          <a:xfrm>
            <a:off x="4809744" y="1005840"/>
            <a:ext cx="2011680" cy="502920"/>
          </a:xfrm>
          <a:prstGeom prst="rect">
            <a:avLst/>
          </a:prstGeom>
          <a:noFill/>
          <a:ln/>
        </p:spPr>
        <p:txBody>
          <a:bodyPr wrap="square" rtlCol="0" anchor="ctr"/>
          <a:lstStyle/>
          <a:p>
            <a:pPr algn="ctr" indent="0" marL="0">
              <a:buNone/>
            </a:pPr>
            <a:r>
              <a:rPr lang="en-US" sz="2400" b="1" dirty="0">
                <a:solidFill>
                  <a:srgbClr val="00B4D8"/>
                </a:solidFill>
                <a:latin typeface="Calibri" pitchFamily="34" charset="0"/>
                <a:ea typeface="Calibri" pitchFamily="34" charset="-122"/>
                <a:cs typeface="Calibri" pitchFamily="34" charset="-120"/>
              </a:rPr>
              <a:t>~80%</a:t>
            </a:r>
            <a:endParaRPr lang="en-US" sz="2400" dirty="0"/>
          </a:p>
        </p:txBody>
      </p:sp>
      <p:sp>
        <p:nvSpPr>
          <p:cNvPr id="12" name="Text 10"/>
          <p:cNvSpPr/>
          <p:nvPr/>
        </p:nvSpPr>
        <p:spPr>
          <a:xfrm>
            <a:off x="4809744" y="1508760"/>
            <a:ext cx="2011680" cy="384048"/>
          </a:xfrm>
          <a:prstGeom prst="rect">
            <a:avLst/>
          </a:prstGeom>
          <a:noFill/>
          <a:ln/>
        </p:spPr>
        <p:txBody>
          <a:bodyPr wrap="square" rtlCol="0" anchor="ctr"/>
          <a:lstStyle/>
          <a:p>
            <a:pPr algn="ctr" indent="0" marL="0">
              <a:buNone/>
            </a:pPr>
            <a:r>
              <a:rPr lang="en-US" sz="1000" dirty="0">
                <a:solidFill>
                  <a:srgbClr val="FFFFFF"/>
                </a:solidFill>
              </a:rPr>
              <a:t>Literacy Rate</a:t>
            </a:r>
            <a:endParaRPr lang="en-US" sz="1000" dirty="0"/>
          </a:p>
        </p:txBody>
      </p:sp>
      <p:sp>
        <p:nvSpPr>
          <p:cNvPr id="13" name="Shape 11"/>
          <p:cNvSpPr/>
          <p:nvPr/>
        </p:nvSpPr>
        <p:spPr>
          <a:xfrm>
            <a:off x="6986016" y="960120"/>
            <a:ext cx="2011680" cy="105156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4" name="Text 12"/>
          <p:cNvSpPr/>
          <p:nvPr/>
        </p:nvSpPr>
        <p:spPr>
          <a:xfrm>
            <a:off x="6986016" y="1005840"/>
            <a:ext cx="2011680" cy="502920"/>
          </a:xfrm>
          <a:prstGeom prst="rect">
            <a:avLst/>
          </a:prstGeom>
          <a:noFill/>
          <a:ln/>
        </p:spPr>
        <p:txBody>
          <a:bodyPr wrap="square" rtlCol="0" anchor="ctr"/>
          <a:lstStyle/>
          <a:p>
            <a:pPr algn="ctr" indent="0" marL="0">
              <a:buNone/>
            </a:pPr>
            <a:r>
              <a:rPr lang="en-US" sz="2400" b="1" dirty="0">
                <a:solidFill>
                  <a:srgbClr val="00B4D8"/>
                </a:solidFill>
                <a:latin typeface="Calibri" pitchFamily="34" charset="0"/>
                <a:ea typeface="Calibri" pitchFamily="34" charset="-122"/>
                <a:cs typeface="Calibri" pitchFamily="34" charset="-120"/>
              </a:rPr>
              <a:t>6th</a:t>
            </a:r>
            <a:endParaRPr lang="en-US" sz="2400" dirty="0"/>
          </a:p>
        </p:txBody>
      </p:sp>
      <p:sp>
        <p:nvSpPr>
          <p:cNvPr id="15" name="Text 13"/>
          <p:cNvSpPr/>
          <p:nvPr/>
        </p:nvSpPr>
        <p:spPr>
          <a:xfrm>
            <a:off x="6986016" y="1508760"/>
            <a:ext cx="2011680" cy="384048"/>
          </a:xfrm>
          <a:prstGeom prst="rect">
            <a:avLst/>
          </a:prstGeom>
          <a:noFill/>
          <a:ln/>
        </p:spPr>
        <p:txBody>
          <a:bodyPr wrap="square" rtlCol="0" anchor="ctr"/>
          <a:lstStyle/>
          <a:p>
            <a:pPr algn="ctr" indent="0" marL="0">
              <a:buNone/>
            </a:pPr>
            <a:r>
              <a:rPr lang="en-US" sz="1000" dirty="0">
                <a:solidFill>
                  <a:srgbClr val="FFFFFF"/>
                </a:solidFill>
              </a:rPr>
              <a:t>Largest District</a:t>
            </a:r>
            <a:endParaRPr lang="en-US" sz="1000" dirty="0"/>
          </a:p>
          <a:p>
            <a:pPr algn="ctr" indent="0" marL="0">
              <a:buNone/>
            </a:pPr>
            <a:r>
              <a:rPr lang="en-US" sz="1000" dirty="0">
                <a:solidFill>
                  <a:srgbClr val="FFFFFF"/>
                </a:solidFill>
              </a:rPr>
              <a:t>in Maharashtra</a:t>
            </a:r>
            <a:endParaRPr lang="en-US" sz="1000" dirty="0"/>
          </a:p>
        </p:txBody>
      </p:sp>
      <p:sp>
        <p:nvSpPr>
          <p:cNvPr id="16" name="Shape 14"/>
          <p:cNvSpPr/>
          <p:nvPr/>
        </p:nvSpPr>
        <p:spPr>
          <a:xfrm>
            <a:off x="457200" y="2240280"/>
            <a:ext cx="4114800" cy="128016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457200" y="2240280"/>
            <a:ext cx="109728" cy="1280160"/>
          </a:xfrm>
          <a:prstGeom prst="rect">
            <a:avLst/>
          </a:prstGeom>
          <a:solidFill>
            <a:srgbClr val="00B4D8"/>
          </a:solidFill>
          <a:ln w="12700">
            <a:solidFill>
              <a:srgbClr val="00B4D8"/>
            </a:solidFill>
            <a:prstDash val="solid"/>
          </a:ln>
        </p:spPr>
      </p:sp>
      <p:sp>
        <p:nvSpPr>
          <p:cNvPr id="18" name="Text 16"/>
          <p:cNvSpPr/>
          <p:nvPr/>
        </p:nvSpPr>
        <p:spPr>
          <a:xfrm>
            <a:off x="685800" y="2331720"/>
            <a:ext cx="3767328" cy="320040"/>
          </a:xfrm>
          <a:prstGeom prst="rect">
            <a:avLst/>
          </a:prstGeom>
          <a:noFill/>
          <a:ln/>
        </p:spPr>
        <p:txBody>
          <a:bodyPr wrap="square" rtlCol="0" anchor="ctr"/>
          <a:lstStyle/>
          <a:p>
            <a:pPr indent="0" marL="0">
              <a:buNone/>
            </a:pPr>
            <a:r>
              <a:rPr lang="en-US" sz="1300" b="1" dirty="0">
                <a:solidFill>
                  <a:srgbClr val="1B3A5C"/>
                </a:solidFill>
              </a:rPr>
              <a:t>Location &amp; Geography</a:t>
            </a:r>
            <a:endParaRPr lang="en-US" sz="1300" dirty="0"/>
          </a:p>
        </p:txBody>
      </p:sp>
      <p:sp>
        <p:nvSpPr>
          <p:cNvPr id="19" name="Text 17"/>
          <p:cNvSpPr/>
          <p:nvPr/>
        </p:nvSpPr>
        <p:spPr>
          <a:xfrm>
            <a:off x="685800" y="2697480"/>
            <a:ext cx="3767328" cy="713232"/>
          </a:xfrm>
          <a:prstGeom prst="rect">
            <a:avLst/>
          </a:prstGeom>
          <a:noFill/>
          <a:ln/>
        </p:spPr>
        <p:txBody>
          <a:bodyPr wrap="square" rtlCol="0" anchor="t"/>
          <a:lstStyle/>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Located in Pune Division, Maharashtra. Bounded by Pune, Nashik, Aurangabad and Solapur districts. Headquarters: Ahmednagar city.</a:t>
            </a:r>
            <a:endParaRPr lang="en-US" sz="1150" dirty="0"/>
          </a:p>
        </p:txBody>
      </p:sp>
      <p:sp>
        <p:nvSpPr>
          <p:cNvPr id="20" name="Shape 18"/>
          <p:cNvSpPr/>
          <p:nvPr/>
        </p:nvSpPr>
        <p:spPr>
          <a:xfrm>
            <a:off x="4846320" y="2240280"/>
            <a:ext cx="4114800" cy="128016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4846320" y="2240280"/>
            <a:ext cx="109728" cy="1280160"/>
          </a:xfrm>
          <a:prstGeom prst="rect">
            <a:avLst/>
          </a:prstGeom>
          <a:solidFill>
            <a:srgbClr val="00B4D8"/>
          </a:solidFill>
          <a:ln w="12700">
            <a:solidFill>
              <a:srgbClr val="00B4D8"/>
            </a:solidFill>
            <a:prstDash val="solid"/>
          </a:ln>
        </p:spPr>
      </p:sp>
      <p:sp>
        <p:nvSpPr>
          <p:cNvPr id="22" name="Text 20"/>
          <p:cNvSpPr/>
          <p:nvPr/>
        </p:nvSpPr>
        <p:spPr>
          <a:xfrm>
            <a:off x="5074920" y="2331720"/>
            <a:ext cx="3767328" cy="320040"/>
          </a:xfrm>
          <a:prstGeom prst="rect">
            <a:avLst/>
          </a:prstGeom>
          <a:noFill/>
          <a:ln/>
        </p:spPr>
        <p:txBody>
          <a:bodyPr wrap="square" rtlCol="0" anchor="ctr"/>
          <a:lstStyle/>
          <a:p>
            <a:pPr indent="0" marL="0">
              <a:buNone/>
            </a:pPr>
            <a:r>
              <a:rPr lang="en-US" sz="1300" b="1" dirty="0">
                <a:solidFill>
                  <a:srgbClr val="1B3A5C"/>
                </a:solidFill>
              </a:rPr>
              <a:t>Demographics</a:t>
            </a:r>
            <a:endParaRPr lang="en-US" sz="1300" dirty="0"/>
          </a:p>
        </p:txBody>
      </p:sp>
      <p:sp>
        <p:nvSpPr>
          <p:cNvPr id="23" name="Text 21"/>
          <p:cNvSpPr/>
          <p:nvPr/>
        </p:nvSpPr>
        <p:spPr>
          <a:xfrm>
            <a:off x="5074920" y="2697480"/>
            <a:ext cx="3767328" cy="713232"/>
          </a:xfrm>
          <a:prstGeom prst="rect">
            <a:avLst/>
          </a:prstGeom>
          <a:noFill/>
          <a:ln/>
        </p:spPr>
        <p:txBody>
          <a:bodyPr wrap="square" rtlCol="0" anchor="t"/>
          <a:lstStyle/>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Diverse population mix — urban commercial centres, agricultural rural areas, and growing semi-urban townships with young educated population.</a:t>
            </a:r>
            <a:endParaRPr lang="en-US" sz="1150" dirty="0"/>
          </a:p>
        </p:txBody>
      </p:sp>
      <p:sp>
        <p:nvSpPr>
          <p:cNvPr id="24" name="Shape 22"/>
          <p:cNvSpPr/>
          <p:nvPr/>
        </p:nvSpPr>
        <p:spPr>
          <a:xfrm>
            <a:off x="457200" y="3657600"/>
            <a:ext cx="4114800" cy="128016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457200" y="3657600"/>
            <a:ext cx="109728" cy="1280160"/>
          </a:xfrm>
          <a:prstGeom prst="rect">
            <a:avLst/>
          </a:prstGeom>
          <a:solidFill>
            <a:srgbClr val="00B4D8"/>
          </a:solidFill>
          <a:ln w="12700">
            <a:solidFill>
              <a:srgbClr val="00B4D8"/>
            </a:solidFill>
            <a:prstDash val="solid"/>
          </a:ln>
        </p:spPr>
      </p:sp>
      <p:sp>
        <p:nvSpPr>
          <p:cNvPr id="26" name="Text 24"/>
          <p:cNvSpPr/>
          <p:nvPr/>
        </p:nvSpPr>
        <p:spPr>
          <a:xfrm>
            <a:off x="685800" y="3749040"/>
            <a:ext cx="3767328" cy="320040"/>
          </a:xfrm>
          <a:prstGeom prst="rect">
            <a:avLst/>
          </a:prstGeom>
          <a:noFill/>
          <a:ln/>
        </p:spPr>
        <p:txBody>
          <a:bodyPr wrap="square" rtlCol="0" anchor="ctr"/>
          <a:lstStyle/>
          <a:p>
            <a:pPr indent="0" marL="0">
              <a:buNone/>
            </a:pPr>
            <a:r>
              <a:rPr lang="en-US" sz="1300" b="1" dirty="0">
                <a:solidFill>
                  <a:srgbClr val="1B3A5C"/>
                </a:solidFill>
              </a:rPr>
              <a:t>Digital Penetration</a:t>
            </a:r>
            <a:endParaRPr lang="en-US" sz="1300" dirty="0"/>
          </a:p>
        </p:txBody>
      </p:sp>
      <p:sp>
        <p:nvSpPr>
          <p:cNvPr id="27" name="Text 25"/>
          <p:cNvSpPr/>
          <p:nvPr/>
        </p:nvSpPr>
        <p:spPr>
          <a:xfrm>
            <a:off x="685800" y="4114800"/>
            <a:ext cx="3767328" cy="713232"/>
          </a:xfrm>
          <a:prstGeom prst="rect">
            <a:avLst/>
          </a:prstGeom>
          <a:noFill/>
          <a:ln/>
        </p:spPr>
        <p:txBody>
          <a:bodyPr wrap="square" rtlCol="0" anchor="t"/>
          <a:lstStyle/>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Post-Jio explosion of affordable smartphones. WhatsApp, Instagram, YouTube widely used. UPI payments increasingly common for daily transactions.</a:t>
            </a:r>
            <a:endParaRPr lang="en-US" sz="1150" dirty="0"/>
          </a:p>
        </p:txBody>
      </p:sp>
      <p:sp>
        <p:nvSpPr>
          <p:cNvPr id="28" name="Shape 26"/>
          <p:cNvSpPr/>
          <p:nvPr/>
        </p:nvSpPr>
        <p:spPr>
          <a:xfrm>
            <a:off x="4846320" y="3657600"/>
            <a:ext cx="4114800" cy="1280160"/>
          </a:xfrm>
          <a:prstGeom prst="rect">
            <a:avLst/>
          </a:prstGeom>
          <a:solidFill>
            <a:srgbClr val="FFFFFF"/>
          </a:solidFill>
          <a:ln w="12700">
            <a:solidFill>
              <a:srgbClr val="FFFFFF"/>
            </a:solidFill>
            <a:prstDash val="solid"/>
          </a:ln>
          <a:effectLst>
            <a:outerShdw sx="100000" sy="100000" kx="0" ky="0" algn="bl" rotWithShape="0" blurRad="101600" dist="38100" dir="8100000">
              <a:srgbClr val="000000">
                <a:alpha val="18000"/>
              </a:srgbClr>
            </a:outerShdw>
          </a:effectLst>
        </p:spPr>
      </p:sp>
      <p:sp>
        <p:nvSpPr>
          <p:cNvPr id="29" name="Shape 27"/>
          <p:cNvSpPr/>
          <p:nvPr/>
        </p:nvSpPr>
        <p:spPr>
          <a:xfrm>
            <a:off x="4846320" y="3657600"/>
            <a:ext cx="109728" cy="1280160"/>
          </a:xfrm>
          <a:prstGeom prst="rect">
            <a:avLst/>
          </a:prstGeom>
          <a:solidFill>
            <a:srgbClr val="00B4D8"/>
          </a:solidFill>
          <a:ln w="12700">
            <a:solidFill>
              <a:srgbClr val="00B4D8"/>
            </a:solidFill>
            <a:prstDash val="solid"/>
          </a:ln>
        </p:spPr>
      </p:sp>
      <p:sp>
        <p:nvSpPr>
          <p:cNvPr id="30" name="Text 28"/>
          <p:cNvSpPr/>
          <p:nvPr/>
        </p:nvSpPr>
        <p:spPr>
          <a:xfrm>
            <a:off x="5074920" y="3749040"/>
            <a:ext cx="3767328" cy="320040"/>
          </a:xfrm>
          <a:prstGeom prst="rect">
            <a:avLst/>
          </a:prstGeom>
          <a:noFill/>
          <a:ln/>
        </p:spPr>
        <p:txBody>
          <a:bodyPr wrap="square" rtlCol="0" anchor="ctr"/>
          <a:lstStyle/>
          <a:p>
            <a:pPr indent="0" marL="0">
              <a:buNone/>
            </a:pPr>
            <a:r>
              <a:rPr lang="en-US" sz="1300" b="1" dirty="0">
                <a:solidFill>
                  <a:srgbClr val="1B3A5C"/>
                </a:solidFill>
              </a:rPr>
              <a:t>Educational Landscape</a:t>
            </a:r>
            <a:endParaRPr lang="en-US" sz="1300" dirty="0"/>
          </a:p>
        </p:txBody>
      </p:sp>
      <p:sp>
        <p:nvSpPr>
          <p:cNvPr id="31" name="Text 29"/>
          <p:cNvSpPr/>
          <p:nvPr/>
        </p:nvSpPr>
        <p:spPr>
          <a:xfrm>
            <a:off x="5074920" y="4114800"/>
            <a:ext cx="3767328" cy="713232"/>
          </a:xfrm>
          <a:prstGeom prst="rect">
            <a:avLst/>
          </a:prstGeom>
          <a:noFill/>
          <a:ln/>
        </p:spPr>
        <p:txBody>
          <a:bodyPr wrap="square" rtlCol="0" anchor="t"/>
          <a:lstStyle/>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Several colleges and schools in the district. CASAS (Center for Advanced Studies in Applied Sciences) actively drives academic innovation at college level.</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Cybersecurity Scenario in India</a:t>
            </a:r>
            <a:endParaRPr lang="en-US" sz="3000" dirty="0"/>
          </a:p>
        </p:txBody>
      </p:sp>
      <p:sp>
        <p:nvSpPr>
          <p:cNvPr id="3" name="Shape 1"/>
          <p:cNvSpPr/>
          <p:nvPr/>
        </p:nvSpPr>
        <p:spPr>
          <a:xfrm>
            <a:off x="457200" y="749808"/>
            <a:ext cx="8229600" cy="36576"/>
          </a:xfrm>
          <a:prstGeom prst="rect">
            <a:avLst/>
          </a:prstGeom>
          <a:solidFill>
            <a:srgbClr val="00B4D8"/>
          </a:solidFill>
          <a:ln w="12700">
            <a:solidFill>
              <a:srgbClr val="00B4D8"/>
            </a:solidFill>
            <a:prstDash val="solid"/>
          </a:ln>
        </p:spPr>
      </p:sp>
      <p:sp>
        <p:nvSpPr>
          <p:cNvPr id="4" name="Shape 2"/>
          <p:cNvSpPr/>
          <p:nvPr/>
        </p:nvSpPr>
        <p:spPr>
          <a:xfrm>
            <a:off x="457200" y="960120"/>
            <a:ext cx="4114800" cy="379476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594360" y="1024128"/>
            <a:ext cx="3840480" cy="347472"/>
          </a:xfrm>
          <a:prstGeom prst="rect">
            <a:avLst/>
          </a:prstGeom>
          <a:noFill/>
          <a:ln/>
        </p:spPr>
        <p:txBody>
          <a:bodyPr wrap="square" rtlCol="0" anchor="ctr"/>
          <a:lstStyle/>
          <a:p>
            <a:pPr indent="0" marL="0">
              <a:buNone/>
            </a:pPr>
            <a:r>
              <a:rPr lang="en-US" sz="1400" b="1" dirty="0">
                <a:solidFill>
                  <a:srgbClr val="00B4D8"/>
                </a:solidFill>
              </a:rPr>
              <a:t>National Cybercrime Statistics</a:t>
            </a:r>
            <a:endParaRPr lang="en-US" sz="1400" dirty="0"/>
          </a:p>
        </p:txBody>
      </p:sp>
      <p:sp>
        <p:nvSpPr>
          <p:cNvPr id="6" name="Shape 4"/>
          <p:cNvSpPr/>
          <p:nvPr/>
        </p:nvSpPr>
        <p:spPr>
          <a:xfrm>
            <a:off x="594360" y="1481328"/>
            <a:ext cx="73152" cy="292608"/>
          </a:xfrm>
          <a:prstGeom prst="rect">
            <a:avLst/>
          </a:prstGeom>
          <a:solidFill>
            <a:srgbClr val="00B4D8"/>
          </a:solidFill>
          <a:ln w="12700">
            <a:solidFill>
              <a:srgbClr val="00B4D8"/>
            </a:solidFill>
            <a:prstDash val="solid"/>
          </a:ln>
        </p:spPr>
      </p:sp>
      <p:sp>
        <p:nvSpPr>
          <p:cNvPr id="7" name="Text 5"/>
          <p:cNvSpPr/>
          <p:nvPr/>
        </p:nvSpPr>
        <p:spPr>
          <a:xfrm>
            <a:off x="777240" y="1463040"/>
            <a:ext cx="3611880" cy="3657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CERT-In reported 1.39 million cyber incidents in 2022</a:t>
            </a:r>
            <a:endParaRPr lang="en-US" sz="1200" dirty="0"/>
          </a:p>
        </p:txBody>
      </p:sp>
      <p:sp>
        <p:nvSpPr>
          <p:cNvPr id="8" name="Shape 6"/>
          <p:cNvSpPr/>
          <p:nvPr/>
        </p:nvSpPr>
        <p:spPr>
          <a:xfrm>
            <a:off x="594360" y="2029968"/>
            <a:ext cx="73152" cy="292608"/>
          </a:xfrm>
          <a:prstGeom prst="rect">
            <a:avLst/>
          </a:prstGeom>
          <a:solidFill>
            <a:srgbClr val="00B4D8"/>
          </a:solidFill>
          <a:ln w="12700">
            <a:solidFill>
              <a:srgbClr val="00B4D8"/>
            </a:solidFill>
            <a:prstDash val="solid"/>
          </a:ln>
        </p:spPr>
      </p:sp>
      <p:sp>
        <p:nvSpPr>
          <p:cNvPr id="9" name="Text 7"/>
          <p:cNvSpPr/>
          <p:nvPr/>
        </p:nvSpPr>
        <p:spPr>
          <a:xfrm>
            <a:off x="777240" y="2011680"/>
            <a:ext cx="3611880" cy="3657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65,000+ cybercrime cases registered (NCRB 2022)</a:t>
            </a:r>
            <a:endParaRPr lang="en-US" sz="1200" dirty="0"/>
          </a:p>
        </p:txBody>
      </p:sp>
      <p:sp>
        <p:nvSpPr>
          <p:cNvPr id="10" name="Shape 8"/>
          <p:cNvSpPr/>
          <p:nvPr/>
        </p:nvSpPr>
        <p:spPr>
          <a:xfrm>
            <a:off x="594360" y="2578608"/>
            <a:ext cx="73152" cy="292608"/>
          </a:xfrm>
          <a:prstGeom prst="rect">
            <a:avLst/>
          </a:prstGeom>
          <a:solidFill>
            <a:srgbClr val="00B4D8"/>
          </a:solidFill>
          <a:ln w="12700">
            <a:solidFill>
              <a:srgbClr val="00B4D8"/>
            </a:solidFill>
            <a:prstDash val="solid"/>
          </a:ln>
        </p:spPr>
      </p:sp>
      <p:sp>
        <p:nvSpPr>
          <p:cNvPr id="11" name="Text 9"/>
          <p:cNvSpPr/>
          <p:nvPr/>
        </p:nvSpPr>
        <p:spPr>
          <a:xfrm>
            <a:off x="777240" y="2560320"/>
            <a:ext cx="3611880" cy="3657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Financial fraud accounts for majority of cases</a:t>
            </a:r>
            <a:endParaRPr lang="en-US" sz="1200" dirty="0"/>
          </a:p>
        </p:txBody>
      </p:sp>
      <p:sp>
        <p:nvSpPr>
          <p:cNvPr id="12" name="Shape 10"/>
          <p:cNvSpPr/>
          <p:nvPr/>
        </p:nvSpPr>
        <p:spPr>
          <a:xfrm>
            <a:off x="594360" y="3127248"/>
            <a:ext cx="73152" cy="292608"/>
          </a:xfrm>
          <a:prstGeom prst="rect">
            <a:avLst/>
          </a:prstGeom>
          <a:solidFill>
            <a:srgbClr val="00B4D8"/>
          </a:solidFill>
          <a:ln w="12700">
            <a:solidFill>
              <a:srgbClr val="00B4D8"/>
            </a:solidFill>
            <a:prstDash val="solid"/>
          </a:ln>
        </p:spPr>
      </p:sp>
      <p:sp>
        <p:nvSpPr>
          <p:cNvPr id="13" name="Text 11"/>
          <p:cNvSpPr/>
          <p:nvPr/>
        </p:nvSpPr>
        <p:spPr>
          <a:xfrm>
            <a:off x="777240" y="3108960"/>
            <a:ext cx="3611880" cy="3657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Phishing is the #1 mode of attack</a:t>
            </a:r>
            <a:endParaRPr lang="en-US" sz="1200" dirty="0"/>
          </a:p>
        </p:txBody>
      </p:sp>
      <p:sp>
        <p:nvSpPr>
          <p:cNvPr id="14" name="Shape 12"/>
          <p:cNvSpPr/>
          <p:nvPr/>
        </p:nvSpPr>
        <p:spPr>
          <a:xfrm>
            <a:off x="594360" y="3675888"/>
            <a:ext cx="73152" cy="292608"/>
          </a:xfrm>
          <a:prstGeom prst="rect">
            <a:avLst/>
          </a:prstGeom>
          <a:solidFill>
            <a:srgbClr val="00B4D8"/>
          </a:solidFill>
          <a:ln w="12700">
            <a:solidFill>
              <a:srgbClr val="00B4D8"/>
            </a:solidFill>
            <a:prstDash val="solid"/>
          </a:ln>
        </p:spPr>
      </p:sp>
      <p:sp>
        <p:nvSpPr>
          <p:cNvPr id="15" name="Text 13"/>
          <p:cNvSpPr/>
          <p:nvPr/>
        </p:nvSpPr>
        <p:spPr>
          <a:xfrm>
            <a:off x="777240" y="3657600"/>
            <a:ext cx="3611880" cy="3657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Maharashtra is among top 3 states in cybercrime</a:t>
            </a:r>
            <a:endParaRPr lang="en-US" sz="1200" dirty="0"/>
          </a:p>
        </p:txBody>
      </p:sp>
      <p:sp>
        <p:nvSpPr>
          <p:cNvPr id="16" name="Shape 14"/>
          <p:cNvSpPr/>
          <p:nvPr/>
        </p:nvSpPr>
        <p:spPr>
          <a:xfrm>
            <a:off x="4754880" y="960120"/>
            <a:ext cx="4114800" cy="379476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7" name="Text 15"/>
          <p:cNvSpPr/>
          <p:nvPr/>
        </p:nvSpPr>
        <p:spPr>
          <a:xfrm>
            <a:off x="4892040" y="1024128"/>
            <a:ext cx="3840480" cy="347472"/>
          </a:xfrm>
          <a:prstGeom prst="rect">
            <a:avLst/>
          </a:prstGeom>
          <a:noFill/>
          <a:ln/>
        </p:spPr>
        <p:txBody>
          <a:bodyPr wrap="square" rtlCol="0" anchor="ctr"/>
          <a:lstStyle/>
          <a:p>
            <a:pPr indent="0" marL="0">
              <a:buNone/>
            </a:pPr>
            <a:r>
              <a:rPr lang="en-US" sz="1400" b="1" dirty="0">
                <a:solidFill>
                  <a:srgbClr val="00B4D8"/>
                </a:solidFill>
              </a:rPr>
              <a:t>Types of Cyber Threats in India</a:t>
            </a:r>
            <a:endParaRPr lang="en-US" sz="1400" dirty="0"/>
          </a:p>
        </p:txBody>
      </p:sp>
      <p:graphicFrame>
        <p:nvGraphicFramePr>
          <p:cNvPr id="18" name="Chart 0" descr=""/>
          <p:cNvGraphicFramePr/>
          <p:nvPr/>
        </p:nvGraphicFramePr>
        <p:xfrm>
          <a:off x="4754880" y="1417320"/>
          <a:ext cx="4114800" cy="32918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7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Current Challenges in the Community</a:t>
            </a:r>
            <a:endParaRPr lang="en-US" sz="3000" dirty="0"/>
          </a:p>
        </p:txBody>
      </p:sp>
      <p:sp>
        <p:nvSpPr>
          <p:cNvPr id="3" name="Shape 1"/>
          <p:cNvSpPr/>
          <p:nvPr/>
        </p:nvSpPr>
        <p:spPr>
          <a:xfrm>
            <a:off x="457200" y="749808"/>
            <a:ext cx="8229600" cy="36576"/>
          </a:xfrm>
          <a:prstGeom prst="rect">
            <a:avLst/>
          </a:prstGeom>
          <a:solidFill>
            <a:srgbClr val="CBD5E1"/>
          </a:solidFill>
          <a:ln w="12700">
            <a:solidFill>
              <a:srgbClr val="CBD5E1"/>
            </a:solidFill>
            <a:prstDash val="solid"/>
          </a:ln>
        </p:spPr>
      </p:sp>
      <p:sp>
        <p:nvSpPr>
          <p:cNvPr id="4" name="Shape 2"/>
          <p:cNvSpPr/>
          <p:nvPr/>
        </p:nvSpPr>
        <p:spPr>
          <a:xfrm>
            <a:off x="457200" y="960120"/>
            <a:ext cx="4114800" cy="1261872"/>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457200" y="960120"/>
            <a:ext cx="109728" cy="1261872"/>
          </a:xfrm>
          <a:prstGeom prst="rect">
            <a:avLst/>
          </a:prstGeom>
          <a:solidFill>
            <a:srgbClr val="EF4444"/>
          </a:solidFill>
          <a:ln w="12700">
            <a:solidFill>
              <a:srgbClr val="EF4444"/>
            </a:solidFill>
            <a:prstDash val="solid"/>
          </a:ln>
        </p:spPr>
      </p:sp>
      <p:sp>
        <p:nvSpPr>
          <p:cNvPr id="6" name="Text 4"/>
          <p:cNvSpPr/>
          <p:nvPr/>
        </p:nvSpPr>
        <p:spPr>
          <a:xfrm>
            <a:off x="658368" y="1033272"/>
            <a:ext cx="384048" cy="347472"/>
          </a:xfrm>
          <a:prstGeom prst="rect">
            <a:avLst/>
          </a:prstGeom>
          <a:noFill/>
          <a:ln/>
        </p:spPr>
        <p:txBody>
          <a:bodyPr wrap="square" rtlCol="0" anchor="ctr"/>
          <a:lstStyle/>
          <a:p>
            <a:pPr indent="0" marL="0">
              <a:buNone/>
            </a:pPr>
            <a:r>
              <a:rPr lang="en-US" sz="1800" b="1" dirty="0">
                <a:solidFill>
                  <a:srgbClr val="EF4444"/>
                </a:solidFill>
                <a:latin typeface="Calibri" pitchFamily="34" charset="0"/>
                <a:ea typeface="Calibri" pitchFamily="34" charset="-122"/>
                <a:cs typeface="Calibri" pitchFamily="34" charset="-120"/>
              </a:rPr>
              <a:t>01</a:t>
            </a:r>
            <a:endParaRPr lang="en-US" sz="1800" dirty="0"/>
          </a:p>
        </p:txBody>
      </p:sp>
      <p:sp>
        <p:nvSpPr>
          <p:cNvPr id="7" name="Text 5"/>
          <p:cNvSpPr/>
          <p:nvPr/>
        </p:nvSpPr>
        <p:spPr>
          <a:xfrm>
            <a:off x="1078992" y="1051560"/>
            <a:ext cx="3364992" cy="320040"/>
          </a:xfrm>
          <a:prstGeom prst="rect">
            <a:avLst/>
          </a:prstGeom>
          <a:noFill/>
          <a:ln/>
        </p:spPr>
        <p:txBody>
          <a:bodyPr wrap="square" rtlCol="0" anchor="ctr"/>
          <a:lstStyle/>
          <a:p>
            <a:pPr indent="0" marL="0">
              <a:buNone/>
            </a:pPr>
            <a:r>
              <a:rPr lang="en-US" sz="1300" b="1" dirty="0">
                <a:solidFill>
                  <a:srgbClr val="1B3A5C"/>
                </a:solidFill>
              </a:rPr>
              <a:t>Weak Password Culture</a:t>
            </a:r>
            <a:endParaRPr lang="en-US" sz="1300" dirty="0"/>
          </a:p>
        </p:txBody>
      </p:sp>
      <p:sp>
        <p:nvSpPr>
          <p:cNvPr id="8" name="Text 6"/>
          <p:cNvSpPr/>
          <p:nvPr/>
        </p:nvSpPr>
        <p:spPr>
          <a:xfrm>
            <a:off x="658368" y="1490472"/>
            <a:ext cx="3794760" cy="621792"/>
          </a:xfrm>
          <a:prstGeom prst="rect">
            <a:avLst/>
          </a:prstGeom>
          <a:noFill/>
          <a:ln/>
        </p:spPr>
        <p:txBody>
          <a:bodyPr wrap="square" rtlCol="0" anchor="t"/>
          <a:lstStyle/>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Majority of users employ simple, easily guessable passwords or reuse the same password across multiple platforms.</a:t>
            </a:r>
            <a:endParaRPr lang="en-US" sz="1150" dirty="0"/>
          </a:p>
        </p:txBody>
      </p:sp>
      <p:sp>
        <p:nvSpPr>
          <p:cNvPr id="9" name="Shape 7"/>
          <p:cNvSpPr/>
          <p:nvPr/>
        </p:nvSpPr>
        <p:spPr>
          <a:xfrm>
            <a:off x="4846320" y="960120"/>
            <a:ext cx="4114800" cy="1261872"/>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4846320" y="960120"/>
            <a:ext cx="109728" cy="1261872"/>
          </a:xfrm>
          <a:prstGeom prst="rect">
            <a:avLst/>
          </a:prstGeom>
          <a:solidFill>
            <a:srgbClr val="EF4444"/>
          </a:solidFill>
          <a:ln w="12700">
            <a:solidFill>
              <a:srgbClr val="EF4444"/>
            </a:solidFill>
            <a:prstDash val="solid"/>
          </a:ln>
        </p:spPr>
      </p:sp>
      <p:sp>
        <p:nvSpPr>
          <p:cNvPr id="11" name="Text 9"/>
          <p:cNvSpPr/>
          <p:nvPr/>
        </p:nvSpPr>
        <p:spPr>
          <a:xfrm>
            <a:off x="5047488" y="1033272"/>
            <a:ext cx="384048" cy="347472"/>
          </a:xfrm>
          <a:prstGeom prst="rect">
            <a:avLst/>
          </a:prstGeom>
          <a:noFill/>
          <a:ln/>
        </p:spPr>
        <p:txBody>
          <a:bodyPr wrap="square" rtlCol="0" anchor="ctr"/>
          <a:lstStyle/>
          <a:p>
            <a:pPr indent="0" marL="0">
              <a:buNone/>
            </a:pPr>
            <a:r>
              <a:rPr lang="en-US" sz="1800" b="1" dirty="0">
                <a:solidFill>
                  <a:srgbClr val="EF4444"/>
                </a:solidFill>
                <a:latin typeface="Calibri" pitchFamily="34" charset="0"/>
                <a:ea typeface="Calibri" pitchFamily="34" charset="-122"/>
                <a:cs typeface="Calibri" pitchFamily="34" charset="-120"/>
              </a:rPr>
              <a:t>02</a:t>
            </a:r>
            <a:endParaRPr lang="en-US" sz="1800" dirty="0"/>
          </a:p>
        </p:txBody>
      </p:sp>
      <p:sp>
        <p:nvSpPr>
          <p:cNvPr id="12" name="Text 10"/>
          <p:cNvSpPr/>
          <p:nvPr/>
        </p:nvSpPr>
        <p:spPr>
          <a:xfrm>
            <a:off x="5468112" y="1051560"/>
            <a:ext cx="3364992" cy="320040"/>
          </a:xfrm>
          <a:prstGeom prst="rect">
            <a:avLst/>
          </a:prstGeom>
          <a:noFill/>
          <a:ln/>
        </p:spPr>
        <p:txBody>
          <a:bodyPr wrap="square" rtlCol="0" anchor="ctr"/>
          <a:lstStyle/>
          <a:p>
            <a:pPr indent="0" marL="0">
              <a:buNone/>
            </a:pPr>
            <a:r>
              <a:rPr lang="en-US" sz="1300" b="1" dirty="0">
                <a:solidFill>
                  <a:srgbClr val="1B3A5C"/>
                </a:solidFill>
              </a:rPr>
              <a:t>No Antivirus on Phones</a:t>
            </a:r>
            <a:endParaRPr lang="en-US" sz="1300" dirty="0"/>
          </a:p>
        </p:txBody>
      </p:sp>
      <p:sp>
        <p:nvSpPr>
          <p:cNvPr id="13" name="Text 11"/>
          <p:cNvSpPr/>
          <p:nvPr/>
        </p:nvSpPr>
        <p:spPr>
          <a:xfrm>
            <a:off x="5047488" y="1490472"/>
            <a:ext cx="3794760" cy="621792"/>
          </a:xfrm>
          <a:prstGeom prst="rect">
            <a:avLst/>
          </a:prstGeom>
          <a:noFill/>
          <a:ln/>
        </p:spPr>
        <p:txBody>
          <a:bodyPr wrap="square" rtlCol="0" anchor="t"/>
          <a:lstStyle/>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Smartphones are the primary internet device but most users have no security software installed on them.</a:t>
            </a:r>
            <a:endParaRPr lang="en-US" sz="1150" dirty="0"/>
          </a:p>
        </p:txBody>
      </p:sp>
      <p:sp>
        <p:nvSpPr>
          <p:cNvPr id="14" name="Shape 12"/>
          <p:cNvSpPr/>
          <p:nvPr/>
        </p:nvSpPr>
        <p:spPr>
          <a:xfrm>
            <a:off x="457200" y="2350008"/>
            <a:ext cx="4114800" cy="1261872"/>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457200" y="2350008"/>
            <a:ext cx="109728" cy="1261872"/>
          </a:xfrm>
          <a:prstGeom prst="rect">
            <a:avLst/>
          </a:prstGeom>
          <a:solidFill>
            <a:srgbClr val="EF4444"/>
          </a:solidFill>
          <a:ln w="12700">
            <a:solidFill>
              <a:srgbClr val="EF4444"/>
            </a:solidFill>
            <a:prstDash val="solid"/>
          </a:ln>
        </p:spPr>
      </p:sp>
      <p:sp>
        <p:nvSpPr>
          <p:cNvPr id="16" name="Text 14"/>
          <p:cNvSpPr/>
          <p:nvPr/>
        </p:nvSpPr>
        <p:spPr>
          <a:xfrm>
            <a:off x="658368" y="2423160"/>
            <a:ext cx="384048" cy="347472"/>
          </a:xfrm>
          <a:prstGeom prst="rect">
            <a:avLst/>
          </a:prstGeom>
          <a:noFill/>
          <a:ln/>
        </p:spPr>
        <p:txBody>
          <a:bodyPr wrap="square" rtlCol="0" anchor="ctr"/>
          <a:lstStyle/>
          <a:p>
            <a:pPr indent="0" marL="0">
              <a:buNone/>
            </a:pPr>
            <a:r>
              <a:rPr lang="en-US" sz="1800" b="1" dirty="0">
                <a:solidFill>
                  <a:srgbClr val="EF4444"/>
                </a:solidFill>
                <a:latin typeface="Calibri" pitchFamily="34" charset="0"/>
                <a:ea typeface="Calibri" pitchFamily="34" charset="-122"/>
                <a:cs typeface="Calibri" pitchFamily="34" charset="-120"/>
              </a:rPr>
              <a:t>03</a:t>
            </a:r>
            <a:endParaRPr lang="en-US" sz="1800" dirty="0"/>
          </a:p>
        </p:txBody>
      </p:sp>
      <p:sp>
        <p:nvSpPr>
          <p:cNvPr id="17" name="Text 15"/>
          <p:cNvSpPr/>
          <p:nvPr/>
        </p:nvSpPr>
        <p:spPr>
          <a:xfrm>
            <a:off x="1078992" y="2441448"/>
            <a:ext cx="3364992" cy="320040"/>
          </a:xfrm>
          <a:prstGeom prst="rect">
            <a:avLst/>
          </a:prstGeom>
          <a:noFill/>
          <a:ln/>
        </p:spPr>
        <p:txBody>
          <a:bodyPr wrap="square" rtlCol="0" anchor="ctr"/>
          <a:lstStyle/>
          <a:p>
            <a:pPr indent="0" marL="0">
              <a:buNone/>
            </a:pPr>
            <a:r>
              <a:rPr lang="en-US" sz="1300" b="1" dirty="0">
                <a:solidFill>
                  <a:srgbClr val="1B3A5C"/>
                </a:solidFill>
              </a:rPr>
              <a:t>Phishing Unawareness</a:t>
            </a:r>
            <a:endParaRPr lang="en-US" sz="1300" dirty="0"/>
          </a:p>
        </p:txBody>
      </p:sp>
      <p:sp>
        <p:nvSpPr>
          <p:cNvPr id="18" name="Text 16"/>
          <p:cNvSpPr/>
          <p:nvPr/>
        </p:nvSpPr>
        <p:spPr>
          <a:xfrm>
            <a:off x="658368" y="2880360"/>
            <a:ext cx="3794760" cy="621792"/>
          </a:xfrm>
          <a:prstGeom prst="rect">
            <a:avLst/>
          </a:prstGeom>
          <a:noFill/>
          <a:ln/>
        </p:spPr>
        <p:txBody>
          <a:bodyPr wrap="square" rtlCol="0" anchor="t"/>
          <a:lstStyle/>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Most users cannot reliably identify phishing emails, fake websites, or fraudulent phone calls asking for OTPs.</a:t>
            </a:r>
            <a:endParaRPr lang="en-US" sz="1150" dirty="0"/>
          </a:p>
        </p:txBody>
      </p:sp>
      <p:sp>
        <p:nvSpPr>
          <p:cNvPr id="19" name="Shape 17"/>
          <p:cNvSpPr/>
          <p:nvPr/>
        </p:nvSpPr>
        <p:spPr>
          <a:xfrm>
            <a:off x="4846320" y="2350008"/>
            <a:ext cx="4114800" cy="1261872"/>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4846320" y="2350008"/>
            <a:ext cx="109728" cy="1261872"/>
          </a:xfrm>
          <a:prstGeom prst="rect">
            <a:avLst/>
          </a:prstGeom>
          <a:solidFill>
            <a:srgbClr val="EF4444"/>
          </a:solidFill>
          <a:ln w="12700">
            <a:solidFill>
              <a:srgbClr val="EF4444"/>
            </a:solidFill>
            <a:prstDash val="solid"/>
          </a:ln>
        </p:spPr>
      </p:sp>
      <p:sp>
        <p:nvSpPr>
          <p:cNvPr id="21" name="Text 19"/>
          <p:cNvSpPr/>
          <p:nvPr/>
        </p:nvSpPr>
        <p:spPr>
          <a:xfrm>
            <a:off x="5047488" y="2423160"/>
            <a:ext cx="384048" cy="347472"/>
          </a:xfrm>
          <a:prstGeom prst="rect">
            <a:avLst/>
          </a:prstGeom>
          <a:noFill/>
          <a:ln/>
        </p:spPr>
        <p:txBody>
          <a:bodyPr wrap="square" rtlCol="0" anchor="ctr"/>
          <a:lstStyle/>
          <a:p>
            <a:pPr indent="0" marL="0">
              <a:buNone/>
            </a:pPr>
            <a:r>
              <a:rPr lang="en-US" sz="1800" b="1" dirty="0">
                <a:solidFill>
                  <a:srgbClr val="EF4444"/>
                </a:solidFill>
                <a:latin typeface="Calibri" pitchFamily="34" charset="0"/>
                <a:ea typeface="Calibri" pitchFamily="34" charset="-122"/>
                <a:cs typeface="Calibri" pitchFamily="34" charset="-120"/>
              </a:rPr>
              <a:t>04</a:t>
            </a:r>
            <a:endParaRPr lang="en-US" sz="1800" dirty="0"/>
          </a:p>
        </p:txBody>
      </p:sp>
      <p:sp>
        <p:nvSpPr>
          <p:cNvPr id="22" name="Text 20"/>
          <p:cNvSpPr/>
          <p:nvPr/>
        </p:nvSpPr>
        <p:spPr>
          <a:xfrm>
            <a:off x="5468112" y="2441448"/>
            <a:ext cx="3364992" cy="320040"/>
          </a:xfrm>
          <a:prstGeom prst="rect">
            <a:avLst/>
          </a:prstGeom>
          <a:noFill/>
          <a:ln/>
        </p:spPr>
        <p:txBody>
          <a:bodyPr wrap="square" rtlCol="0" anchor="ctr"/>
          <a:lstStyle/>
          <a:p>
            <a:pPr indent="0" marL="0">
              <a:buNone/>
            </a:pPr>
            <a:r>
              <a:rPr lang="en-US" sz="1300" b="1" dirty="0">
                <a:solidFill>
                  <a:srgbClr val="1B3A5C"/>
                </a:solidFill>
              </a:rPr>
              <a:t>Oversharing on Social Media</a:t>
            </a:r>
            <a:endParaRPr lang="en-US" sz="1300" dirty="0"/>
          </a:p>
        </p:txBody>
      </p:sp>
      <p:sp>
        <p:nvSpPr>
          <p:cNvPr id="23" name="Text 21"/>
          <p:cNvSpPr/>
          <p:nvPr/>
        </p:nvSpPr>
        <p:spPr>
          <a:xfrm>
            <a:off x="5047488" y="2880360"/>
            <a:ext cx="3794760" cy="621792"/>
          </a:xfrm>
          <a:prstGeom prst="rect">
            <a:avLst/>
          </a:prstGeom>
          <a:noFill/>
          <a:ln/>
        </p:spPr>
        <p:txBody>
          <a:bodyPr wrap="square" rtlCol="0" anchor="t"/>
          <a:lstStyle/>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Personal data — phone numbers, addresses, financial details — shared freely on Instagram, WhatsApp, and Facebook.</a:t>
            </a:r>
            <a:endParaRPr lang="en-US" sz="1150" dirty="0"/>
          </a:p>
        </p:txBody>
      </p:sp>
      <p:sp>
        <p:nvSpPr>
          <p:cNvPr id="24" name="Shape 22"/>
          <p:cNvSpPr/>
          <p:nvPr/>
        </p:nvSpPr>
        <p:spPr>
          <a:xfrm>
            <a:off x="457200" y="3739896"/>
            <a:ext cx="4114800" cy="1261872"/>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457200" y="3739896"/>
            <a:ext cx="109728" cy="1261872"/>
          </a:xfrm>
          <a:prstGeom prst="rect">
            <a:avLst/>
          </a:prstGeom>
          <a:solidFill>
            <a:srgbClr val="EF4444"/>
          </a:solidFill>
          <a:ln w="12700">
            <a:solidFill>
              <a:srgbClr val="EF4444"/>
            </a:solidFill>
            <a:prstDash val="solid"/>
          </a:ln>
        </p:spPr>
      </p:sp>
      <p:sp>
        <p:nvSpPr>
          <p:cNvPr id="26" name="Text 24"/>
          <p:cNvSpPr/>
          <p:nvPr/>
        </p:nvSpPr>
        <p:spPr>
          <a:xfrm>
            <a:off x="658368" y="3813048"/>
            <a:ext cx="384048" cy="347472"/>
          </a:xfrm>
          <a:prstGeom prst="rect">
            <a:avLst/>
          </a:prstGeom>
          <a:noFill/>
          <a:ln/>
        </p:spPr>
        <p:txBody>
          <a:bodyPr wrap="square" rtlCol="0" anchor="ctr"/>
          <a:lstStyle/>
          <a:p>
            <a:pPr indent="0" marL="0">
              <a:buNone/>
            </a:pPr>
            <a:r>
              <a:rPr lang="en-US" sz="1800" b="1" dirty="0">
                <a:solidFill>
                  <a:srgbClr val="EF4444"/>
                </a:solidFill>
                <a:latin typeface="Calibri" pitchFamily="34" charset="0"/>
                <a:ea typeface="Calibri" pitchFamily="34" charset="-122"/>
                <a:cs typeface="Calibri" pitchFamily="34" charset="-120"/>
              </a:rPr>
              <a:t>05</a:t>
            </a:r>
            <a:endParaRPr lang="en-US" sz="1800" dirty="0"/>
          </a:p>
        </p:txBody>
      </p:sp>
      <p:sp>
        <p:nvSpPr>
          <p:cNvPr id="27" name="Text 25"/>
          <p:cNvSpPr/>
          <p:nvPr/>
        </p:nvSpPr>
        <p:spPr>
          <a:xfrm>
            <a:off x="1078992" y="3831336"/>
            <a:ext cx="3364992" cy="320040"/>
          </a:xfrm>
          <a:prstGeom prst="rect">
            <a:avLst/>
          </a:prstGeom>
          <a:noFill/>
          <a:ln/>
        </p:spPr>
        <p:txBody>
          <a:bodyPr wrap="square" rtlCol="0" anchor="ctr"/>
          <a:lstStyle/>
          <a:p>
            <a:pPr indent="0" marL="0">
              <a:buNone/>
            </a:pPr>
            <a:r>
              <a:rPr lang="en-US" sz="1300" b="1" dirty="0">
                <a:solidFill>
                  <a:srgbClr val="1B3A5C"/>
                </a:solidFill>
              </a:rPr>
              <a:t>Zero Formal Training</a:t>
            </a:r>
            <a:endParaRPr lang="en-US" sz="1300" dirty="0"/>
          </a:p>
        </p:txBody>
      </p:sp>
      <p:sp>
        <p:nvSpPr>
          <p:cNvPr id="28" name="Text 26"/>
          <p:cNvSpPr/>
          <p:nvPr/>
        </p:nvSpPr>
        <p:spPr>
          <a:xfrm>
            <a:off x="658368" y="4270248"/>
            <a:ext cx="3794760" cy="621792"/>
          </a:xfrm>
          <a:prstGeom prst="rect">
            <a:avLst/>
          </a:prstGeom>
          <a:noFill/>
          <a:ln/>
        </p:spPr>
        <p:txBody>
          <a:bodyPr wrap="square" rtlCol="0" anchor="t"/>
          <a:lstStyle/>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No dedicated cybersecurity education in school/college curricula in the region. Knowledge is purely incidental.</a:t>
            </a:r>
            <a:endParaRPr lang="en-US" sz="1150" dirty="0"/>
          </a:p>
        </p:txBody>
      </p:sp>
      <p:sp>
        <p:nvSpPr>
          <p:cNvPr id="29" name="Shape 27"/>
          <p:cNvSpPr/>
          <p:nvPr/>
        </p:nvSpPr>
        <p:spPr>
          <a:xfrm>
            <a:off x="4846320" y="3739896"/>
            <a:ext cx="4114800" cy="1261872"/>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30" name="Shape 28"/>
          <p:cNvSpPr/>
          <p:nvPr/>
        </p:nvSpPr>
        <p:spPr>
          <a:xfrm>
            <a:off x="4846320" y="3739896"/>
            <a:ext cx="109728" cy="1261872"/>
          </a:xfrm>
          <a:prstGeom prst="rect">
            <a:avLst/>
          </a:prstGeom>
          <a:solidFill>
            <a:srgbClr val="EF4444"/>
          </a:solidFill>
          <a:ln w="12700">
            <a:solidFill>
              <a:srgbClr val="EF4444"/>
            </a:solidFill>
            <a:prstDash val="solid"/>
          </a:ln>
        </p:spPr>
      </p:sp>
      <p:sp>
        <p:nvSpPr>
          <p:cNvPr id="31" name="Text 29"/>
          <p:cNvSpPr/>
          <p:nvPr/>
        </p:nvSpPr>
        <p:spPr>
          <a:xfrm>
            <a:off x="5047488" y="3813048"/>
            <a:ext cx="384048" cy="347472"/>
          </a:xfrm>
          <a:prstGeom prst="rect">
            <a:avLst/>
          </a:prstGeom>
          <a:noFill/>
          <a:ln/>
        </p:spPr>
        <p:txBody>
          <a:bodyPr wrap="square" rtlCol="0" anchor="ctr"/>
          <a:lstStyle/>
          <a:p>
            <a:pPr indent="0" marL="0">
              <a:buNone/>
            </a:pPr>
            <a:r>
              <a:rPr lang="en-US" sz="1800" b="1" dirty="0">
                <a:solidFill>
                  <a:srgbClr val="EF4444"/>
                </a:solidFill>
                <a:latin typeface="Calibri" pitchFamily="34" charset="0"/>
                <a:ea typeface="Calibri" pitchFamily="34" charset="-122"/>
                <a:cs typeface="Calibri" pitchFamily="34" charset="-120"/>
              </a:rPr>
              <a:t>06</a:t>
            </a:r>
            <a:endParaRPr lang="en-US" sz="1800" dirty="0"/>
          </a:p>
        </p:txBody>
      </p:sp>
      <p:sp>
        <p:nvSpPr>
          <p:cNvPr id="32" name="Text 30"/>
          <p:cNvSpPr/>
          <p:nvPr/>
        </p:nvSpPr>
        <p:spPr>
          <a:xfrm>
            <a:off x="5468112" y="3831336"/>
            <a:ext cx="3364992" cy="320040"/>
          </a:xfrm>
          <a:prstGeom prst="rect">
            <a:avLst/>
          </a:prstGeom>
          <a:noFill/>
          <a:ln/>
        </p:spPr>
        <p:txBody>
          <a:bodyPr wrap="square" rtlCol="0" anchor="ctr"/>
          <a:lstStyle/>
          <a:p>
            <a:pPr indent="0" marL="0">
              <a:buNone/>
            </a:pPr>
            <a:r>
              <a:rPr lang="en-US" sz="1300" b="1" dirty="0">
                <a:solidFill>
                  <a:srgbClr val="1B3A5C"/>
                </a:solidFill>
              </a:rPr>
              <a:t>Low Crime Reporting</a:t>
            </a:r>
            <a:endParaRPr lang="en-US" sz="1300" dirty="0"/>
          </a:p>
        </p:txBody>
      </p:sp>
      <p:sp>
        <p:nvSpPr>
          <p:cNvPr id="33" name="Text 31"/>
          <p:cNvSpPr/>
          <p:nvPr/>
        </p:nvSpPr>
        <p:spPr>
          <a:xfrm>
            <a:off x="5047488" y="4270248"/>
            <a:ext cx="3794760" cy="621792"/>
          </a:xfrm>
          <a:prstGeom prst="rect">
            <a:avLst/>
          </a:prstGeom>
          <a:noFill/>
          <a:ln/>
        </p:spPr>
        <p:txBody>
          <a:bodyPr wrap="square" rtlCol="0" anchor="t"/>
          <a:lstStyle/>
          <a:p>
            <a:pPr indent="0" marL="0">
              <a:lnSpc>
                <a:spcPct val="140000"/>
              </a:lnSpc>
              <a:buNone/>
            </a:pPr>
            <a:r>
              <a:rPr lang="en-US" sz="1150" dirty="0">
                <a:solidFill>
                  <a:srgbClr val="1E293B"/>
                </a:solidFill>
                <a:latin typeface="Calibri" pitchFamily="34" charset="0"/>
                <a:ea typeface="Calibri" pitchFamily="34" charset="-122"/>
                <a:cs typeface="Calibri" pitchFamily="34" charset="-120"/>
              </a:rPr>
              <a:t>Victims rarely report cybercrime due to lack of awareness about portals like cybercrime.gov.in or the 1930 helpline.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Research Methodology – Overview</a:t>
            </a:r>
            <a:endParaRPr lang="en-US" sz="3000" dirty="0"/>
          </a:p>
        </p:txBody>
      </p:sp>
      <p:sp>
        <p:nvSpPr>
          <p:cNvPr id="3" name="Shape 1"/>
          <p:cNvSpPr/>
          <p:nvPr/>
        </p:nvSpPr>
        <p:spPr>
          <a:xfrm>
            <a:off x="457200" y="749808"/>
            <a:ext cx="8229600" cy="36576"/>
          </a:xfrm>
          <a:prstGeom prst="rect">
            <a:avLst/>
          </a:prstGeom>
          <a:solidFill>
            <a:srgbClr val="00B4D8"/>
          </a:solidFill>
          <a:ln w="12700">
            <a:solidFill>
              <a:srgbClr val="00B4D8"/>
            </a:solidFill>
            <a:prstDash val="solid"/>
          </a:ln>
        </p:spPr>
      </p:sp>
      <p:sp>
        <p:nvSpPr>
          <p:cNvPr id="4" name="Shape 2"/>
          <p:cNvSpPr/>
          <p:nvPr/>
        </p:nvSpPr>
        <p:spPr>
          <a:xfrm>
            <a:off x="457200" y="1005840"/>
            <a:ext cx="8321040" cy="713232"/>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457200" y="1005840"/>
            <a:ext cx="109728" cy="713232"/>
          </a:xfrm>
          <a:prstGeom prst="rect">
            <a:avLst/>
          </a:prstGeom>
          <a:solidFill>
            <a:srgbClr val="00B4D8"/>
          </a:solidFill>
          <a:ln w="12700">
            <a:solidFill>
              <a:srgbClr val="00B4D8"/>
            </a:solidFill>
            <a:prstDash val="solid"/>
          </a:ln>
        </p:spPr>
      </p:sp>
      <p:sp>
        <p:nvSpPr>
          <p:cNvPr id="6" name="Text 4"/>
          <p:cNvSpPr/>
          <p:nvPr/>
        </p:nvSpPr>
        <p:spPr>
          <a:xfrm>
            <a:off x="658368" y="1078992"/>
            <a:ext cx="365760" cy="530352"/>
          </a:xfrm>
          <a:prstGeom prst="rect">
            <a:avLst/>
          </a:prstGeom>
          <a:noFill/>
          <a:ln/>
        </p:spPr>
        <p:txBody>
          <a:bodyPr wrap="square" rtlCol="0" anchor="ctr"/>
          <a:lstStyle/>
          <a:p>
            <a:pPr indent="0" marL="0">
              <a:buNone/>
            </a:pPr>
            <a:r>
              <a:rPr lang="en-US" sz="2000" b="1" dirty="0">
                <a:solidFill>
                  <a:srgbClr val="00B4D8"/>
                </a:solidFill>
              </a:rPr>
              <a:t>1</a:t>
            </a:r>
            <a:endParaRPr lang="en-US" sz="2000" dirty="0"/>
          </a:p>
        </p:txBody>
      </p:sp>
      <p:sp>
        <p:nvSpPr>
          <p:cNvPr id="7" name="Text 5"/>
          <p:cNvSpPr/>
          <p:nvPr/>
        </p:nvSpPr>
        <p:spPr>
          <a:xfrm>
            <a:off x="1097280" y="1060704"/>
            <a:ext cx="1828800" cy="320040"/>
          </a:xfrm>
          <a:prstGeom prst="rect">
            <a:avLst/>
          </a:prstGeom>
          <a:noFill/>
          <a:ln/>
        </p:spPr>
        <p:txBody>
          <a:bodyPr wrap="square" rtlCol="0" anchor="ctr"/>
          <a:lstStyle/>
          <a:p>
            <a:pPr indent="0" marL="0">
              <a:buNone/>
            </a:pPr>
            <a:r>
              <a:rPr lang="en-US" sz="1300" b="1" dirty="0">
                <a:solidFill>
                  <a:srgbClr val="FFFFFF"/>
                </a:solidFill>
              </a:rPr>
              <a:t>Study Design</a:t>
            </a:r>
            <a:endParaRPr lang="en-US" sz="1300" dirty="0"/>
          </a:p>
        </p:txBody>
      </p:sp>
      <p:sp>
        <p:nvSpPr>
          <p:cNvPr id="8" name="Text 6"/>
          <p:cNvSpPr/>
          <p:nvPr/>
        </p:nvSpPr>
        <p:spPr>
          <a:xfrm>
            <a:off x="1097280" y="1353312"/>
            <a:ext cx="7543800" cy="27432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Online Web-Based Descriptive Research Study — chosen for wide geographic reach and anonymous responses.</a:t>
            </a:r>
            <a:endParaRPr lang="en-US" sz="1150" dirty="0"/>
          </a:p>
        </p:txBody>
      </p:sp>
      <p:sp>
        <p:nvSpPr>
          <p:cNvPr id="9" name="Shape 7"/>
          <p:cNvSpPr/>
          <p:nvPr/>
        </p:nvSpPr>
        <p:spPr>
          <a:xfrm>
            <a:off x="457200" y="1783080"/>
            <a:ext cx="8321040" cy="713232"/>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457200" y="1783080"/>
            <a:ext cx="109728" cy="713232"/>
          </a:xfrm>
          <a:prstGeom prst="rect">
            <a:avLst/>
          </a:prstGeom>
          <a:solidFill>
            <a:srgbClr val="00B4D8"/>
          </a:solidFill>
          <a:ln w="12700">
            <a:solidFill>
              <a:srgbClr val="00B4D8"/>
            </a:solidFill>
            <a:prstDash val="solid"/>
          </a:ln>
        </p:spPr>
      </p:sp>
      <p:sp>
        <p:nvSpPr>
          <p:cNvPr id="11" name="Text 9"/>
          <p:cNvSpPr/>
          <p:nvPr/>
        </p:nvSpPr>
        <p:spPr>
          <a:xfrm>
            <a:off x="658368" y="1856232"/>
            <a:ext cx="365760" cy="530352"/>
          </a:xfrm>
          <a:prstGeom prst="rect">
            <a:avLst/>
          </a:prstGeom>
          <a:noFill/>
          <a:ln/>
        </p:spPr>
        <p:txBody>
          <a:bodyPr wrap="square" rtlCol="0" anchor="ctr"/>
          <a:lstStyle/>
          <a:p>
            <a:pPr indent="0" marL="0">
              <a:buNone/>
            </a:pPr>
            <a:r>
              <a:rPr lang="en-US" sz="2000" b="1" dirty="0">
                <a:solidFill>
                  <a:srgbClr val="00B4D8"/>
                </a:solidFill>
              </a:rPr>
              <a:t>2</a:t>
            </a:r>
            <a:endParaRPr lang="en-US" sz="2000" dirty="0"/>
          </a:p>
        </p:txBody>
      </p:sp>
      <p:sp>
        <p:nvSpPr>
          <p:cNvPr id="12" name="Text 10"/>
          <p:cNvSpPr/>
          <p:nvPr/>
        </p:nvSpPr>
        <p:spPr>
          <a:xfrm>
            <a:off x="1097280" y="1837944"/>
            <a:ext cx="1828800" cy="320040"/>
          </a:xfrm>
          <a:prstGeom prst="rect">
            <a:avLst/>
          </a:prstGeom>
          <a:noFill/>
          <a:ln/>
        </p:spPr>
        <p:txBody>
          <a:bodyPr wrap="square" rtlCol="0" anchor="ctr"/>
          <a:lstStyle/>
          <a:p>
            <a:pPr indent="0" marL="0">
              <a:buNone/>
            </a:pPr>
            <a:r>
              <a:rPr lang="en-US" sz="1300" b="1" dirty="0">
                <a:solidFill>
                  <a:srgbClr val="FFFFFF"/>
                </a:solidFill>
              </a:rPr>
              <a:t>Survey Creation</a:t>
            </a:r>
            <a:endParaRPr lang="en-US" sz="1300" dirty="0"/>
          </a:p>
        </p:txBody>
      </p:sp>
      <p:sp>
        <p:nvSpPr>
          <p:cNvPr id="13" name="Text 11"/>
          <p:cNvSpPr/>
          <p:nvPr/>
        </p:nvSpPr>
        <p:spPr>
          <a:xfrm>
            <a:off x="1097280" y="2130552"/>
            <a:ext cx="7543800" cy="27432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10-question structured questionnaire designed on Google Forms covering demographics, threats, habits, and awareness.</a:t>
            </a:r>
            <a:endParaRPr lang="en-US" sz="1150" dirty="0"/>
          </a:p>
        </p:txBody>
      </p:sp>
      <p:sp>
        <p:nvSpPr>
          <p:cNvPr id="14" name="Shape 12"/>
          <p:cNvSpPr/>
          <p:nvPr/>
        </p:nvSpPr>
        <p:spPr>
          <a:xfrm>
            <a:off x="457200" y="2560320"/>
            <a:ext cx="8321040" cy="713232"/>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457200" y="2560320"/>
            <a:ext cx="109728" cy="713232"/>
          </a:xfrm>
          <a:prstGeom prst="rect">
            <a:avLst/>
          </a:prstGeom>
          <a:solidFill>
            <a:srgbClr val="00B4D8"/>
          </a:solidFill>
          <a:ln w="12700">
            <a:solidFill>
              <a:srgbClr val="00B4D8"/>
            </a:solidFill>
            <a:prstDash val="solid"/>
          </a:ln>
        </p:spPr>
      </p:sp>
      <p:sp>
        <p:nvSpPr>
          <p:cNvPr id="16" name="Text 14"/>
          <p:cNvSpPr/>
          <p:nvPr/>
        </p:nvSpPr>
        <p:spPr>
          <a:xfrm>
            <a:off x="658368" y="2633472"/>
            <a:ext cx="365760" cy="530352"/>
          </a:xfrm>
          <a:prstGeom prst="rect">
            <a:avLst/>
          </a:prstGeom>
          <a:noFill/>
          <a:ln/>
        </p:spPr>
        <p:txBody>
          <a:bodyPr wrap="square" rtlCol="0" anchor="ctr"/>
          <a:lstStyle/>
          <a:p>
            <a:pPr indent="0" marL="0">
              <a:buNone/>
            </a:pPr>
            <a:r>
              <a:rPr lang="en-US" sz="2000" b="1" dirty="0">
                <a:solidFill>
                  <a:srgbClr val="00B4D8"/>
                </a:solidFill>
              </a:rPr>
              <a:t>3</a:t>
            </a:r>
            <a:endParaRPr lang="en-US" sz="2000" dirty="0"/>
          </a:p>
        </p:txBody>
      </p:sp>
      <p:sp>
        <p:nvSpPr>
          <p:cNvPr id="17" name="Text 15"/>
          <p:cNvSpPr/>
          <p:nvPr/>
        </p:nvSpPr>
        <p:spPr>
          <a:xfrm>
            <a:off x="1097280" y="2615184"/>
            <a:ext cx="1828800" cy="320040"/>
          </a:xfrm>
          <a:prstGeom prst="rect">
            <a:avLst/>
          </a:prstGeom>
          <a:noFill/>
          <a:ln/>
        </p:spPr>
        <p:txBody>
          <a:bodyPr wrap="square" rtlCol="0" anchor="ctr"/>
          <a:lstStyle/>
          <a:p>
            <a:pPr indent="0" marL="0">
              <a:buNone/>
            </a:pPr>
            <a:r>
              <a:rPr lang="en-US" sz="1300" b="1" dirty="0">
                <a:solidFill>
                  <a:srgbClr val="FFFFFF"/>
                </a:solidFill>
              </a:rPr>
              <a:t>Distribution</a:t>
            </a:r>
            <a:endParaRPr lang="en-US" sz="1300" dirty="0"/>
          </a:p>
        </p:txBody>
      </p:sp>
      <p:sp>
        <p:nvSpPr>
          <p:cNvPr id="18" name="Text 16"/>
          <p:cNvSpPr/>
          <p:nvPr/>
        </p:nvSpPr>
        <p:spPr>
          <a:xfrm>
            <a:off x="1097280" y="2907792"/>
            <a:ext cx="7543800" cy="27432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Survey link shared via WhatsApp groups, Instagram, and Telegram channels targeting Ahmednagar district users.</a:t>
            </a:r>
            <a:endParaRPr lang="en-US" sz="1150" dirty="0"/>
          </a:p>
        </p:txBody>
      </p:sp>
      <p:sp>
        <p:nvSpPr>
          <p:cNvPr id="19" name="Shape 17"/>
          <p:cNvSpPr/>
          <p:nvPr/>
        </p:nvSpPr>
        <p:spPr>
          <a:xfrm>
            <a:off x="457200" y="3337560"/>
            <a:ext cx="8321040" cy="713232"/>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457200" y="3337560"/>
            <a:ext cx="109728" cy="713232"/>
          </a:xfrm>
          <a:prstGeom prst="rect">
            <a:avLst/>
          </a:prstGeom>
          <a:solidFill>
            <a:srgbClr val="00B4D8"/>
          </a:solidFill>
          <a:ln w="12700">
            <a:solidFill>
              <a:srgbClr val="00B4D8"/>
            </a:solidFill>
            <a:prstDash val="solid"/>
          </a:ln>
        </p:spPr>
      </p:sp>
      <p:sp>
        <p:nvSpPr>
          <p:cNvPr id="21" name="Text 19"/>
          <p:cNvSpPr/>
          <p:nvPr/>
        </p:nvSpPr>
        <p:spPr>
          <a:xfrm>
            <a:off x="658368" y="3410712"/>
            <a:ext cx="365760" cy="530352"/>
          </a:xfrm>
          <a:prstGeom prst="rect">
            <a:avLst/>
          </a:prstGeom>
          <a:noFill/>
          <a:ln/>
        </p:spPr>
        <p:txBody>
          <a:bodyPr wrap="square" rtlCol="0" anchor="ctr"/>
          <a:lstStyle/>
          <a:p>
            <a:pPr indent="0" marL="0">
              <a:buNone/>
            </a:pPr>
            <a:r>
              <a:rPr lang="en-US" sz="2000" b="1" dirty="0">
                <a:solidFill>
                  <a:srgbClr val="00B4D8"/>
                </a:solidFill>
              </a:rPr>
              <a:t>4</a:t>
            </a:r>
            <a:endParaRPr lang="en-US" sz="2000" dirty="0"/>
          </a:p>
        </p:txBody>
      </p:sp>
      <p:sp>
        <p:nvSpPr>
          <p:cNvPr id="22" name="Text 20"/>
          <p:cNvSpPr/>
          <p:nvPr/>
        </p:nvSpPr>
        <p:spPr>
          <a:xfrm>
            <a:off x="1097280" y="3392424"/>
            <a:ext cx="1828800" cy="320040"/>
          </a:xfrm>
          <a:prstGeom prst="rect">
            <a:avLst/>
          </a:prstGeom>
          <a:noFill/>
          <a:ln/>
        </p:spPr>
        <p:txBody>
          <a:bodyPr wrap="square" rtlCol="0" anchor="ctr"/>
          <a:lstStyle/>
          <a:p>
            <a:pPr indent="0" marL="0">
              <a:buNone/>
            </a:pPr>
            <a:r>
              <a:rPr lang="en-US" sz="1300" b="1" dirty="0">
                <a:solidFill>
                  <a:srgbClr val="FFFFFF"/>
                </a:solidFill>
              </a:rPr>
              <a:t>Data Collection</a:t>
            </a:r>
            <a:endParaRPr lang="en-US" sz="1300" dirty="0"/>
          </a:p>
        </p:txBody>
      </p:sp>
      <p:sp>
        <p:nvSpPr>
          <p:cNvPr id="23" name="Text 21"/>
          <p:cNvSpPr/>
          <p:nvPr/>
        </p:nvSpPr>
        <p:spPr>
          <a:xfrm>
            <a:off x="1097280" y="3685032"/>
            <a:ext cx="7543800" cy="27432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30 respondents participated via convenience sampling across students, professionals, homemakers, and business owners.</a:t>
            </a:r>
            <a:endParaRPr lang="en-US" sz="1150" dirty="0"/>
          </a:p>
        </p:txBody>
      </p:sp>
      <p:sp>
        <p:nvSpPr>
          <p:cNvPr id="24" name="Shape 22"/>
          <p:cNvSpPr/>
          <p:nvPr/>
        </p:nvSpPr>
        <p:spPr>
          <a:xfrm>
            <a:off x="457200" y="4114800"/>
            <a:ext cx="8321040" cy="713232"/>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457200" y="4114800"/>
            <a:ext cx="109728" cy="713232"/>
          </a:xfrm>
          <a:prstGeom prst="rect">
            <a:avLst/>
          </a:prstGeom>
          <a:solidFill>
            <a:srgbClr val="00B4D8"/>
          </a:solidFill>
          <a:ln w="12700">
            <a:solidFill>
              <a:srgbClr val="00B4D8"/>
            </a:solidFill>
            <a:prstDash val="solid"/>
          </a:ln>
        </p:spPr>
      </p:sp>
      <p:sp>
        <p:nvSpPr>
          <p:cNvPr id="26" name="Text 24"/>
          <p:cNvSpPr/>
          <p:nvPr/>
        </p:nvSpPr>
        <p:spPr>
          <a:xfrm>
            <a:off x="658368" y="4187952"/>
            <a:ext cx="365760" cy="530352"/>
          </a:xfrm>
          <a:prstGeom prst="rect">
            <a:avLst/>
          </a:prstGeom>
          <a:noFill/>
          <a:ln/>
        </p:spPr>
        <p:txBody>
          <a:bodyPr wrap="square" rtlCol="0" anchor="ctr"/>
          <a:lstStyle/>
          <a:p>
            <a:pPr indent="0" marL="0">
              <a:buNone/>
            </a:pPr>
            <a:r>
              <a:rPr lang="en-US" sz="2000" b="1" dirty="0">
                <a:solidFill>
                  <a:srgbClr val="00B4D8"/>
                </a:solidFill>
              </a:rPr>
              <a:t>5</a:t>
            </a:r>
            <a:endParaRPr lang="en-US" sz="2000" dirty="0"/>
          </a:p>
        </p:txBody>
      </p:sp>
      <p:sp>
        <p:nvSpPr>
          <p:cNvPr id="27" name="Text 25"/>
          <p:cNvSpPr/>
          <p:nvPr/>
        </p:nvSpPr>
        <p:spPr>
          <a:xfrm>
            <a:off x="1097280" y="4169664"/>
            <a:ext cx="1828800" cy="320040"/>
          </a:xfrm>
          <a:prstGeom prst="rect">
            <a:avLst/>
          </a:prstGeom>
          <a:noFill/>
          <a:ln/>
        </p:spPr>
        <p:txBody>
          <a:bodyPr wrap="square" rtlCol="0" anchor="ctr"/>
          <a:lstStyle/>
          <a:p>
            <a:pPr indent="0" marL="0">
              <a:buNone/>
            </a:pPr>
            <a:r>
              <a:rPr lang="en-US" sz="1300" b="1" dirty="0">
                <a:solidFill>
                  <a:srgbClr val="FFFFFF"/>
                </a:solidFill>
              </a:rPr>
              <a:t>Analysis</a:t>
            </a:r>
            <a:endParaRPr lang="en-US" sz="1300" dirty="0"/>
          </a:p>
        </p:txBody>
      </p:sp>
      <p:sp>
        <p:nvSpPr>
          <p:cNvPr id="28" name="Text 26"/>
          <p:cNvSpPr/>
          <p:nvPr/>
        </p:nvSpPr>
        <p:spPr>
          <a:xfrm>
            <a:off x="1097280" y="4462272"/>
            <a:ext cx="7543800" cy="274320"/>
          </a:xfrm>
          <a:prstGeom prst="rect">
            <a:avLst/>
          </a:prstGeom>
          <a:noFill/>
          <a:ln/>
        </p:spPr>
        <p:txBody>
          <a:bodyPr wrap="square" rtlCol="0" anchor="ctr"/>
          <a:lstStyle/>
          <a:p>
            <a:pPr indent="0" marL="0">
              <a:buNone/>
            </a:pPr>
            <a:r>
              <a:rPr lang="en-US" sz="1150" dirty="0">
                <a:solidFill>
                  <a:srgbClr val="CBD5E1"/>
                </a:solidFill>
                <a:latin typeface="Calibri" pitchFamily="34" charset="0"/>
                <a:ea typeface="Calibri" pitchFamily="34" charset="-122"/>
                <a:cs typeface="Calibri" pitchFamily="34" charset="-120"/>
              </a:rPr>
              <a:t>Responses automatically tabulated by Google Forms. Charts generated in Google Sheets and interpreted for findings.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7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Research Methodology – Details</a:t>
            </a:r>
            <a:endParaRPr lang="en-US" sz="3000" dirty="0"/>
          </a:p>
        </p:txBody>
      </p:sp>
      <p:sp>
        <p:nvSpPr>
          <p:cNvPr id="3" name="Shape 1"/>
          <p:cNvSpPr/>
          <p:nvPr/>
        </p:nvSpPr>
        <p:spPr>
          <a:xfrm>
            <a:off x="457200" y="749808"/>
            <a:ext cx="8229600" cy="36576"/>
          </a:xfrm>
          <a:prstGeom prst="rect">
            <a:avLst/>
          </a:prstGeom>
          <a:solidFill>
            <a:srgbClr val="CBD5E1"/>
          </a:solidFill>
          <a:ln w="12700">
            <a:solidFill>
              <a:srgbClr val="CBD5E1"/>
            </a:solidFill>
            <a:prstDash val="solid"/>
          </a:ln>
        </p:spPr>
      </p:sp>
      <p:sp>
        <p:nvSpPr>
          <p:cNvPr id="4" name="Shape 2"/>
          <p:cNvSpPr/>
          <p:nvPr/>
        </p:nvSpPr>
        <p:spPr>
          <a:xfrm>
            <a:off x="457200" y="960120"/>
            <a:ext cx="2697480" cy="374904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457200" y="1005840"/>
            <a:ext cx="2697480" cy="384048"/>
          </a:xfrm>
          <a:prstGeom prst="rect">
            <a:avLst/>
          </a:prstGeom>
          <a:noFill/>
          <a:ln/>
        </p:spPr>
        <p:txBody>
          <a:bodyPr wrap="square" rtlCol="0" anchor="ctr"/>
          <a:lstStyle/>
          <a:p>
            <a:pPr algn="ctr" indent="0" marL="0">
              <a:buNone/>
            </a:pPr>
            <a:r>
              <a:rPr lang="en-US" sz="1400" b="1" dirty="0">
                <a:solidFill>
                  <a:srgbClr val="00B4D8"/>
                </a:solidFill>
              </a:rPr>
              <a:t>Primary Data</a:t>
            </a:r>
            <a:endParaRPr lang="en-US" sz="1400" dirty="0"/>
          </a:p>
        </p:txBody>
      </p:sp>
      <p:sp>
        <p:nvSpPr>
          <p:cNvPr id="6" name="Shape 4"/>
          <p:cNvSpPr/>
          <p:nvPr/>
        </p:nvSpPr>
        <p:spPr>
          <a:xfrm>
            <a:off x="685800" y="1426464"/>
            <a:ext cx="2240280" cy="27432"/>
          </a:xfrm>
          <a:prstGeom prst="rect">
            <a:avLst/>
          </a:prstGeom>
          <a:solidFill>
            <a:srgbClr val="00B4D8"/>
          </a:solidFill>
          <a:ln w="12700">
            <a:solidFill>
              <a:srgbClr val="00B4D8"/>
            </a:solidFill>
            <a:prstDash val="solid"/>
          </a:ln>
        </p:spPr>
      </p:sp>
      <p:sp>
        <p:nvSpPr>
          <p:cNvPr id="7" name="Shape 5"/>
          <p:cNvSpPr/>
          <p:nvPr/>
        </p:nvSpPr>
        <p:spPr>
          <a:xfrm>
            <a:off x="658368" y="1600200"/>
            <a:ext cx="137160" cy="137160"/>
          </a:xfrm>
          <a:prstGeom prst="ellipse">
            <a:avLst/>
          </a:prstGeom>
          <a:solidFill>
            <a:srgbClr val="00B4D8"/>
          </a:solidFill>
          <a:ln w="12700">
            <a:solidFill>
              <a:srgbClr val="00B4D8"/>
            </a:solidFill>
            <a:prstDash val="solid"/>
          </a:ln>
        </p:spPr>
      </p:sp>
      <p:sp>
        <p:nvSpPr>
          <p:cNvPr id="8" name="Text 6"/>
          <p:cNvSpPr/>
          <p:nvPr/>
        </p:nvSpPr>
        <p:spPr>
          <a:xfrm>
            <a:off x="859536" y="1554480"/>
            <a:ext cx="2176272" cy="4572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Google Forms questionnaire (10 questions)</a:t>
            </a:r>
            <a:endParaRPr lang="en-US" sz="1150" dirty="0"/>
          </a:p>
        </p:txBody>
      </p:sp>
      <p:sp>
        <p:nvSpPr>
          <p:cNvPr id="9" name="Shape 7"/>
          <p:cNvSpPr/>
          <p:nvPr/>
        </p:nvSpPr>
        <p:spPr>
          <a:xfrm>
            <a:off x="658368" y="2194560"/>
            <a:ext cx="137160" cy="137160"/>
          </a:xfrm>
          <a:prstGeom prst="ellipse">
            <a:avLst/>
          </a:prstGeom>
          <a:solidFill>
            <a:srgbClr val="00B4D8"/>
          </a:solidFill>
          <a:ln w="12700">
            <a:solidFill>
              <a:srgbClr val="00B4D8"/>
            </a:solidFill>
            <a:prstDash val="solid"/>
          </a:ln>
        </p:spPr>
      </p:sp>
      <p:sp>
        <p:nvSpPr>
          <p:cNvPr id="10" name="Text 8"/>
          <p:cNvSpPr/>
          <p:nvPr/>
        </p:nvSpPr>
        <p:spPr>
          <a:xfrm>
            <a:off x="859536" y="2148840"/>
            <a:ext cx="2176272" cy="4572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Distributed online — WhatsApp, Instagram, Telegram</a:t>
            </a:r>
            <a:endParaRPr lang="en-US" sz="1150" dirty="0"/>
          </a:p>
        </p:txBody>
      </p:sp>
      <p:sp>
        <p:nvSpPr>
          <p:cNvPr id="11" name="Shape 9"/>
          <p:cNvSpPr/>
          <p:nvPr/>
        </p:nvSpPr>
        <p:spPr>
          <a:xfrm>
            <a:off x="658368" y="2788920"/>
            <a:ext cx="137160" cy="137160"/>
          </a:xfrm>
          <a:prstGeom prst="ellipse">
            <a:avLst/>
          </a:prstGeom>
          <a:solidFill>
            <a:srgbClr val="00B4D8"/>
          </a:solidFill>
          <a:ln w="12700">
            <a:solidFill>
              <a:srgbClr val="00B4D8"/>
            </a:solidFill>
            <a:prstDash val="solid"/>
          </a:ln>
        </p:spPr>
      </p:sp>
      <p:sp>
        <p:nvSpPr>
          <p:cNvPr id="12" name="Text 10"/>
          <p:cNvSpPr/>
          <p:nvPr/>
        </p:nvSpPr>
        <p:spPr>
          <a:xfrm>
            <a:off x="859536" y="2743200"/>
            <a:ext cx="2176272" cy="4572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30 respondents from Ahmednagar region</a:t>
            </a:r>
            <a:endParaRPr lang="en-US" sz="1150" dirty="0"/>
          </a:p>
        </p:txBody>
      </p:sp>
      <p:sp>
        <p:nvSpPr>
          <p:cNvPr id="13" name="Shape 11"/>
          <p:cNvSpPr/>
          <p:nvPr/>
        </p:nvSpPr>
        <p:spPr>
          <a:xfrm>
            <a:off x="658368" y="3383280"/>
            <a:ext cx="137160" cy="137160"/>
          </a:xfrm>
          <a:prstGeom prst="ellipse">
            <a:avLst/>
          </a:prstGeom>
          <a:solidFill>
            <a:srgbClr val="00B4D8"/>
          </a:solidFill>
          <a:ln w="12700">
            <a:solidFill>
              <a:srgbClr val="00B4D8"/>
            </a:solidFill>
            <a:prstDash val="solid"/>
          </a:ln>
        </p:spPr>
      </p:sp>
      <p:sp>
        <p:nvSpPr>
          <p:cNvPr id="14" name="Text 12"/>
          <p:cNvSpPr/>
          <p:nvPr/>
        </p:nvSpPr>
        <p:spPr>
          <a:xfrm>
            <a:off x="859536" y="3337560"/>
            <a:ext cx="2176272" cy="4572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Anonymous &amp; voluntary participation</a:t>
            </a:r>
            <a:endParaRPr lang="en-US" sz="1150" dirty="0"/>
          </a:p>
        </p:txBody>
      </p:sp>
      <p:sp>
        <p:nvSpPr>
          <p:cNvPr id="15" name="Shape 13"/>
          <p:cNvSpPr/>
          <p:nvPr/>
        </p:nvSpPr>
        <p:spPr>
          <a:xfrm>
            <a:off x="658368" y="3977640"/>
            <a:ext cx="137160" cy="137160"/>
          </a:xfrm>
          <a:prstGeom prst="ellipse">
            <a:avLst/>
          </a:prstGeom>
          <a:solidFill>
            <a:srgbClr val="00B4D8"/>
          </a:solidFill>
          <a:ln w="12700">
            <a:solidFill>
              <a:srgbClr val="00B4D8"/>
            </a:solidFill>
            <a:prstDash val="solid"/>
          </a:ln>
        </p:spPr>
      </p:sp>
      <p:sp>
        <p:nvSpPr>
          <p:cNvPr id="16" name="Text 14"/>
          <p:cNvSpPr/>
          <p:nvPr/>
        </p:nvSpPr>
        <p:spPr>
          <a:xfrm>
            <a:off x="859536" y="3931920"/>
            <a:ext cx="2176272" cy="4572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Self-reported responses, descriptive analysis</a:t>
            </a:r>
            <a:endParaRPr lang="en-US" sz="1150" dirty="0"/>
          </a:p>
        </p:txBody>
      </p:sp>
      <p:sp>
        <p:nvSpPr>
          <p:cNvPr id="17" name="Shape 15"/>
          <p:cNvSpPr/>
          <p:nvPr/>
        </p:nvSpPr>
        <p:spPr>
          <a:xfrm>
            <a:off x="3310128" y="960120"/>
            <a:ext cx="2697480" cy="374904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8" name="Text 16"/>
          <p:cNvSpPr/>
          <p:nvPr/>
        </p:nvSpPr>
        <p:spPr>
          <a:xfrm>
            <a:off x="3310128" y="1005840"/>
            <a:ext cx="2697480" cy="384048"/>
          </a:xfrm>
          <a:prstGeom prst="rect">
            <a:avLst/>
          </a:prstGeom>
          <a:noFill/>
          <a:ln/>
        </p:spPr>
        <p:txBody>
          <a:bodyPr wrap="square" rtlCol="0" anchor="ctr"/>
          <a:lstStyle/>
          <a:p>
            <a:pPr algn="ctr" indent="0" marL="0">
              <a:buNone/>
            </a:pPr>
            <a:r>
              <a:rPr lang="en-US" sz="1400" b="1" dirty="0">
                <a:solidFill>
                  <a:srgbClr val="00B4D8"/>
                </a:solidFill>
              </a:rPr>
              <a:t>Secondary Data</a:t>
            </a:r>
            <a:endParaRPr lang="en-US" sz="1400" dirty="0"/>
          </a:p>
        </p:txBody>
      </p:sp>
      <p:sp>
        <p:nvSpPr>
          <p:cNvPr id="19" name="Shape 17"/>
          <p:cNvSpPr/>
          <p:nvPr/>
        </p:nvSpPr>
        <p:spPr>
          <a:xfrm>
            <a:off x="3538728" y="1426464"/>
            <a:ext cx="2240280" cy="27432"/>
          </a:xfrm>
          <a:prstGeom prst="rect">
            <a:avLst/>
          </a:prstGeom>
          <a:solidFill>
            <a:srgbClr val="00B4D8"/>
          </a:solidFill>
          <a:ln w="12700">
            <a:solidFill>
              <a:srgbClr val="00B4D8"/>
            </a:solidFill>
            <a:prstDash val="solid"/>
          </a:ln>
        </p:spPr>
      </p:sp>
      <p:sp>
        <p:nvSpPr>
          <p:cNvPr id="20" name="Shape 18"/>
          <p:cNvSpPr/>
          <p:nvPr/>
        </p:nvSpPr>
        <p:spPr>
          <a:xfrm>
            <a:off x="3511296" y="1600200"/>
            <a:ext cx="137160" cy="137160"/>
          </a:xfrm>
          <a:prstGeom prst="ellipse">
            <a:avLst/>
          </a:prstGeom>
          <a:solidFill>
            <a:srgbClr val="00B4D8"/>
          </a:solidFill>
          <a:ln w="12700">
            <a:solidFill>
              <a:srgbClr val="00B4D8"/>
            </a:solidFill>
            <a:prstDash val="solid"/>
          </a:ln>
        </p:spPr>
      </p:sp>
      <p:sp>
        <p:nvSpPr>
          <p:cNvPr id="21" name="Text 19"/>
          <p:cNvSpPr/>
          <p:nvPr/>
        </p:nvSpPr>
        <p:spPr>
          <a:xfrm>
            <a:off x="3712464" y="1554480"/>
            <a:ext cx="2176272" cy="4572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CERT-In Annual Report 2022–23</a:t>
            </a:r>
            <a:endParaRPr lang="en-US" sz="1150" dirty="0"/>
          </a:p>
        </p:txBody>
      </p:sp>
      <p:sp>
        <p:nvSpPr>
          <p:cNvPr id="22" name="Shape 20"/>
          <p:cNvSpPr/>
          <p:nvPr/>
        </p:nvSpPr>
        <p:spPr>
          <a:xfrm>
            <a:off x="3511296" y="2194560"/>
            <a:ext cx="137160" cy="137160"/>
          </a:xfrm>
          <a:prstGeom prst="ellipse">
            <a:avLst/>
          </a:prstGeom>
          <a:solidFill>
            <a:srgbClr val="00B4D8"/>
          </a:solidFill>
          <a:ln w="12700">
            <a:solidFill>
              <a:srgbClr val="00B4D8"/>
            </a:solidFill>
            <a:prstDash val="solid"/>
          </a:ln>
        </p:spPr>
      </p:sp>
      <p:sp>
        <p:nvSpPr>
          <p:cNvPr id="23" name="Text 21"/>
          <p:cNvSpPr/>
          <p:nvPr/>
        </p:nvSpPr>
        <p:spPr>
          <a:xfrm>
            <a:off x="3712464" y="2148840"/>
            <a:ext cx="2176272" cy="4572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NCRB Crime in India Report 2022</a:t>
            </a:r>
            <a:endParaRPr lang="en-US" sz="1150" dirty="0"/>
          </a:p>
        </p:txBody>
      </p:sp>
      <p:sp>
        <p:nvSpPr>
          <p:cNvPr id="24" name="Shape 22"/>
          <p:cNvSpPr/>
          <p:nvPr/>
        </p:nvSpPr>
        <p:spPr>
          <a:xfrm>
            <a:off x="3511296" y="2788920"/>
            <a:ext cx="137160" cy="137160"/>
          </a:xfrm>
          <a:prstGeom prst="ellipse">
            <a:avLst/>
          </a:prstGeom>
          <a:solidFill>
            <a:srgbClr val="00B4D8"/>
          </a:solidFill>
          <a:ln w="12700">
            <a:solidFill>
              <a:srgbClr val="00B4D8"/>
            </a:solidFill>
            <a:prstDash val="solid"/>
          </a:ln>
        </p:spPr>
      </p:sp>
      <p:sp>
        <p:nvSpPr>
          <p:cNvPr id="25" name="Text 23"/>
          <p:cNvSpPr/>
          <p:nvPr/>
        </p:nvSpPr>
        <p:spPr>
          <a:xfrm>
            <a:off x="3712464" y="2743200"/>
            <a:ext cx="2176272" cy="4572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TRAI Telecom Subscription Data</a:t>
            </a:r>
            <a:endParaRPr lang="en-US" sz="1150" dirty="0"/>
          </a:p>
        </p:txBody>
      </p:sp>
      <p:sp>
        <p:nvSpPr>
          <p:cNvPr id="26" name="Shape 24"/>
          <p:cNvSpPr/>
          <p:nvPr/>
        </p:nvSpPr>
        <p:spPr>
          <a:xfrm>
            <a:off x="3511296" y="3383280"/>
            <a:ext cx="137160" cy="137160"/>
          </a:xfrm>
          <a:prstGeom prst="ellipse">
            <a:avLst/>
          </a:prstGeom>
          <a:solidFill>
            <a:srgbClr val="00B4D8"/>
          </a:solidFill>
          <a:ln w="12700">
            <a:solidFill>
              <a:srgbClr val="00B4D8"/>
            </a:solidFill>
            <a:prstDash val="solid"/>
          </a:ln>
        </p:spPr>
      </p:sp>
      <p:sp>
        <p:nvSpPr>
          <p:cNvPr id="27" name="Text 25"/>
          <p:cNvSpPr/>
          <p:nvPr/>
        </p:nvSpPr>
        <p:spPr>
          <a:xfrm>
            <a:off x="3712464" y="3337560"/>
            <a:ext cx="2176272" cy="4572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MeitY Cyber Surakshit Bharat overview</a:t>
            </a:r>
            <a:endParaRPr lang="en-US" sz="1150" dirty="0"/>
          </a:p>
        </p:txBody>
      </p:sp>
      <p:sp>
        <p:nvSpPr>
          <p:cNvPr id="28" name="Shape 26"/>
          <p:cNvSpPr/>
          <p:nvPr/>
        </p:nvSpPr>
        <p:spPr>
          <a:xfrm>
            <a:off x="3511296" y="3977640"/>
            <a:ext cx="137160" cy="137160"/>
          </a:xfrm>
          <a:prstGeom prst="ellipse">
            <a:avLst/>
          </a:prstGeom>
          <a:solidFill>
            <a:srgbClr val="00B4D8"/>
          </a:solidFill>
          <a:ln w="12700">
            <a:solidFill>
              <a:srgbClr val="00B4D8"/>
            </a:solidFill>
            <a:prstDash val="solid"/>
          </a:ln>
        </p:spPr>
      </p:sp>
      <p:sp>
        <p:nvSpPr>
          <p:cNvPr id="29" name="Text 27"/>
          <p:cNvSpPr/>
          <p:nvPr/>
        </p:nvSpPr>
        <p:spPr>
          <a:xfrm>
            <a:off x="3712464" y="3931920"/>
            <a:ext cx="2176272" cy="4572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Academic research papers on cyber awareness</a:t>
            </a:r>
            <a:endParaRPr lang="en-US" sz="1150" dirty="0"/>
          </a:p>
        </p:txBody>
      </p:sp>
      <p:sp>
        <p:nvSpPr>
          <p:cNvPr id="30" name="Shape 28"/>
          <p:cNvSpPr/>
          <p:nvPr/>
        </p:nvSpPr>
        <p:spPr>
          <a:xfrm>
            <a:off x="6163056" y="960120"/>
            <a:ext cx="2697480" cy="374904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31" name="Text 29"/>
          <p:cNvSpPr/>
          <p:nvPr/>
        </p:nvSpPr>
        <p:spPr>
          <a:xfrm>
            <a:off x="6163056" y="1005840"/>
            <a:ext cx="2697480" cy="384048"/>
          </a:xfrm>
          <a:prstGeom prst="rect">
            <a:avLst/>
          </a:prstGeom>
          <a:noFill/>
          <a:ln/>
        </p:spPr>
        <p:txBody>
          <a:bodyPr wrap="square" rtlCol="0" anchor="ctr"/>
          <a:lstStyle/>
          <a:p>
            <a:pPr algn="ctr" indent="0" marL="0">
              <a:buNone/>
            </a:pPr>
            <a:r>
              <a:rPr lang="en-US" sz="1400" b="1" dirty="0">
                <a:solidFill>
                  <a:srgbClr val="00B4D8"/>
                </a:solidFill>
              </a:rPr>
              <a:t>Target Audience</a:t>
            </a:r>
            <a:endParaRPr lang="en-US" sz="1400" dirty="0"/>
          </a:p>
        </p:txBody>
      </p:sp>
      <p:sp>
        <p:nvSpPr>
          <p:cNvPr id="32" name="Shape 30"/>
          <p:cNvSpPr/>
          <p:nvPr/>
        </p:nvSpPr>
        <p:spPr>
          <a:xfrm>
            <a:off x="6391656" y="1426464"/>
            <a:ext cx="2240280" cy="27432"/>
          </a:xfrm>
          <a:prstGeom prst="rect">
            <a:avLst/>
          </a:prstGeom>
          <a:solidFill>
            <a:srgbClr val="00B4D8"/>
          </a:solidFill>
          <a:ln w="12700">
            <a:solidFill>
              <a:srgbClr val="00B4D8"/>
            </a:solidFill>
            <a:prstDash val="solid"/>
          </a:ln>
        </p:spPr>
      </p:sp>
      <p:sp>
        <p:nvSpPr>
          <p:cNvPr id="33" name="Shape 31"/>
          <p:cNvSpPr/>
          <p:nvPr/>
        </p:nvSpPr>
        <p:spPr>
          <a:xfrm>
            <a:off x="6364224" y="1600200"/>
            <a:ext cx="137160" cy="137160"/>
          </a:xfrm>
          <a:prstGeom prst="ellipse">
            <a:avLst/>
          </a:prstGeom>
          <a:solidFill>
            <a:srgbClr val="00B4D8"/>
          </a:solidFill>
          <a:ln w="12700">
            <a:solidFill>
              <a:srgbClr val="00B4D8"/>
            </a:solidFill>
            <a:prstDash val="solid"/>
          </a:ln>
        </p:spPr>
      </p:sp>
      <p:sp>
        <p:nvSpPr>
          <p:cNvPr id="34" name="Text 32"/>
          <p:cNvSpPr/>
          <p:nvPr/>
        </p:nvSpPr>
        <p:spPr>
          <a:xfrm>
            <a:off x="6565392" y="1554480"/>
            <a:ext cx="2176272" cy="4572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Students (school &amp; college)</a:t>
            </a:r>
            <a:endParaRPr lang="en-US" sz="1150" dirty="0"/>
          </a:p>
        </p:txBody>
      </p:sp>
      <p:sp>
        <p:nvSpPr>
          <p:cNvPr id="35" name="Shape 33"/>
          <p:cNvSpPr/>
          <p:nvPr/>
        </p:nvSpPr>
        <p:spPr>
          <a:xfrm>
            <a:off x="6364224" y="2194560"/>
            <a:ext cx="137160" cy="137160"/>
          </a:xfrm>
          <a:prstGeom prst="ellipse">
            <a:avLst/>
          </a:prstGeom>
          <a:solidFill>
            <a:srgbClr val="00B4D8"/>
          </a:solidFill>
          <a:ln w="12700">
            <a:solidFill>
              <a:srgbClr val="00B4D8"/>
            </a:solidFill>
            <a:prstDash val="solid"/>
          </a:ln>
        </p:spPr>
      </p:sp>
      <p:sp>
        <p:nvSpPr>
          <p:cNvPr id="36" name="Text 34"/>
          <p:cNvSpPr/>
          <p:nvPr/>
        </p:nvSpPr>
        <p:spPr>
          <a:xfrm>
            <a:off x="6565392" y="2148840"/>
            <a:ext cx="2176272" cy="4572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Working professionals</a:t>
            </a:r>
            <a:endParaRPr lang="en-US" sz="1150" dirty="0"/>
          </a:p>
        </p:txBody>
      </p:sp>
      <p:sp>
        <p:nvSpPr>
          <p:cNvPr id="37" name="Shape 35"/>
          <p:cNvSpPr/>
          <p:nvPr/>
        </p:nvSpPr>
        <p:spPr>
          <a:xfrm>
            <a:off x="6364224" y="2788920"/>
            <a:ext cx="137160" cy="137160"/>
          </a:xfrm>
          <a:prstGeom prst="ellipse">
            <a:avLst/>
          </a:prstGeom>
          <a:solidFill>
            <a:srgbClr val="00B4D8"/>
          </a:solidFill>
          <a:ln w="12700">
            <a:solidFill>
              <a:srgbClr val="00B4D8"/>
            </a:solidFill>
            <a:prstDash val="solid"/>
          </a:ln>
        </p:spPr>
      </p:sp>
      <p:sp>
        <p:nvSpPr>
          <p:cNvPr id="38" name="Text 36"/>
          <p:cNvSpPr/>
          <p:nvPr/>
        </p:nvSpPr>
        <p:spPr>
          <a:xfrm>
            <a:off x="6565392" y="2743200"/>
            <a:ext cx="2176272" cy="4572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Homemakers</a:t>
            </a:r>
            <a:endParaRPr lang="en-US" sz="1150" dirty="0"/>
          </a:p>
        </p:txBody>
      </p:sp>
      <p:sp>
        <p:nvSpPr>
          <p:cNvPr id="39" name="Shape 37"/>
          <p:cNvSpPr/>
          <p:nvPr/>
        </p:nvSpPr>
        <p:spPr>
          <a:xfrm>
            <a:off x="6364224" y="3383280"/>
            <a:ext cx="137160" cy="137160"/>
          </a:xfrm>
          <a:prstGeom prst="ellipse">
            <a:avLst/>
          </a:prstGeom>
          <a:solidFill>
            <a:srgbClr val="00B4D8"/>
          </a:solidFill>
          <a:ln w="12700">
            <a:solidFill>
              <a:srgbClr val="00B4D8"/>
            </a:solidFill>
            <a:prstDash val="solid"/>
          </a:ln>
        </p:spPr>
      </p:sp>
      <p:sp>
        <p:nvSpPr>
          <p:cNvPr id="40" name="Text 38"/>
          <p:cNvSpPr/>
          <p:nvPr/>
        </p:nvSpPr>
        <p:spPr>
          <a:xfrm>
            <a:off x="6565392" y="3337560"/>
            <a:ext cx="2176272" cy="4572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Small business owners</a:t>
            </a:r>
            <a:endParaRPr lang="en-US" sz="1150" dirty="0"/>
          </a:p>
        </p:txBody>
      </p:sp>
      <p:sp>
        <p:nvSpPr>
          <p:cNvPr id="41" name="Shape 39"/>
          <p:cNvSpPr/>
          <p:nvPr/>
        </p:nvSpPr>
        <p:spPr>
          <a:xfrm>
            <a:off x="6364224" y="3977640"/>
            <a:ext cx="137160" cy="137160"/>
          </a:xfrm>
          <a:prstGeom prst="ellipse">
            <a:avLst/>
          </a:prstGeom>
          <a:solidFill>
            <a:srgbClr val="00B4D8"/>
          </a:solidFill>
          <a:ln w="12700">
            <a:solidFill>
              <a:srgbClr val="00B4D8"/>
            </a:solidFill>
            <a:prstDash val="solid"/>
          </a:ln>
        </p:spPr>
      </p:sp>
      <p:sp>
        <p:nvSpPr>
          <p:cNvPr id="42" name="Text 40"/>
          <p:cNvSpPr/>
          <p:nvPr/>
        </p:nvSpPr>
        <p:spPr>
          <a:xfrm>
            <a:off x="6565392" y="3931920"/>
            <a:ext cx="2176272" cy="457200"/>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Age group: 15 to 45+ years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7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Data Analysis – Respondent Demographics</a:t>
            </a:r>
            <a:endParaRPr lang="en-US" sz="3000" dirty="0"/>
          </a:p>
        </p:txBody>
      </p:sp>
      <p:sp>
        <p:nvSpPr>
          <p:cNvPr id="3" name="Shape 1"/>
          <p:cNvSpPr/>
          <p:nvPr/>
        </p:nvSpPr>
        <p:spPr>
          <a:xfrm>
            <a:off x="457200" y="749808"/>
            <a:ext cx="8229600" cy="36576"/>
          </a:xfrm>
          <a:prstGeom prst="rect">
            <a:avLst/>
          </a:prstGeom>
          <a:solidFill>
            <a:srgbClr val="CBD5E1"/>
          </a:solidFill>
          <a:ln w="12700">
            <a:solidFill>
              <a:srgbClr val="CBD5E1"/>
            </a:solidFill>
            <a:prstDash val="solid"/>
          </a:ln>
        </p:spPr>
      </p:sp>
      <p:sp>
        <p:nvSpPr>
          <p:cNvPr id="4" name="Text 2"/>
          <p:cNvSpPr/>
          <p:nvPr/>
        </p:nvSpPr>
        <p:spPr>
          <a:xfrm>
            <a:off x="365760" y="822960"/>
            <a:ext cx="4114800" cy="347472"/>
          </a:xfrm>
          <a:prstGeom prst="rect">
            <a:avLst/>
          </a:prstGeom>
          <a:noFill/>
          <a:ln/>
        </p:spPr>
        <p:txBody>
          <a:bodyPr wrap="square" rtlCol="0" anchor="ctr"/>
          <a:lstStyle/>
          <a:p>
            <a:pPr algn="ctr" indent="0" marL="0">
              <a:buNone/>
            </a:pPr>
            <a:r>
              <a:rPr lang="en-US" sz="1300" b="1" dirty="0">
                <a:solidFill>
                  <a:srgbClr val="1B3A5C"/>
                </a:solidFill>
              </a:rPr>
              <a:t>Q1. Age Group of Respondents</a:t>
            </a:r>
            <a:endParaRPr lang="en-US" sz="1300" dirty="0"/>
          </a:p>
        </p:txBody>
      </p:sp>
      <p:graphicFrame>
        <p:nvGraphicFramePr>
          <p:cNvPr id="5" name="Chart 0" descr=""/>
          <p:cNvGraphicFramePr/>
          <p:nvPr/>
        </p:nvGraphicFramePr>
        <p:xfrm>
          <a:off x="274320" y="1143000"/>
          <a:ext cx="4297680" cy="29718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663440" y="822960"/>
            <a:ext cx="4114800" cy="347472"/>
          </a:xfrm>
          <a:prstGeom prst="rect">
            <a:avLst/>
          </a:prstGeom>
          <a:noFill/>
          <a:ln/>
        </p:spPr>
        <p:txBody>
          <a:bodyPr wrap="square" rtlCol="0" anchor="ctr"/>
          <a:lstStyle/>
          <a:p>
            <a:pPr algn="ctr" indent="0" marL="0">
              <a:buNone/>
            </a:pPr>
            <a:r>
              <a:rPr lang="en-US" sz="1300" b="1" dirty="0">
                <a:solidFill>
                  <a:srgbClr val="1B3A5C"/>
                </a:solidFill>
              </a:rPr>
              <a:t>Q2. Internet Usage Frequency</a:t>
            </a:r>
            <a:endParaRPr lang="en-US" sz="1300" dirty="0"/>
          </a:p>
        </p:txBody>
      </p:sp>
      <p:graphicFrame>
        <p:nvGraphicFramePr>
          <p:cNvPr id="7" name="Chart 1" descr=""/>
          <p:cNvGraphicFramePr/>
          <p:nvPr/>
        </p:nvGraphicFramePr>
        <p:xfrm>
          <a:off x="4572000" y="1143000"/>
          <a:ext cx="4297680" cy="297180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457200" y="4279392"/>
            <a:ext cx="8321040" cy="365760"/>
          </a:xfrm>
          <a:prstGeom prst="rect">
            <a:avLst/>
          </a:prstGeom>
          <a:noFill/>
          <a:ln/>
        </p:spPr>
        <p:txBody>
          <a:bodyPr wrap="square" rtlCol="0" anchor="ctr"/>
          <a:lstStyle/>
          <a:p>
            <a:pPr algn="ctr" indent="0" marL="0">
              <a:buNone/>
            </a:pPr>
            <a:r>
              <a:rPr lang="en-US" sz="1150" i="1" dirty="0">
                <a:solidFill>
                  <a:srgbClr val="64748B"/>
                </a:solidFill>
              </a:rPr>
              <a:t>70% of respondents are aged 15–25 years  |  80% use internet daily or multiple times per day</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7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Key Findings – Threat Exposure</a:t>
            </a:r>
            <a:endParaRPr lang="en-US" sz="3000" dirty="0"/>
          </a:p>
        </p:txBody>
      </p:sp>
      <p:sp>
        <p:nvSpPr>
          <p:cNvPr id="3" name="Shape 1"/>
          <p:cNvSpPr/>
          <p:nvPr/>
        </p:nvSpPr>
        <p:spPr>
          <a:xfrm>
            <a:off x="457200" y="749808"/>
            <a:ext cx="8229600" cy="36576"/>
          </a:xfrm>
          <a:prstGeom prst="rect">
            <a:avLst/>
          </a:prstGeom>
          <a:solidFill>
            <a:srgbClr val="CBD5E1"/>
          </a:solidFill>
          <a:ln w="12700">
            <a:solidFill>
              <a:srgbClr val="CBD5E1"/>
            </a:solidFill>
            <a:prstDash val="solid"/>
          </a:ln>
        </p:spPr>
      </p:sp>
      <p:sp>
        <p:nvSpPr>
          <p:cNvPr id="4" name="Text 2"/>
          <p:cNvSpPr/>
          <p:nvPr/>
        </p:nvSpPr>
        <p:spPr>
          <a:xfrm>
            <a:off x="365760" y="822960"/>
            <a:ext cx="4114800" cy="347472"/>
          </a:xfrm>
          <a:prstGeom prst="rect">
            <a:avLst/>
          </a:prstGeom>
          <a:noFill/>
          <a:ln/>
        </p:spPr>
        <p:txBody>
          <a:bodyPr wrap="square" rtlCol="0" anchor="ctr"/>
          <a:lstStyle/>
          <a:p>
            <a:pPr algn="ctr" indent="0" marL="0">
              <a:buNone/>
            </a:pPr>
            <a:r>
              <a:rPr lang="en-US" sz="1300" b="1" dirty="0">
                <a:solidFill>
                  <a:srgbClr val="1B3A5C"/>
                </a:solidFill>
              </a:rPr>
              <a:t>Q3. Ever Experienced a Cyber Threat?</a:t>
            </a:r>
            <a:endParaRPr lang="en-US" sz="1300" dirty="0"/>
          </a:p>
        </p:txBody>
      </p:sp>
      <p:graphicFrame>
        <p:nvGraphicFramePr>
          <p:cNvPr id="5" name="Chart 0" descr=""/>
          <p:cNvGraphicFramePr/>
          <p:nvPr/>
        </p:nvGraphicFramePr>
        <p:xfrm>
          <a:off x="274320" y="1143000"/>
          <a:ext cx="4297680" cy="29718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663440" y="822960"/>
            <a:ext cx="4114800" cy="347472"/>
          </a:xfrm>
          <a:prstGeom prst="rect">
            <a:avLst/>
          </a:prstGeom>
          <a:noFill/>
          <a:ln/>
        </p:spPr>
        <p:txBody>
          <a:bodyPr wrap="square" rtlCol="0" anchor="ctr"/>
          <a:lstStyle/>
          <a:p>
            <a:pPr algn="ctr" indent="0" marL="0">
              <a:buNone/>
            </a:pPr>
            <a:r>
              <a:rPr lang="en-US" sz="1300" b="1" dirty="0">
                <a:solidFill>
                  <a:srgbClr val="1B3A5C"/>
                </a:solidFill>
              </a:rPr>
              <a:t>Q4. Types of Threats Encountered</a:t>
            </a:r>
            <a:endParaRPr lang="en-US" sz="1300" dirty="0"/>
          </a:p>
        </p:txBody>
      </p:sp>
      <p:graphicFrame>
        <p:nvGraphicFramePr>
          <p:cNvPr id="7" name="Chart 1" descr=""/>
          <p:cNvGraphicFramePr/>
          <p:nvPr/>
        </p:nvGraphicFramePr>
        <p:xfrm>
          <a:off x="4572000" y="1143000"/>
          <a:ext cx="4297680" cy="297180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457200" y="4279392"/>
            <a:ext cx="8321040" cy="365760"/>
          </a:xfrm>
          <a:prstGeom prst="rect">
            <a:avLst/>
          </a:prstGeom>
          <a:noFill/>
          <a:ln/>
        </p:spPr>
        <p:txBody>
          <a:bodyPr wrap="square" rtlCol="0" anchor="ctr"/>
          <a:lstStyle/>
          <a:p>
            <a:pPr algn="ctr" indent="0" marL="0">
              <a:buNone/>
            </a:pPr>
            <a:r>
              <a:rPr lang="en-US" sz="1150" i="1" dirty="0">
                <a:solidFill>
                  <a:srgbClr val="64748B"/>
                </a:solidFill>
              </a:rPr>
              <a:t>48% personally experienced a threat  |  Phishing is the #1 threat encountered (38%)</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7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Key Findings – Security Habits</a:t>
            </a:r>
            <a:endParaRPr lang="en-US" sz="3000" dirty="0"/>
          </a:p>
        </p:txBody>
      </p:sp>
      <p:sp>
        <p:nvSpPr>
          <p:cNvPr id="3" name="Shape 1"/>
          <p:cNvSpPr/>
          <p:nvPr/>
        </p:nvSpPr>
        <p:spPr>
          <a:xfrm>
            <a:off x="457200" y="749808"/>
            <a:ext cx="8229600" cy="36576"/>
          </a:xfrm>
          <a:prstGeom prst="rect">
            <a:avLst/>
          </a:prstGeom>
          <a:solidFill>
            <a:srgbClr val="CBD5E1"/>
          </a:solidFill>
          <a:ln w="12700">
            <a:solidFill>
              <a:srgbClr val="CBD5E1"/>
            </a:solidFill>
            <a:prstDash val="solid"/>
          </a:ln>
        </p:spPr>
      </p:sp>
      <p:sp>
        <p:nvSpPr>
          <p:cNvPr id="4" name="Text 2"/>
          <p:cNvSpPr/>
          <p:nvPr/>
        </p:nvSpPr>
        <p:spPr>
          <a:xfrm>
            <a:off x="365760" y="822960"/>
            <a:ext cx="4114800" cy="347472"/>
          </a:xfrm>
          <a:prstGeom prst="rect">
            <a:avLst/>
          </a:prstGeom>
          <a:noFill/>
          <a:ln/>
        </p:spPr>
        <p:txBody>
          <a:bodyPr wrap="square" rtlCol="0" anchor="ctr"/>
          <a:lstStyle/>
          <a:p>
            <a:pPr algn="ctr" indent="0" marL="0">
              <a:buNone/>
            </a:pPr>
            <a:r>
              <a:rPr lang="en-US" sz="1300" b="1" dirty="0">
                <a:solidFill>
                  <a:srgbClr val="1B3A5C"/>
                </a:solidFill>
              </a:rPr>
              <a:t>Q5. Antivirus Software Usage</a:t>
            </a:r>
            <a:endParaRPr lang="en-US" sz="1300" dirty="0"/>
          </a:p>
        </p:txBody>
      </p:sp>
      <p:graphicFrame>
        <p:nvGraphicFramePr>
          <p:cNvPr id="5" name="Chart 0" descr=""/>
          <p:cNvGraphicFramePr/>
          <p:nvPr/>
        </p:nvGraphicFramePr>
        <p:xfrm>
          <a:off x="274320" y="1143000"/>
          <a:ext cx="4297680" cy="29718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663440" y="822960"/>
            <a:ext cx="4114800" cy="347472"/>
          </a:xfrm>
          <a:prstGeom prst="rect">
            <a:avLst/>
          </a:prstGeom>
          <a:noFill/>
          <a:ln/>
        </p:spPr>
        <p:txBody>
          <a:bodyPr wrap="square" rtlCol="0" anchor="ctr"/>
          <a:lstStyle/>
          <a:p>
            <a:pPr algn="ctr" indent="0" marL="0">
              <a:buNone/>
            </a:pPr>
            <a:r>
              <a:rPr lang="en-US" sz="1300" b="1" dirty="0">
                <a:solidFill>
                  <a:srgbClr val="1B3A5C"/>
                </a:solidFill>
              </a:rPr>
              <a:t>Q6. Password Strength Habits</a:t>
            </a:r>
            <a:endParaRPr lang="en-US" sz="1300" dirty="0"/>
          </a:p>
        </p:txBody>
      </p:sp>
      <p:graphicFrame>
        <p:nvGraphicFramePr>
          <p:cNvPr id="7" name="Chart 1" descr=""/>
          <p:cNvGraphicFramePr/>
          <p:nvPr/>
        </p:nvGraphicFramePr>
        <p:xfrm>
          <a:off x="4572000" y="1143000"/>
          <a:ext cx="4297680" cy="297180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457200" y="4279392"/>
            <a:ext cx="8321040" cy="365760"/>
          </a:xfrm>
          <a:prstGeom prst="rect">
            <a:avLst/>
          </a:prstGeom>
          <a:noFill/>
          <a:ln/>
        </p:spPr>
        <p:txBody>
          <a:bodyPr wrap="square" rtlCol="0" anchor="ctr"/>
          <a:lstStyle/>
          <a:p>
            <a:pPr algn="ctr" indent="0" marL="0">
              <a:buNone/>
            </a:pPr>
            <a:r>
              <a:rPr lang="en-US" sz="1150" i="1" dirty="0">
                <a:solidFill>
                  <a:srgbClr val="64748B"/>
                </a:solidFill>
              </a:rPr>
              <a:t>58% use antivirus inconsistently or not at all  |  78% use weak/moderate passwords or reuse them</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Key Findings – Data Sharing Behavior</a:t>
            </a:r>
            <a:endParaRPr lang="en-US" sz="3000" dirty="0"/>
          </a:p>
        </p:txBody>
      </p:sp>
      <p:sp>
        <p:nvSpPr>
          <p:cNvPr id="3" name="Shape 1"/>
          <p:cNvSpPr/>
          <p:nvPr/>
        </p:nvSpPr>
        <p:spPr>
          <a:xfrm>
            <a:off x="457200" y="749808"/>
            <a:ext cx="8229600" cy="36576"/>
          </a:xfrm>
          <a:prstGeom prst="rect">
            <a:avLst/>
          </a:prstGeom>
          <a:solidFill>
            <a:srgbClr val="00B4D8"/>
          </a:solidFill>
          <a:ln w="12700">
            <a:solidFill>
              <a:srgbClr val="00B4D8"/>
            </a:solidFill>
            <a:prstDash val="solid"/>
          </a:ln>
        </p:spPr>
      </p:sp>
      <p:sp>
        <p:nvSpPr>
          <p:cNvPr id="4" name="Text 2"/>
          <p:cNvSpPr/>
          <p:nvPr/>
        </p:nvSpPr>
        <p:spPr>
          <a:xfrm>
            <a:off x="457200" y="868680"/>
            <a:ext cx="8229600" cy="347472"/>
          </a:xfrm>
          <a:prstGeom prst="rect">
            <a:avLst/>
          </a:prstGeom>
          <a:noFill/>
          <a:ln/>
        </p:spPr>
        <p:txBody>
          <a:bodyPr wrap="square" rtlCol="0" anchor="ctr"/>
          <a:lstStyle/>
          <a:p>
            <a:pPr algn="ctr" indent="0" marL="0">
              <a:buNone/>
            </a:pPr>
            <a:r>
              <a:rPr lang="en-US" sz="1400" b="1" dirty="0">
                <a:solidFill>
                  <a:srgbClr val="00B4D8"/>
                </a:solidFill>
              </a:rPr>
              <a:t>Q7. How Often Do You Share Personal Information Online?</a:t>
            </a:r>
            <a:endParaRPr lang="en-US" sz="1400" dirty="0"/>
          </a:p>
        </p:txBody>
      </p:sp>
      <p:graphicFrame>
        <p:nvGraphicFramePr>
          <p:cNvPr id="5" name="Chart 0" descr=""/>
          <p:cNvGraphicFramePr/>
          <p:nvPr/>
        </p:nvGraphicFramePr>
        <p:xfrm>
          <a:off x="457200" y="1261872"/>
          <a:ext cx="5029200" cy="347472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760720" y="1325880"/>
            <a:ext cx="3108960" cy="1115568"/>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7" name="Text 4"/>
          <p:cNvSpPr/>
          <p:nvPr/>
        </p:nvSpPr>
        <p:spPr>
          <a:xfrm>
            <a:off x="5760720" y="1399032"/>
            <a:ext cx="1005840" cy="914400"/>
          </a:xfrm>
          <a:prstGeom prst="rect">
            <a:avLst/>
          </a:prstGeom>
          <a:noFill/>
          <a:ln/>
        </p:spPr>
        <p:txBody>
          <a:bodyPr wrap="square" rtlCol="0" anchor="ctr"/>
          <a:lstStyle/>
          <a:p>
            <a:pPr algn="ctr" indent="0" marL="0">
              <a:buNone/>
            </a:pPr>
            <a:r>
              <a:rPr lang="en-US" sz="3000" b="1" dirty="0">
                <a:solidFill>
                  <a:srgbClr val="F59E0B"/>
                </a:solidFill>
                <a:latin typeface="Calibri" pitchFamily="34" charset="0"/>
                <a:ea typeface="Calibri" pitchFamily="34" charset="-122"/>
                <a:cs typeface="Calibri" pitchFamily="34" charset="-120"/>
              </a:rPr>
              <a:t>53%</a:t>
            </a:r>
            <a:endParaRPr lang="en-US" sz="3000" dirty="0"/>
          </a:p>
        </p:txBody>
      </p:sp>
      <p:sp>
        <p:nvSpPr>
          <p:cNvPr id="8" name="Text 5"/>
          <p:cNvSpPr/>
          <p:nvPr/>
        </p:nvSpPr>
        <p:spPr>
          <a:xfrm>
            <a:off x="6784848" y="1490472"/>
            <a:ext cx="1965960" cy="777240"/>
          </a:xfrm>
          <a:prstGeom prst="rect">
            <a:avLst/>
          </a:prstGeom>
          <a:noFill/>
          <a:ln/>
        </p:spPr>
        <p:txBody>
          <a:bodyPr wrap="square" rtlCol="0" anchor="ctr"/>
          <a:lstStyle/>
          <a:p>
            <a:pPr indent="0" marL="0">
              <a:lnSpc>
                <a:spcPct val="135000"/>
              </a:lnSpc>
              <a:buNone/>
            </a:pPr>
            <a:r>
              <a:rPr lang="en-US" sz="1200" dirty="0">
                <a:solidFill>
                  <a:srgbClr val="FFFFFF"/>
                </a:solidFill>
                <a:latin typeface="Calibri" pitchFamily="34" charset="0"/>
                <a:ea typeface="Calibri" pitchFamily="34" charset="-122"/>
                <a:cs typeface="Calibri" pitchFamily="34" charset="-120"/>
              </a:rPr>
              <a:t>share personal info</a:t>
            </a:r>
            <a:endParaRPr lang="en-US" sz="1200" dirty="0"/>
          </a:p>
          <a:p>
            <a:pPr indent="0" marL="0">
              <a:lnSpc>
                <a:spcPct val="135000"/>
              </a:lnSpc>
              <a:buNone/>
            </a:pPr>
            <a:r>
              <a:rPr lang="en-US" sz="1200" dirty="0">
                <a:solidFill>
                  <a:srgbClr val="FFFFFF"/>
                </a:solidFill>
                <a:latin typeface="Calibri" pitchFamily="34" charset="0"/>
                <a:ea typeface="Calibri" pitchFamily="34" charset="-122"/>
                <a:cs typeface="Calibri" pitchFamily="34" charset="-120"/>
              </a:rPr>
              <a:t>online at least</a:t>
            </a:r>
            <a:endParaRPr lang="en-US" sz="1200" dirty="0"/>
          </a:p>
          <a:p>
            <a:pPr indent="0" marL="0">
              <a:lnSpc>
                <a:spcPct val="135000"/>
              </a:lnSpc>
              <a:buNone/>
            </a:pPr>
            <a:r>
              <a:rPr lang="en-US" sz="1200" dirty="0">
                <a:solidFill>
                  <a:srgbClr val="FFFFFF"/>
                </a:solidFill>
                <a:latin typeface="Calibri" pitchFamily="34" charset="0"/>
                <a:ea typeface="Calibri" pitchFamily="34" charset="-122"/>
                <a:cs typeface="Calibri" pitchFamily="34" charset="-120"/>
              </a:rPr>
              <a:t>sometimes</a:t>
            </a:r>
            <a:endParaRPr lang="en-US" sz="1200" dirty="0"/>
          </a:p>
        </p:txBody>
      </p:sp>
      <p:sp>
        <p:nvSpPr>
          <p:cNvPr id="9" name="Shape 6"/>
          <p:cNvSpPr/>
          <p:nvPr/>
        </p:nvSpPr>
        <p:spPr>
          <a:xfrm>
            <a:off x="5760720" y="2587752"/>
            <a:ext cx="3108960" cy="1115568"/>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0" name="Text 7"/>
          <p:cNvSpPr/>
          <p:nvPr/>
        </p:nvSpPr>
        <p:spPr>
          <a:xfrm>
            <a:off x="5760720" y="2660904"/>
            <a:ext cx="1005840" cy="914400"/>
          </a:xfrm>
          <a:prstGeom prst="rect">
            <a:avLst/>
          </a:prstGeom>
          <a:noFill/>
          <a:ln/>
        </p:spPr>
        <p:txBody>
          <a:bodyPr wrap="square" rtlCol="0" anchor="ctr"/>
          <a:lstStyle/>
          <a:p>
            <a:pPr algn="ctr" indent="0" marL="0">
              <a:buNone/>
            </a:pPr>
            <a:r>
              <a:rPr lang="en-US" sz="3000" b="1" dirty="0">
                <a:solidFill>
                  <a:srgbClr val="EF4444"/>
                </a:solidFill>
                <a:latin typeface="Calibri" pitchFamily="34" charset="0"/>
                <a:ea typeface="Calibri" pitchFamily="34" charset="-122"/>
                <a:cs typeface="Calibri" pitchFamily="34" charset="-120"/>
              </a:rPr>
              <a:t>18%</a:t>
            </a:r>
            <a:endParaRPr lang="en-US" sz="3000" dirty="0"/>
          </a:p>
        </p:txBody>
      </p:sp>
      <p:sp>
        <p:nvSpPr>
          <p:cNvPr id="11" name="Text 8"/>
          <p:cNvSpPr/>
          <p:nvPr/>
        </p:nvSpPr>
        <p:spPr>
          <a:xfrm>
            <a:off x="6784848" y="2752344"/>
            <a:ext cx="1965960" cy="777240"/>
          </a:xfrm>
          <a:prstGeom prst="rect">
            <a:avLst/>
          </a:prstGeom>
          <a:noFill/>
          <a:ln/>
        </p:spPr>
        <p:txBody>
          <a:bodyPr wrap="square" rtlCol="0" anchor="ctr"/>
          <a:lstStyle/>
          <a:p>
            <a:pPr indent="0" marL="0">
              <a:lnSpc>
                <a:spcPct val="135000"/>
              </a:lnSpc>
              <a:buNone/>
            </a:pPr>
            <a:r>
              <a:rPr lang="en-US" sz="1200" dirty="0">
                <a:solidFill>
                  <a:srgbClr val="FFFFFF"/>
                </a:solidFill>
                <a:latin typeface="Calibri" pitchFamily="34" charset="0"/>
                <a:ea typeface="Calibri" pitchFamily="34" charset="-122"/>
                <a:cs typeface="Calibri" pitchFamily="34" charset="-120"/>
              </a:rPr>
              <a:t>share personal info</a:t>
            </a:r>
            <a:endParaRPr lang="en-US" sz="1200" dirty="0"/>
          </a:p>
          <a:p>
            <a:pPr indent="0" marL="0">
              <a:lnSpc>
                <a:spcPct val="135000"/>
              </a:lnSpc>
              <a:buNone/>
            </a:pPr>
            <a:r>
              <a:rPr lang="en-US" sz="1200" dirty="0">
                <a:solidFill>
                  <a:srgbClr val="FFFFFF"/>
                </a:solidFill>
                <a:latin typeface="Calibri" pitchFamily="34" charset="0"/>
                <a:ea typeface="Calibri" pitchFamily="34" charset="-122"/>
                <a:cs typeface="Calibri" pitchFamily="34" charset="-120"/>
              </a:rPr>
              <a:t>frequently — high</a:t>
            </a:r>
            <a:endParaRPr lang="en-US" sz="1200" dirty="0"/>
          </a:p>
          <a:p>
            <a:pPr indent="0" marL="0">
              <a:lnSpc>
                <a:spcPct val="135000"/>
              </a:lnSpc>
              <a:buNone/>
            </a:pPr>
            <a:r>
              <a:rPr lang="en-US" sz="1200" dirty="0">
                <a:solidFill>
                  <a:srgbClr val="FFFFFF"/>
                </a:solidFill>
                <a:latin typeface="Calibri" pitchFamily="34" charset="0"/>
                <a:ea typeface="Calibri" pitchFamily="34" charset="-122"/>
                <a:cs typeface="Calibri" pitchFamily="34" charset="-120"/>
              </a:rPr>
              <a:t>risk profile</a:t>
            </a:r>
            <a:endParaRPr lang="en-US" sz="1200" dirty="0"/>
          </a:p>
        </p:txBody>
      </p:sp>
      <p:sp>
        <p:nvSpPr>
          <p:cNvPr id="12" name="Shape 9"/>
          <p:cNvSpPr/>
          <p:nvPr/>
        </p:nvSpPr>
        <p:spPr>
          <a:xfrm>
            <a:off x="5760720" y="3849624"/>
            <a:ext cx="3108960" cy="1115568"/>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3" name="Text 10"/>
          <p:cNvSpPr/>
          <p:nvPr/>
        </p:nvSpPr>
        <p:spPr>
          <a:xfrm>
            <a:off x="5760720" y="3922776"/>
            <a:ext cx="1005840" cy="914400"/>
          </a:xfrm>
          <a:prstGeom prst="rect">
            <a:avLst/>
          </a:prstGeom>
          <a:noFill/>
          <a:ln/>
        </p:spPr>
        <p:txBody>
          <a:bodyPr wrap="square" rtlCol="0" anchor="ctr"/>
          <a:lstStyle/>
          <a:p>
            <a:pPr algn="ctr" indent="0" marL="0">
              <a:buNone/>
            </a:pPr>
            <a:r>
              <a:rPr lang="en-US" sz="3000" b="1" dirty="0">
                <a:solidFill>
                  <a:srgbClr val="10B981"/>
                </a:solidFill>
                <a:latin typeface="Calibri" pitchFamily="34" charset="0"/>
                <a:ea typeface="Calibri" pitchFamily="34" charset="-122"/>
                <a:cs typeface="Calibri" pitchFamily="34" charset="-120"/>
              </a:rPr>
              <a:t>15%</a:t>
            </a:r>
            <a:endParaRPr lang="en-US" sz="3000" dirty="0"/>
          </a:p>
        </p:txBody>
      </p:sp>
      <p:sp>
        <p:nvSpPr>
          <p:cNvPr id="14" name="Text 11"/>
          <p:cNvSpPr/>
          <p:nvPr/>
        </p:nvSpPr>
        <p:spPr>
          <a:xfrm>
            <a:off x="6784848" y="4014216"/>
            <a:ext cx="1965960" cy="777240"/>
          </a:xfrm>
          <a:prstGeom prst="rect">
            <a:avLst/>
          </a:prstGeom>
          <a:noFill/>
          <a:ln/>
        </p:spPr>
        <p:txBody>
          <a:bodyPr wrap="square" rtlCol="0" anchor="ctr"/>
          <a:lstStyle/>
          <a:p>
            <a:pPr indent="0" marL="0">
              <a:lnSpc>
                <a:spcPct val="135000"/>
              </a:lnSpc>
              <a:buNone/>
            </a:pPr>
            <a:r>
              <a:rPr lang="en-US" sz="1200" dirty="0">
                <a:solidFill>
                  <a:srgbClr val="FFFFFF"/>
                </a:solidFill>
                <a:latin typeface="Calibri" pitchFamily="34" charset="0"/>
                <a:ea typeface="Calibri" pitchFamily="34" charset="-122"/>
                <a:cs typeface="Calibri" pitchFamily="34" charset="-120"/>
              </a:rPr>
              <a:t>never share —</a:t>
            </a:r>
            <a:endParaRPr lang="en-US" sz="1200" dirty="0"/>
          </a:p>
          <a:p>
            <a:pPr indent="0" marL="0">
              <a:lnSpc>
                <a:spcPct val="135000"/>
              </a:lnSpc>
              <a:buNone/>
            </a:pPr>
            <a:r>
              <a:rPr lang="en-US" sz="1200" dirty="0">
                <a:solidFill>
                  <a:srgbClr val="FFFFFF"/>
                </a:solidFill>
                <a:latin typeface="Calibri" pitchFamily="34" charset="0"/>
                <a:ea typeface="Calibri" pitchFamily="34" charset="-122"/>
                <a:cs typeface="Calibri" pitchFamily="34" charset="-120"/>
              </a:rPr>
              <a:t>only truly</a:t>
            </a:r>
            <a:endParaRPr lang="en-US" sz="1200" dirty="0"/>
          </a:p>
          <a:p>
            <a:pPr indent="0" marL="0">
              <a:lnSpc>
                <a:spcPct val="135000"/>
              </a:lnSpc>
              <a:buNone/>
            </a:pPr>
            <a:r>
              <a:rPr lang="en-US" sz="1200" dirty="0">
                <a:solidFill>
                  <a:srgbClr val="FFFFFF"/>
                </a:solidFill>
                <a:latin typeface="Calibri" pitchFamily="34" charset="0"/>
                <a:ea typeface="Calibri" pitchFamily="34" charset="-122"/>
                <a:cs typeface="Calibri" pitchFamily="34" charset="-120"/>
              </a:rPr>
              <a:t>safe segment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7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Key Findings – Awareness &amp; Training</a:t>
            </a:r>
            <a:endParaRPr lang="en-US" sz="3000" dirty="0"/>
          </a:p>
        </p:txBody>
      </p:sp>
      <p:sp>
        <p:nvSpPr>
          <p:cNvPr id="3" name="Shape 1"/>
          <p:cNvSpPr/>
          <p:nvPr/>
        </p:nvSpPr>
        <p:spPr>
          <a:xfrm>
            <a:off x="457200" y="749808"/>
            <a:ext cx="8229600" cy="36576"/>
          </a:xfrm>
          <a:prstGeom prst="rect">
            <a:avLst/>
          </a:prstGeom>
          <a:solidFill>
            <a:srgbClr val="CBD5E1"/>
          </a:solidFill>
          <a:ln w="12700">
            <a:solidFill>
              <a:srgbClr val="CBD5E1"/>
            </a:solidFill>
            <a:prstDash val="solid"/>
          </a:ln>
        </p:spPr>
      </p:sp>
      <p:sp>
        <p:nvSpPr>
          <p:cNvPr id="4" name="Text 2"/>
          <p:cNvSpPr/>
          <p:nvPr/>
        </p:nvSpPr>
        <p:spPr>
          <a:xfrm>
            <a:off x="365760" y="822960"/>
            <a:ext cx="4114800" cy="347472"/>
          </a:xfrm>
          <a:prstGeom prst="rect">
            <a:avLst/>
          </a:prstGeom>
          <a:noFill/>
          <a:ln/>
        </p:spPr>
        <p:txBody>
          <a:bodyPr wrap="square" rtlCol="0" anchor="ctr"/>
          <a:lstStyle/>
          <a:p>
            <a:pPr algn="ctr" indent="0" marL="0">
              <a:buNone/>
            </a:pPr>
            <a:r>
              <a:rPr lang="en-US" sz="1300" b="1" dirty="0">
                <a:solidFill>
                  <a:srgbClr val="1B3A5C"/>
                </a:solidFill>
              </a:rPr>
              <a:t>Q8. Awareness About Phishing Attacks</a:t>
            </a:r>
            <a:endParaRPr lang="en-US" sz="1300" dirty="0"/>
          </a:p>
        </p:txBody>
      </p:sp>
      <p:graphicFrame>
        <p:nvGraphicFramePr>
          <p:cNvPr id="5" name="Chart 0" descr=""/>
          <p:cNvGraphicFramePr/>
          <p:nvPr/>
        </p:nvGraphicFramePr>
        <p:xfrm>
          <a:off x="274320" y="1143000"/>
          <a:ext cx="4297680" cy="29718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4663440" y="822960"/>
            <a:ext cx="4114800" cy="347472"/>
          </a:xfrm>
          <a:prstGeom prst="rect">
            <a:avLst/>
          </a:prstGeom>
          <a:noFill/>
          <a:ln/>
        </p:spPr>
        <p:txBody>
          <a:bodyPr wrap="square" rtlCol="0" anchor="ctr"/>
          <a:lstStyle/>
          <a:p>
            <a:pPr algn="ctr" indent="0" marL="0">
              <a:buNone/>
            </a:pPr>
            <a:r>
              <a:rPr lang="en-US" sz="1300" b="1" dirty="0">
                <a:solidFill>
                  <a:srgbClr val="1B3A5C"/>
                </a:solidFill>
              </a:rPr>
              <a:t>Q9. Cybersecurity Training Background</a:t>
            </a:r>
            <a:endParaRPr lang="en-US" sz="1300" dirty="0"/>
          </a:p>
        </p:txBody>
      </p:sp>
      <p:graphicFrame>
        <p:nvGraphicFramePr>
          <p:cNvPr id="7" name="Chart 1" descr=""/>
          <p:cNvGraphicFramePr/>
          <p:nvPr/>
        </p:nvGraphicFramePr>
        <p:xfrm>
          <a:off x="4572000" y="1143000"/>
          <a:ext cx="4297680" cy="2971800"/>
        </p:xfrm>
        <a:graphic xmlns:a="http://schemas.openxmlformats.org/drawingml/2006/main">
          <a:graphicData uri="http://schemas.openxmlformats.org/drawingml/2006/chart">
            <c:chart xmlns:c="http://schemas.openxmlformats.org/drawingml/2006/chart" r:id="rId2"/>
          </a:graphicData>
        </a:graphic>
      </p:graphicFrame>
      <p:sp>
        <p:nvSpPr>
          <p:cNvPr id="8" name="Text 4"/>
          <p:cNvSpPr/>
          <p:nvPr/>
        </p:nvSpPr>
        <p:spPr>
          <a:xfrm>
            <a:off x="457200" y="4279392"/>
            <a:ext cx="8321040" cy="365760"/>
          </a:xfrm>
          <a:prstGeom prst="rect">
            <a:avLst/>
          </a:prstGeom>
          <a:noFill/>
          <a:ln/>
        </p:spPr>
        <p:txBody>
          <a:bodyPr wrap="square" rtlCol="0" anchor="ctr"/>
          <a:lstStyle/>
          <a:p>
            <a:pPr algn="ctr" indent="0" marL="0">
              <a:buNone/>
            </a:pPr>
            <a:r>
              <a:rPr lang="en-US" sz="1150" i="1" dirty="0">
                <a:solidFill>
                  <a:srgbClr val="64748B"/>
                </a:solidFill>
              </a:rPr>
              <a:t>70% lack full phishing awareness  |  80% have received little to no formal cybersecurity training</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Key Findings – Perceived Importance</a:t>
            </a:r>
            <a:endParaRPr lang="en-US" sz="3000" dirty="0"/>
          </a:p>
        </p:txBody>
      </p:sp>
      <p:sp>
        <p:nvSpPr>
          <p:cNvPr id="3" name="Shape 1"/>
          <p:cNvSpPr/>
          <p:nvPr/>
        </p:nvSpPr>
        <p:spPr>
          <a:xfrm>
            <a:off x="457200" y="749808"/>
            <a:ext cx="8229600" cy="36576"/>
          </a:xfrm>
          <a:prstGeom prst="rect">
            <a:avLst/>
          </a:prstGeom>
          <a:solidFill>
            <a:srgbClr val="00B4D8"/>
          </a:solidFill>
          <a:ln w="12700">
            <a:solidFill>
              <a:srgbClr val="00B4D8"/>
            </a:solidFill>
            <a:prstDash val="solid"/>
          </a:ln>
        </p:spPr>
      </p:sp>
      <p:sp>
        <p:nvSpPr>
          <p:cNvPr id="4" name="Text 2"/>
          <p:cNvSpPr/>
          <p:nvPr/>
        </p:nvSpPr>
        <p:spPr>
          <a:xfrm>
            <a:off x="457200" y="841248"/>
            <a:ext cx="8229600" cy="347472"/>
          </a:xfrm>
          <a:prstGeom prst="rect">
            <a:avLst/>
          </a:prstGeom>
          <a:noFill/>
          <a:ln/>
        </p:spPr>
        <p:txBody>
          <a:bodyPr wrap="square" rtlCol="0" anchor="ctr"/>
          <a:lstStyle/>
          <a:p>
            <a:pPr algn="ctr" indent="0" marL="0">
              <a:buNone/>
            </a:pPr>
            <a:r>
              <a:rPr lang="en-US" sz="1400" b="1" dirty="0">
                <a:solidFill>
                  <a:srgbClr val="00B4D8"/>
                </a:solidFill>
              </a:rPr>
              <a:t>Q10. How Important is Cybersecurity Awareness?</a:t>
            </a:r>
            <a:endParaRPr lang="en-US" sz="1400" dirty="0"/>
          </a:p>
        </p:txBody>
      </p:sp>
      <p:graphicFrame>
        <p:nvGraphicFramePr>
          <p:cNvPr id="5" name="Chart 0" descr=""/>
          <p:cNvGraphicFramePr/>
          <p:nvPr/>
        </p:nvGraphicFramePr>
        <p:xfrm>
          <a:off x="731520" y="1188720"/>
          <a:ext cx="457200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5577840" y="1234440"/>
            <a:ext cx="3291840" cy="105156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7" name="Text 4"/>
          <p:cNvSpPr/>
          <p:nvPr/>
        </p:nvSpPr>
        <p:spPr>
          <a:xfrm>
            <a:off x="5577840" y="1261872"/>
            <a:ext cx="3291840" cy="566928"/>
          </a:xfrm>
          <a:prstGeom prst="rect">
            <a:avLst/>
          </a:prstGeom>
          <a:noFill/>
          <a:ln/>
        </p:spPr>
        <p:txBody>
          <a:bodyPr wrap="square" rtlCol="0" anchor="ctr"/>
          <a:lstStyle/>
          <a:p>
            <a:pPr algn="ctr" indent="0" marL="0">
              <a:buNone/>
            </a:pPr>
            <a:r>
              <a:rPr lang="en-US" sz="4400" b="1" dirty="0">
                <a:solidFill>
                  <a:srgbClr val="00B4D8"/>
                </a:solidFill>
                <a:latin typeface="Calibri" pitchFamily="34" charset="0"/>
                <a:ea typeface="Calibri" pitchFamily="34" charset="-122"/>
                <a:cs typeface="Calibri" pitchFamily="34" charset="-120"/>
              </a:rPr>
              <a:t>90%</a:t>
            </a:r>
            <a:endParaRPr lang="en-US" sz="4400" dirty="0"/>
          </a:p>
        </p:txBody>
      </p:sp>
      <p:sp>
        <p:nvSpPr>
          <p:cNvPr id="8" name="Text 5"/>
          <p:cNvSpPr/>
          <p:nvPr/>
        </p:nvSpPr>
        <p:spPr>
          <a:xfrm>
            <a:off x="5577840" y="1783080"/>
            <a:ext cx="3291840" cy="384048"/>
          </a:xfrm>
          <a:prstGeom prst="rect">
            <a:avLst/>
          </a:prstGeom>
          <a:noFill/>
          <a:ln/>
        </p:spPr>
        <p:txBody>
          <a:bodyPr wrap="square" rtlCol="0" anchor="ctr"/>
          <a:lstStyle/>
          <a:p>
            <a:pPr algn="ctr" indent="0" marL="0">
              <a:buNone/>
            </a:pPr>
            <a:r>
              <a:rPr lang="en-US" sz="1200" dirty="0">
                <a:solidFill>
                  <a:srgbClr val="FFFFFF"/>
                </a:solidFill>
              </a:rPr>
              <a:t>consider it Important</a:t>
            </a:r>
            <a:endParaRPr lang="en-US" sz="1200" dirty="0"/>
          </a:p>
          <a:p>
            <a:pPr algn="ctr" indent="0" marL="0">
              <a:buNone/>
            </a:pPr>
            <a:r>
              <a:rPr lang="en-US" sz="1200" dirty="0">
                <a:solidFill>
                  <a:srgbClr val="FFFFFF"/>
                </a:solidFill>
              </a:rPr>
              <a:t>or Extremely Important</a:t>
            </a:r>
            <a:endParaRPr lang="en-US" sz="1200" dirty="0"/>
          </a:p>
        </p:txBody>
      </p:sp>
      <p:sp>
        <p:nvSpPr>
          <p:cNvPr id="9" name="Shape 6"/>
          <p:cNvSpPr/>
          <p:nvPr/>
        </p:nvSpPr>
        <p:spPr>
          <a:xfrm>
            <a:off x="5577840" y="2468880"/>
            <a:ext cx="3291840" cy="96012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0" name="Text 7"/>
          <p:cNvSpPr/>
          <p:nvPr/>
        </p:nvSpPr>
        <p:spPr>
          <a:xfrm>
            <a:off x="5715000" y="2523744"/>
            <a:ext cx="3017520" cy="292608"/>
          </a:xfrm>
          <a:prstGeom prst="rect">
            <a:avLst/>
          </a:prstGeom>
          <a:noFill/>
          <a:ln/>
        </p:spPr>
        <p:txBody>
          <a:bodyPr wrap="square" rtlCol="0" anchor="ctr"/>
          <a:lstStyle/>
          <a:p>
            <a:pPr indent="0" marL="0">
              <a:buNone/>
            </a:pPr>
            <a:r>
              <a:rPr lang="en-US" sz="1300" b="1" dirty="0">
                <a:solidFill>
                  <a:srgbClr val="00B4D8"/>
                </a:solidFill>
              </a:rPr>
              <a:t>Key Insight</a:t>
            </a:r>
            <a:endParaRPr lang="en-US" sz="1300" dirty="0"/>
          </a:p>
        </p:txBody>
      </p:sp>
      <p:sp>
        <p:nvSpPr>
          <p:cNvPr id="11" name="Text 8"/>
          <p:cNvSpPr/>
          <p:nvPr/>
        </p:nvSpPr>
        <p:spPr>
          <a:xfrm>
            <a:off x="5715000" y="2816352"/>
            <a:ext cx="3017520" cy="502920"/>
          </a:xfrm>
          <a:prstGeom prst="rect">
            <a:avLst/>
          </a:prstGeom>
          <a:noFill/>
          <a:ln/>
        </p:spPr>
        <p:txBody>
          <a:bodyPr wrap="square" rtlCol="0" anchor="t"/>
          <a:lstStyle/>
          <a:p>
            <a:pPr indent="0" marL="0">
              <a:lnSpc>
                <a:spcPct val="140000"/>
              </a:lnSpc>
              <a:buNone/>
            </a:pPr>
            <a:r>
              <a:rPr lang="en-US" sz="1150" dirty="0">
                <a:solidFill>
                  <a:srgbClr val="FFFFFF"/>
                </a:solidFill>
                <a:latin typeface="Calibri" pitchFamily="34" charset="0"/>
                <a:ea typeface="Calibri" pitchFamily="34" charset="-122"/>
                <a:cs typeface="Calibri" pitchFamily="34" charset="-120"/>
              </a:rPr>
              <a:t>Despite awareness gaps, there is strong attitudinal readiness — a solid foundation for future awareness programs.</a:t>
            </a:r>
            <a:endParaRPr lang="en-US" sz="1150" dirty="0"/>
          </a:p>
        </p:txBody>
      </p:sp>
      <p:sp>
        <p:nvSpPr>
          <p:cNvPr id="12" name="Shape 9"/>
          <p:cNvSpPr/>
          <p:nvPr/>
        </p:nvSpPr>
        <p:spPr>
          <a:xfrm>
            <a:off x="5577840" y="3611880"/>
            <a:ext cx="3291840" cy="118872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3" name="Text 10"/>
          <p:cNvSpPr/>
          <p:nvPr/>
        </p:nvSpPr>
        <p:spPr>
          <a:xfrm>
            <a:off x="5715000" y="3675888"/>
            <a:ext cx="3017520" cy="292608"/>
          </a:xfrm>
          <a:prstGeom prst="rect">
            <a:avLst/>
          </a:prstGeom>
          <a:noFill/>
          <a:ln/>
        </p:spPr>
        <p:txBody>
          <a:bodyPr wrap="square" rtlCol="0" anchor="ctr"/>
          <a:lstStyle/>
          <a:p>
            <a:pPr indent="0" marL="0">
              <a:buNone/>
            </a:pPr>
            <a:r>
              <a:rPr lang="en-US" sz="1300" b="1" dirty="0">
                <a:solidFill>
                  <a:srgbClr val="10B981"/>
                </a:solidFill>
              </a:rPr>
              <a:t>Opportunity</a:t>
            </a:r>
            <a:endParaRPr lang="en-US" sz="1300" dirty="0"/>
          </a:p>
        </p:txBody>
      </p:sp>
      <p:sp>
        <p:nvSpPr>
          <p:cNvPr id="14" name="Text 11"/>
          <p:cNvSpPr/>
          <p:nvPr/>
        </p:nvSpPr>
        <p:spPr>
          <a:xfrm>
            <a:off x="5715000" y="3977640"/>
            <a:ext cx="3017520" cy="658368"/>
          </a:xfrm>
          <a:prstGeom prst="rect">
            <a:avLst/>
          </a:prstGeom>
          <a:noFill/>
          <a:ln/>
        </p:spPr>
        <p:txBody>
          <a:bodyPr wrap="square" rtlCol="0" anchor="t"/>
          <a:lstStyle/>
          <a:p>
            <a:pPr indent="0" marL="0">
              <a:lnSpc>
                <a:spcPct val="140000"/>
              </a:lnSpc>
              <a:buNone/>
            </a:pPr>
            <a:r>
              <a:rPr lang="en-US" sz="1100" dirty="0">
                <a:solidFill>
                  <a:srgbClr val="FFFFFF"/>
                </a:solidFill>
                <a:latin typeface="Calibri" pitchFamily="34" charset="0"/>
                <a:ea typeface="Calibri" pitchFamily="34" charset="-122"/>
                <a:cs typeface="Calibri" pitchFamily="34" charset="-120"/>
              </a:rPr>
              <a:t>High perceived importance + low current training = community is READY and WILLING to learn if programs are made available.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Summary of Key Statistics</a:t>
            </a:r>
            <a:endParaRPr lang="en-US" sz="3000" dirty="0"/>
          </a:p>
        </p:txBody>
      </p:sp>
      <p:sp>
        <p:nvSpPr>
          <p:cNvPr id="3" name="Shape 1"/>
          <p:cNvSpPr/>
          <p:nvPr/>
        </p:nvSpPr>
        <p:spPr>
          <a:xfrm>
            <a:off x="457200" y="749808"/>
            <a:ext cx="8229600" cy="36576"/>
          </a:xfrm>
          <a:prstGeom prst="rect">
            <a:avLst/>
          </a:prstGeom>
          <a:solidFill>
            <a:srgbClr val="00B4D8"/>
          </a:solidFill>
          <a:ln w="12700">
            <a:solidFill>
              <a:srgbClr val="00B4D8"/>
            </a:solidFill>
            <a:prstDash val="solid"/>
          </a:ln>
        </p:spPr>
      </p:sp>
      <p:sp>
        <p:nvSpPr>
          <p:cNvPr id="4" name="Shape 2"/>
          <p:cNvSpPr/>
          <p:nvPr/>
        </p:nvSpPr>
        <p:spPr>
          <a:xfrm>
            <a:off x="457200" y="960120"/>
            <a:ext cx="2011680" cy="1783080"/>
          </a:xfrm>
          <a:prstGeom prst="rect">
            <a:avLst/>
          </a:prstGeom>
          <a:solidFill>
            <a:srgbClr val="1B3A5C"/>
          </a:solidFill>
          <a:ln w="12700">
            <a:solidFill>
              <a:srgbClr val="EF4444"/>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457200" y="1097280"/>
            <a:ext cx="2011680" cy="685800"/>
          </a:xfrm>
          <a:prstGeom prst="rect">
            <a:avLst/>
          </a:prstGeom>
          <a:noFill/>
          <a:ln/>
        </p:spPr>
        <p:txBody>
          <a:bodyPr wrap="square" rtlCol="0" anchor="ctr"/>
          <a:lstStyle/>
          <a:p>
            <a:pPr algn="ctr" indent="0" marL="0">
              <a:buNone/>
            </a:pPr>
            <a:r>
              <a:rPr lang="en-US" sz="3400" b="1" dirty="0">
                <a:solidFill>
                  <a:srgbClr val="EF4444"/>
                </a:solidFill>
                <a:latin typeface="Calibri" pitchFamily="34" charset="0"/>
                <a:ea typeface="Calibri" pitchFamily="34" charset="-122"/>
                <a:cs typeface="Calibri" pitchFamily="34" charset="-120"/>
              </a:rPr>
              <a:t>48%</a:t>
            </a:r>
            <a:endParaRPr lang="en-US" sz="3400" dirty="0"/>
          </a:p>
        </p:txBody>
      </p:sp>
      <p:sp>
        <p:nvSpPr>
          <p:cNvPr id="6" name="Text 4"/>
          <p:cNvSpPr/>
          <p:nvPr/>
        </p:nvSpPr>
        <p:spPr>
          <a:xfrm>
            <a:off x="548640" y="1828800"/>
            <a:ext cx="1828800" cy="749808"/>
          </a:xfrm>
          <a:prstGeom prst="rect">
            <a:avLst/>
          </a:prstGeom>
          <a:noFill/>
          <a:ln/>
        </p:spPr>
        <p:txBody>
          <a:bodyPr wrap="square" rtlCol="0" anchor="ctr"/>
          <a:lstStyle/>
          <a:p>
            <a:pPr algn="ctr" indent="0" marL="0">
              <a:lnSpc>
                <a:spcPct val="130000"/>
              </a:lnSpc>
              <a:buNone/>
            </a:pPr>
            <a:r>
              <a:rPr lang="en-US" sz="1050" dirty="0">
                <a:solidFill>
                  <a:srgbClr val="FFFFFF"/>
                </a:solidFill>
                <a:latin typeface="Calibri" pitchFamily="34" charset="0"/>
                <a:ea typeface="Calibri" pitchFamily="34" charset="-122"/>
                <a:cs typeface="Calibri" pitchFamily="34" charset="-120"/>
              </a:rPr>
              <a:t>personally experienced</a:t>
            </a:r>
            <a:endParaRPr lang="en-US" sz="1050" dirty="0"/>
          </a:p>
          <a:p>
            <a:pPr algn="ctr" indent="0" marL="0">
              <a:lnSpc>
                <a:spcPct val="130000"/>
              </a:lnSpc>
              <a:buNone/>
            </a:pPr>
            <a:r>
              <a:rPr lang="en-US" sz="1050" dirty="0">
                <a:solidFill>
                  <a:srgbClr val="FFFFFF"/>
                </a:solidFill>
                <a:latin typeface="Calibri" pitchFamily="34" charset="0"/>
                <a:ea typeface="Calibri" pitchFamily="34" charset="-122"/>
                <a:cs typeface="Calibri" pitchFamily="34" charset="-120"/>
              </a:rPr>
              <a:t>a cyber threat</a:t>
            </a:r>
            <a:endParaRPr lang="en-US" sz="1050" dirty="0"/>
          </a:p>
        </p:txBody>
      </p:sp>
      <p:sp>
        <p:nvSpPr>
          <p:cNvPr id="7" name="Shape 5"/>
          <p:cNvSpPr/>
          <p:nvPr/>
        </p:nvSpPr>
        <p:spPr>
          <a:xfrm>
            <a:off x="2633472" y="960120"/>
            <a:ext cx="2011680" cy="1783080"/>
          </a:xfrm>
          <a:prstGeom prst="rect">
            <a:avLst/>
          </a:prstGeom>
          <a:solidFill>
            <a:srgbClr val="1B3A5C"/>
          </a:solidFill>
          <a:ln w="12700">
            <a:solidFill>
              <a:srgbClr val="00B4D8"/>
            </a:solidFill>
            <a:prstDash val="solid"/>
          </a:ln>
          <a:effectLst>
            <a:outerShdw sx="100000" sy="100000" kx="0" ky="0" algn="bl" rotWithShape="0" blurRad="101600" dist="38100" dir="8100000">
              <a:srgbClr val="000000">
                <a:alpha val="18000"/>
              </a:srgbClr>
            </a:outerShdw>
          </a:effectLst>
        </p:spPr>
      </p:sp>
      <p:sp>
        <p:nvSpPr>
          <p:cNvPr id="8" name="Text 6"/>
          <p:cNvSpPr/>
          <p:nvPr/>
        </p:nvSpPr>
        <p:spPr>
          <a:xfrm>
            <a:off x="2633472" y="1097280"/>
            <a:ext cx="2011680" cy="685800"/>
          </a:xfrm>
          <a:prstGeom prst="rect">
            <a:avLst/>
          </a:prstGeom>
          <a:noFill/>
          <a:ln/>
        </p:spPr>
        <p:txBody>
          <a:bodyPr wrap="square" rtlCol="0" anchor="ctr"/>
          <a:lstStyle/>
          <a:p>
            <a:pPr algn="ctr" indent="0" marL="0">
              <a:buNone/>
            </a:pPr>
            <a:r>
              <a:rPr lang="en-US" sz="3400" b="1" dirty="0">
                <a:solidFill>
                  <a:srgbClr val="00B4D8"/>
                </a:solidFill>
                <a:latin typeface="Calibri" pitchFamily="34" charset="0"/>
                <a:ea typeface="Calibri" pitchFamily="34" charset="-122"/>
                <a:cs typeface="Calibri" pitchFamily="34" charset="-120"/>
              </a:rPr>
              <a:t>80%</a:t>
            </a:r>
            <a:endParaRPr lang="en-US" sz="3400" dirty="0"/>
          </a:p>
        </p:txBody>
      </p:sp>
      <p:sp>
        <p:nvSpPr>
          <p:cNvPr id="9" name="Text 7"/>
          <p:cNvSpPr/>
          <p:nvPr/>
        </p:nvSpPr>
        <p:spPr>
          <a:xfrm>
            <a:off x="2724912" y="1828800"/>
            <a:ext cx="1828800" cy="749808"/>
          </a:xfrm>
          <a:prstGeom prst="rect">
            <a:avLst/>
          </a:prstGeom>
          <a:noFill/>
          <a:ln/>
        </p:spPr>
        <p:txBody>
          <a:bodyPr wrap="square" rtlCol="0" anchor="ctr"/>
          <a:lstStyle/>
          <a:p>
            <a:pPr algn="ctr" indent="0" marL="0">
              <a:lnSpc>
                <a:spcPct val="130000"/>
              </a:lnSpc>
              <a:buNone/>
            </a:pPr>
            <a:r>
              <a:rPr lang="en-US" sz="1050" dirty="0">
                <a:solidFill>
                  <a:srgbClr val="FFFFFF"/>
                </a:solidFill>
                <a:latin typeface="Calibri" pitchFamily="34" charset="0"/>
                <a:ea typeface="Calibri" pitchFamily="34" charset="-122"/>
                <a:cs typeface="Calibri" pitchFamily="34" charset="-120"/>
              </a:rPr>
              <a:t>use internet daily or</a:t>
            </a:r>
            <a:endParaRPr lang="en-US" sz="1050" dirty="0"/>
          </a:p>
          <a:p>
            <a:pPr algn="ctr" indent="0" marL="0">
              <a:lnSpc>
                <a:spcPct val="130000"/>
              </a:lnSpc>
              <a:buNone/>
            </a:pPr>
            <a:r>
              <a:rPr lang="en-US" sz="1050" dirty="0">
                <a:solidFill>
                  <a:srgbClr val="FFFFFF"/>
                </a:solidFill>
                <a:latin typeface="Calibri" pitchFamily="34" charset="0"/>
                <a:ea typeface="Calibri" pitchFamily="34" charset="-122"/>
                <a:cs typeface="Calibri" pitchFamily="34" charset="-120"/>
              </a:rPr>
              <a:t>multiple times/day</a:t>
            </a:r>
            <a:endParaRPr lang="en-US" sz="1050" dirty="0"/>
          </a:p>
        </p:txBody>
      </p:sp>
      <p:sp>
        <p:nvSpPr>
          <p:cNvPr id="10" name="Shape 8"/>
          <p:cNvSpPr/>
          <p:nvPr/>
        </p:nvSpPr>
        <p:spPr>
          <a:xfrm>
            <a:off x="4809744" y="960120"/>
            <a:ext cx="2011680" cy="1783080"/>
          </a:xfrm>
          <a:prstGeom prst="rect">
            <a:avLst/>
          </a:prstGeom>
          <a:solidFill>
            <a:srgbClr val="1B3A5C"/>
          </a:solidFill>
          <a:ln w="12700">
            <a:solidFill>
              <a:srgbClr val="F59E0B"/>
            </a:solidFill>
            <a:prstDash val="solid"/>
          </a:ln>
          <a:effectLst>
            <a:outerShdw sx="100000" sy="100000" kx="0" ky="0" algn="bl" rotWithShape="0" blurRad="101600" dist="38100" dir="8100000">
              <a:srgbClr val="000000">
                <a:alpha val="18000"/>
              </a:srgbClr>
            </a:outerShdw>
          </a:effectLst>
        </p:spPr>
      </p:sp>
      <p:sp>
        <p:nvSpPr>
          <p:cNvPr id="11" name="Text 9"/>
          <p:cNvSpPr/>
          <p:nvPr/>
        </p:nvSpPr>
        <p:spPr>
          <a:xfrm>
            <a:off x="4809744" y="1097280"/>
            <a:ext cx="2011680" cy="685800"/>
          </a:xfrm>
          <a:prstGeom prst="rect">
            <a:avLst/>
          </a:prstGeom>
          <a:noFill/>
          <a:ln/>
        </p:spPr>
        <p:txBody>
          <a:bodyPr wrap="square" rtlCol="0" anchor="ctr"/>
          <a:lstStyle/>
          <a:p>
            <a:pPr algn="ctr" indent="0" marL="0">
              <a:buNone/>
            </a:pPr>
            <a:r>
              <a:rPr lang="en-US" sz="3400" b="1" dirty="0">
                <a:solidFill>
                  <a:srgbClr val="F59E0B"/>
                </a:solidFill>
                <a:latin typeface="Calibri" pitchFamily="34" charset="0"/>
                <a:ea typeface="Calibri" pitchFamily="34" charset="-122"/>
                <a:cs typeface="Calibri" pitchFamily="34" charset="-120"/>
              </a:rPr>
              <a:t>78%</a:t>
            </a:r>
            <a:endParaRPr lang="en-US" sz="3400" dirty="0"/>
          </a:p>
        </p:txBody>
      </p:sp>
      <p:sp>
        <p:nvSpPr>
          <p:cNvPr id="12" name="Text 10"/>
          <p:cNvSpPr/>
          <p:nvPr/>
        </p:nvSpPr>
        <p:spPr>
          <a:xfrm>
            <a:off x="4901184" y="1828800"/>
            <a:ext cx="1828800" cy="749808"/>
          </a:xfrm>
          <a:prstGeom prst="rect">
            <a:avLst/>
          </a:prstGeom>
          <a:noFill/>
          <a:ln/>
        </p:spPr>
        <p:txBody>
          <a:bodyPr wrap="square" rtlCol="0" anchor="ctr"/>
          <a:lstStyle/>
          <a:p>
            <a:pPr algn="ctr" indent="0" marL="0">
              <a:lnSpc>
                <a:spcPct val="130000"/>
              </a:lnSpc>
              <a:buNone/>
            </a:pPr>
            <a:r>
              <a:rPr lang="en-US" sz="1050" dirty="0">
                <a:solidFill>
                  <a:srgbClr val="FFFFFF"/>
                </a:solidFill>
                <a:latin typeface="Calibri" pitchFamily="34" charset="0"/>
                <a:ea typeface="Calibri" pitchFamily="34" charset="-122"/>
                <a:cs typeface="Calibri" pitchFamily="34" charset="-120"/>
              </a:rPr>
              <a:t>use weak passwords</a:t>
            </a:r>
            <a:endParaRPr lang="en-US" sz="1050" dirty="0"/>
          </a:p>
          <a:p>
            <a:pPr algn="ctr" indent="0" marL="0">
              <a:lnSpc>
                <a:spcPct val="130000"/>
              </a:lnSpc>
              <a:buNone/>
            </a:pPr>
            <a:r>
              <a:rPr lang="en-US" sz="1050" dirty="0">
                <a:solidFill>
                  <a:srgbClr val="FFFFFF"/>
                </a:solidFill>
                <a:latin typeface="Calibri" pitchFamily="34" charset="0"/>
                <a:ea typeface="Calibri" pitchFamily="34" charset="-122"/>
                <a:cs typeface="Calibri" pitchFamily="34" charset="-120"/>
              </a:rPr>
              <a:t>or reuse them</a:t>
            </a:r>
            <a:endParaRPr lang="en-US" sz="1050" dirty="0"/>
          </a:p>
        </p:txBody>
      </p:sp>
      <p:sp>
        <p:nvSpPr>
          <p:cNvPr id="13" name="Shape 11"/>
          <p:cNvSpPr/>
          <p:nvPr/>
        </p:nvSpPr>
        <p:spPr>
          <a:xfrm>
            <a:off x="6986016" y="960120"/>
            <a:ext cx="2011680" cy="1783080"/>
          </a:xfrm>
          <a:prstGeom prst="rect">
            <a:avLst/>
          </a:prstGeom>
          <a:solidFill>
            <a:srgbClr val="1B3A5C"/>
          </a:solidFill>
          <a:ln w="12700">
            <a:solidFill>
              <a:srgbClr val="F59E0B"/>
            </a:solidFill>
            <a:prstDash val="solid"/>
          </a:ln>
          <a:effectLst>
            <a:outerShdw sx="100000" sy="100000" kx="0" ky="0" algn="bl" rotWithShape="0" blurRad="101600" dist="38100" dir="8100000">
              <a:srgbClr val="000000">
                <a:alpha val="18000"/>
              </a:srgbClr>
            </a:outerShdw>
          </a:effectLst>
        </p:spPr>
      </p:sp>
      <p:sp>
        <p:nvSpPr>
          <p:cNvPr id="14" name="Text 12"/>
          <p:cNvSpPr/>
          <p:nvPr/>
        </p:nvSpPr>
        <p:spPr>
          <a:xfrm>
            <a:off x="6986016" y="1097280"/>
            <a:ext cx="2011680" cy="685800"/>
          </a:xfrm>
          <a:prstGeom prst="rect">
            <a:avLst/>
          </a:prstGeom>
          <a:noFill/>
          <a:ln/>
        </p:spPr>
        <p:txBody>
          <a:bodyPr wrap="square" rtlCol="0" anchor="ctr"/>
          <a:lstStyle/>
          <a:p>
            <a:pPr algn="ctr" indent="0" marL="0">
              <a:buNone/>
            </a:pPr>
            <a:r>
              <a:rPr lang="en-US" sz="3400" b="1" dirty="0">
                <a:solidFill>
                  <a:srgbClr val="F59E0B"/>
                </a:solidFill>
                <a:latin typeface="Calibri" pitchFamily="34" charset="0"/>
                <a:ea typeface="Calibri" pitchFamily="34" charset="-122"/>
                <a:cs typeface="Calibri" pitchFamily="34" charset="-120"/>
              </a:rPr>
              <a:t>58%</a:t>
            </a:r>
            <a:endParaRPr lang="en-US" sz="3400" dirty="0"/>
          </a:p>
        </p:txBody>
      </p:sp>
      <p:sp>
        <p:nvSpPr>
          <p:cNvPr id="15" name="Text 13"/>
          <p:cNvSpPr/>
          <p:nvPr/>
        </p:nvSpPr>
        <p:spPr>
          <a:xfrm>
            <a:off x="7077456" y="1828800"/>
            <a:ext cx="1828800" cy="749808"/>
          </a:xfrm>
          <a:prstGeom prst="rect">
            <a:avLst/>
          </a:prstGeom>
          <a:noFill/>
          <a:ln/>
        </p:spPr>
        <p:txBody>
          <a:bodyPr wrap="square" rtlCol="0" anchor="ctr"/>
          <a:lstStyle/>
          <a:p>
            <a:pPr algn="ctr" indent="0" marL="0">
              <a:lnSpc>
                <a:spcPct val="130000"/>
              </a:lnSpc>
              <a:buNone/>
            </a:pPr>
            <a:r>
              <a:rPr lang="en-US" sz="1050" dirty="0">
                <a:solidFill>
                  <a:srgbClr val="FFFFFF"/>
                </a:solidFill>
                <a:latin typeface="Calibri" pitchFamily="34" charset="0"/>
                <a:ea typeface="Calibri" pitchFamily="34" charset="-122"/>
                <a:cs typeface="Calibri" pitchFamily="34" charset="-120"/>
              </a:rPr>
              <a:t>use antivirus</a:t>
            </a:r>
            <a:endParaRPr lang="en-US" sz="1050" dirty="0"/>
          </a:p>
          <a:p>
            <a:pPr algn="ctr" indent="0" marL="0">
              <a:lnSpc>
                <a:spcPct val="130000"/>
              </a:lnSpc>
              <a:buNone/>
            </a:pPr>
            <a:r>
              <a:rPr lang="en-US" sz="1050" dirty="0">
                <a:solidFill>
                  <a:srgbClr val="FFFFFF"/>
                </a:solidFill>
                <a:latin typeface="Calibri" pitchFamily="34" charset="0"/>
                <a:ea typeface="Calibri" pitchFamily="34" charset="-122"/>
                <a:cs typeface="Calibri" pitchFamily="34" charset="-120"/>
              </a:rPr>
              <a:t>inconsistently/not at all</a:t>
            </a:r>
            <a:endParaRPr lang="en-US" sz="1050" dirty="0"/>
          </a:p>
        </p:txBody>
      </p:sp>
      <p:sp>
        <p:nvSpPr>
          <p:cNvPr id="16" name="Shape 14"/>
          <p:cNvSpPr/>
          <p:nvPr/>
        </p:nvSpPr>
        <p:spPr>
          <a:xfrm>
            <a:off x="457200" y="2898648"/>
            <a:ext cx="2011680" cy="1783080"/>
          </a:xfrm>
          <a:prstGeom prst="rect">
            <a:avLst/>
          </a:prstGeom>
          <a:solidFill>
            <a:srgbClr val="1B3A5C"/>
          </a:solidFill>
          <a:ln w="12700">
            <a:solidFill>
              <a:srgbClr val="EF4444"/>
            </a:solidFill>
            <a:prstDash val="solid"/>
          </a:ln>
          <a:effectLst>
            <a:outerShdw sx="100000" sy="100000" kx="0" ky="0" algn="bl" rotWithShape="0" blurRad="101600" dist="38100" dir="8100000">
              <a:srgbClr val="000000">
                <a:alpha val="18000"/>
              </a:srgbClr>
            </a:outerShdw>
          </a:effectLst>
        </p:spPr>
      </p:sp>
      <p:sp>
        <p:nvSpPr>
          <p:cNvPr id="17" name="Text 15"/>
          <p:cNvSpPr/>
          <p:nvPr/>
        </p:nvSpPr>
        <p:spPr>
          <a:xfrm>
            <a:off x="457200" y="3035808"/>
            <a:ext cx="2011680" cy="685800"/>
          </a:xfrm>
          <a:prstGeom prst="rect">
            <a:avLst/>
          </a:prstGeom>
          <a:noFill/>
          <a:ln/>
        </p:spPr>
        <p:txBody>
          <a:bodyPr wrap="square" rtlCol="0" anchor="ctr"/>
          <a:lstStyle/>
          <a:p>
            <a:pPr algn="ctr" indent="0" marL="0">
              <a:buNone/>
            </a:pPr>
            <a:r>
              <a:rPr lang="en-US" sz="3400" b="1" dirty="0">
                <a:solidFill>
                  <a:srgbClr val="EF4444"/>
                </a:solidFill>
                <a:latin typeface="Calibri" pitchFamily="34" charset="0"/>
                <a:ea typeface="Calibri" pitchFamily="34" charset="-122"/>
                <a:cs typeface="Calibri" pitchFamily="34" charset="-120"/>
              </a:rPr>
              <a:t>70%</a:t>
            </a:r>
            <a:endParaRPr lang="en-US" sz="3400" dirty="0"/>
          </a:p>
        </p:txBody>
      </p:sp>
      <p:sp>
        <p:nvSpPr>
          <p:cNvPr id="18" name="Text 16"/>
          <p:cNvSpPr/>
          <p:nvPr/>
        </p:nvSpPr>
        <p:spPr>
          <a:xfrm>
            <a:off x="548640" y="3767328"/>
            <a:ext cx="1828800" cy="749808"/>
          </a:xfrm>
          <a:prstGeom prst="rect">
            <a:avLst/>
          </a:prstGeom>
          <a:noFill/>
          <a:ln/>
        </p:spPr>
        <p:txBody>
          <a:bodyPr wrap="square" rtlCol="0" anchor="ctr"/>
          <a:lstStyle/>
          <a:p>
            <a:pPr algn="ctr" indent="0" marL="0">
              <a:lnSpc>
                <a:spcPct val="130000"/>
              </a:lnSpc>
              <a:buNone/>
            </a:pPr>
            <a:r>
              <a:rPr lang="en-US" sz="1050" dirty="0">
                <a:solidFill>
                  <a:srgbClr val="FFFFFF"/>
                </a:solidFill>
                <a:latin typeface="Calibri" pitchFamily="34" charset="0"/>
                <a:ea typeface="Calibri" pitchFamily="34" charset="-122"/>
                <a:cs typeface="Calibri" pitchFamily="34" charset="-120"/>
              </a:rPr>
              <a:t>lack full phishing</a:t>
            </a:r>
            <a:endParaRPr lang="en-US" sz="1050" dirty="0"/>
          </a:p>
          <a:p>
            <a:pPr algn="ctr" indent="0" marL="0">
              <a:lnSpc>
                <a:spcPct val="130000"/>
              </a:lnSpc>
              <a:buNone/>
            </a:pPr>
            <a:r>
              <a:rPr lang="en-US" sz="1050" dirty="0">
                <a:solidFill>
                  <a:srgbClr val="FFFFFF"/>
                </a:solidFill>
                <a:latin typeface="Calibri" pitchFamily="34" charset="0"/>
                <a:ea typeface="Calibri" pitchFamily="34" charset="-122"/>
                <a:cs typeface="Calibri" pitchFamily="34" charset="-120"/>
              </a:rPr>
              <a:t>awareness</a:t>
            </a:r>
            <a:endParaRPr lang="en-US" sz="1050" dirty="0"/>
          </a:p>
        </p:txBody>
      </p:sp>
      <p:sp>
        <p:nvSpPr>
          <p:cNvPr id="19" name="Shape 17"/>
          <p:cNvSpPr/>
          <p:nvPr/>
        </p:nvSpPr>
        <p:spPr>
          <a:xfrm>
            <a:off x="2633472" y="2898648"/>
            <a:ext cx="2011680" cy="1783080"/>
          </a:xfrm>
          <a:prstGeom prst="rect">
            <a:avLst/>
          </a:prstGeom>
          <a:solidFill>
            <a:srgbClr val="1B3A5C"/>
          </a:solidFill>
          <a:ln w="12700">
            <a:solidFill>
              <a:srgbClr val="EF4444"/>
            </a:solidFill>
            <a:prstDash val="solid"/>
          </a:ln>
          <a:effectLst>
            <a:outerShdw sx="100000" sy="100000" kx="0" ky="0" algn="bl" rotWithShape="0" blurRad="101600" dist="38100" dir="8100000">
              <a:srgbClr val="000000">
                <a:alpha val="18000"/>
              </a:srgbClr>
            </a:outerShdw>
          </a:effectLst>
        </p:spPr>
      </p:sp>
      <p:sp>
        <p:nvSpPr>
          <p:cNvPr id="20" name="Text 18"/>
          <p:cNvSpPr/>
          <p:nvPr/>
        </p:nvSpPr>
        <p:spPr>
          <a:xfrm>
            <a:off x="2633472" y="3035808"/>
            <a:ext cx="2011680" cy="685800"/>
          </a:xfrm>
          <a:prstGeom prst="rect">
            <a:avLst/>
          </a:prstGeom>
          <a:noFill/>
          <a:ln/>
        </p:spPr>
        <p:txBody>
          <a:bodyPr wrap="square" rtlCol="0" anchor="ctr"/>
          <a:lstStyle/>
          <a:p>
            <a:pPr algn="ctr" indent="0" marL="0">
              <a:buNone/>
            </a:pPr>
            <a:r>
              <a:rPr lang="en-US" sz="3400" b="1" dirty="0">
                <a:solidFill>
                  <a:srgbClr val="EF4444"/>
                </a:solidFill>
                <a:latin typeface="Calibri" pitchFamily="34" charset="0"/>
                <a:ea typeface="Calibri" pitchFamily="34" charset="-122"/>
                <a:cs typeface="Calibri" pitchFamily="34" charset="-120"/>
              </a:rPr>
              <a:t>80%</a:t>
            </a:r>
            <a:endParaRPr lang="en-US" sz="3400" dirty="0"/>
          </a:p>
        </p:txBody>
      </p:sp>
      <p:sp>
        <p:nvSpPr>
          <p:cNvPr id="21" name="Text 19"/>
          <p:cNvSpPr/>
          <p:nvPr/>
        </p:nvSpPr>
        <p:spPr>
          <a:xfrm>
            <a:off x="2724912" y="3767328"/>
            <a:ext cx="1828800" cy="749808"/>
          </a:xfrm>
          <a:prstGeom prst="rect">
            <a:avLst/>
          </a:prstGeom>
          <a:noFill/>
          <a:ln/>
        </p:spPr>
        <p:txBody>
          <a:bodyPr wrap="square" rtlCol="0" anchor="ctr"/>
          <a:lstStyle/>
          <a:p>
            <a:pPr algn="ctr" indent="0" marL="0">
              <a:lnSpc>
                <a:spcPct val="130000"/>
              </a:lnSpc>
              <a:buNone/>
            </a:pPr>
            <a:r>
              <a:rPr lang="en-US" sz="1050" dirty="0">
                <a:solidFill>
                  <a:srgbClr val="FFFFFF"/>
                </a:solidFill>
                <a:latin typeface="Calibri" pitchFamily="34" charset="0"/>
                <a:ea typeface="Calibri" pitchFamily="34" charset="-122"/>
                <a:cs typeface="Calibri" pitchFamily="34" charset="-120"/>
              </a:rPr>
              <a:t>have no formal</a:t>
            </a:r>
            <a:endParaRPr lang="en-US" sz="1050" dirty="0"/>
          </a:p>
          <a:p>
            <a:pPr algn="ctr" indent="0" marL="0">
              <a:lnSpc>
                <a:spcPct val="130000"/>
              </a:lnSpc>
              <a:buNone/>
            </a:pPr>
            <a:r>
              <a:rPr lang="en-US" sz="1050" dirty="0">
                <a:solidFill>
                  <a:srgbClr val="FFFFFF"/>
                </a:solidFill>
                <a:latin typeface="Calibri" pitchFamily="34" charset="0"/>
                <a:ea typeface="Calibri" pitchFamily="34" charset="-122"/>
                <a:cs typeface="Calibri" pitchFamily="34" charset="-120"/>
              </a:rPr>
              <a:t>cybersecurity training</a:t>
            </a:r>
            <a:endParaRPr lang="en-US" sz="1050" dirty="0"/>
          </a:p>
        </p:txBody>
      </p:sp>
      <p:sp>
        <p:nvSpPr>
          <p:cNvPr id="22" name="Shape 20"/>
          <p:cNvSpPr/>
          <p:nvPr/>
        </p:nvSpPr>
        <p:spPr>
          <a:xfrm>
            <a:off x="4809744" y="2898648"/>
            <a:ext cx="2011680" cy="1783080"/>
          </a:xfrm>
          <a:prstGeom prst="rect">
            <a:avLst/>
          </a:prstGeom>
          <a:solidFill>
            <a:srgbClr val="1B3A5C"/>
          </a:solidFill>
          <a:ln w="12700">
            <a:solidFill>
              <a:srgbClr val="F59E0B"/>
            </a:solidFill>
            <a:prstDash val="solid"/>
          </a:ln>
          <a:effectLst>
            <a:outerShdw sx="100000" sy="100000" kx="0" ky="0" algn="bl" rotWithShape="0" blurRad="101600" dist="38100" dir="8100000">
              <a:srgbClr val="000000">
                <a:alpha val="18000"/>
              </a:srgbClr>
            </a:outerShdw>
          </a:effectLst>
        </p:spPr>
      </p:sp>
      <p:sp>
        <p:nvSpPr>
          <p:cNvPr id="23" name="Text 21"/>
          <p:cNvSpPr/>
          <p:nvPr/>
        </p:nvSpPr>
        <p:spPr>
          <a:xfrm>
            <a:off x="4809744" y="3035808"/>
            <a:ext cx="2011680" cy="685800"/>
          </a:xfrm>
          <a:prstGeom prst="rect">
            <a:avLst/>
          </a:prstGeom>
          <a:noFill/>
          <a:ln/>
        </p:spPr>
        <p:txBody>
          <a:bodyPr wrap="square" rtlCol="0" anchor="ctr"/>
          <a:lstStyle/>
          <a:p>
            <a:pPr algn="ctr" indent="0" marL="0">
              <a:buNone/>
            </a:pPr>
            <a:r>
              <a:rPr lang="en-US" sz="3400" b="1" dirty="0">
                <a:solidFill>
                  <a:srgbClr val="F59E0B"/>
                </a:solidFill>
                <a:latin typeface="Calibri" pitchFamily="34" charset="0"/>
                <a:ea typeface="Calibri" pitchFamily="34" charset="-122"/>
                <a:cs typeface="Calibri" pitchFamily="34" charset="-120"/>
              </a:rPr>
              <a:t>53%</a:t>
            </a:r>
            <a:endParaRPr lang="en-US" sz="3400" dirty="0"/>
          </a:p>
        </p:txBody>
      </p:sp>
      <p:sp>
        <p:nvSpPr>
          <p:cNvPr id="24" name="Text 22"/>
          <p:cNvSpPr/>
          <p:nvPr/>
        </p:nvSpPr>
        <p:spPr>
          <a:xfrm>
            <a:off x="4901184" y="3767328"/>
            <a:ext cx="1828800" cy="749808"/>
          </a:xfrm>
          <a:prstGeom prst="rect">
            <a:avLst/>
          </a:prstGeom>
          <a:noFill/>
          <a:ln/>
        </p:spPr>
        <p:txBody>
          <a:bodyPr wrap="square" rtlCol="0" anchor="ctr"/>
          <a:lstStyle/>
          <a:p>
            <a:pPr algn="ctr" indent="0" marL="0">
              <a:lnSpc>
                <a:spcPct val="130000"/>
              </a:lnSpc>
              <a:buNone/>
            </a:pPr>
            <a:r>
              <a:rPr lang="en-US" sz="1050" dirty="0">
                <a:solidFill>
                  <a:srgbClr val="FFFFFF"/>
                </a:solidFill>
                <a:latin typeface="Calibri" pitchFamily="34" charset="0"/>
                <a:ea typeface="Calibri" pitchFamily="34" charset="-122"/>
                <a:cs typeface="Calibri" pitchFamily="34" charset="-120"/>
              </a:rPr>
              <a:t>share personal info</a:t>
            </a:r>
            <a:endParaRPr lang="en-US" sz="1050" dirty="0"/>
          </a:p>
          <a:p>
            <a:pPr algn="ctr" indent="0" marL="0">
              <a:lnSpc>
                <a:spcPct val="130000"/>
              </a:lnSpc>
              <a:buNone/>
            </a:pPr>
            <a:r>
              <a:rPr lang="en-US" sz="1050" dirty="0">
                <a:solidFill>
                  <a:srgbClr val="FFFFFF"/>
                </a:solidFill>
                <a:latin typeface="Calibri" pitchFamily="34" charset="0"/>
                <a:ea typeface="Calibri" pitchFamily="34" charset="-122"/>
                <a:cs typeface="Calibri" pitchFamily="34" charset="-120"/>
              </a:rPr>
              <a:t>online sometimes+</a:t>
            </a:r>
            <a:endParaRPr lang="en-US" sz="1050" dirty="0"/>
          </a:p>
        </p:txBody>
      </p:sp>
      <p:sp>
        <p:nvSpPr>
          <p:cNvPr id="25" name="Shape 23"/>
          <p:cNvSpPr/>
          <p:nvPr/>
        </p:nvSpPr>
        <p:spPr>
          <a:xfrm>
            <a:off x="6986016" y="2898648"/>
            <a:ext cx="2011680" cy="1783080"/>
          </a:xfrm>
          <a:prstGeom prst="rect">
            <a:avLst/>
          </a:prstGeom>
          <a:solidFill>
            <a:srgbClr val="1B3A5C"/>
          </a:solidFill>
          <a:ln w="12700">
            <a:solidFill>
              <a:srgbClr val="10B981"/>
            </a:solidFill>
            <a:prstDash val="solid"/>
          </a:ln>
          <a:effectLst>
            <a:outerShdw sx="100000" sy="100000" kx="0" ky="0" algn="bl" rotWithShape="0" blurRad="101600" dist="38100" dir="8100000">
              <a:srgbClr val="000000">
                <a:alpha val="18000"/>
              </a:srgbClr>
            </a:outerShdw>
          </a:effectLst>
        </p:spPr>
      </p:sp>
      <p:sp>
        <p:nvSpPr>
          <p:cNvPr id="26" name="Text 24"/>
          <p:cNvSpPr/>
          <p:nvPr/>
        </p:nvSpPr>
        <p:spPr>
          <a:xfrm>
            <a:off x="6986016" y="3035808"/>
            <a:ext cx="2011680" cy="685800"/>
          </a:xfrm>
          <a:prstGeom prst="rect">
            <a:avLst/>
          </a:prstGeom>
          <a:noFill/>
          <a:ln/>
        </p:spPr>
        <p:txBody>
          <a:bodyPr wrap="square" rtlCol="0" anchor="ctr"/>
          <a:lstStyle/>
          <a:p>
            <a:pPr algn="ctr" indent="0" marL="0">
              <a:buNone/>
            </a:pPr>
            <a:r>
              <a:rPr lang="en-US" sz="3400" b="1" dirty="0">
                <a:solidFill>
                  <a:srgbClr val="10B981"/>
                </a:solidFill>
                <a:latin typeface="Calibri" pitchFamily="34" charset="0"/>
                <a:ea typeface="Calibri" pitchFamily="34" charset="-122"/>
                <a:cs typeface="Calibri" pitchFamily="34" charset="-120"/>
              </a:rPr>
              <a:t>90%</a:t>
            </a:r>
            <a:endParaRPr lang="en-US" sz="3400" dirty="0"/>
          </a:p>
        </p:txBody>
      </p:sp>
      <p:sp>
        <p:nvSpPr>
          <p:cNvPr id="27" name="Text 25"/>
          <p:cNvSpPr/>
          <p:nvPr/>
        </p:nvSpPr>
        <p:spPr>
          <a:xfrm>
            <a:off x="7077456" y="3767328"/>
            <a:ext cx="1828800" cy="749808"/>
          </a:xfrm>
          <a:prstGeom prst="rect">
            <a:avLst/>
          </a:prstGeom>
          <a:noFill/>
          <a:ln/>
        </p:spPr>
        <p:txBody>
          <a:bodyPr wrap="square" rtlCol="0" anchor="ctr"/>
          <a:lstStyle/>
          <a:p>
            <a:pPr algn="ctr" indent="0" marL="0">
              <a:lnSpc>
                <a:spcPct val="130000"/>
              </a:lnSpc>
              <a:buNone/>
            </a:pPr>
            <a:r>
              <a:rPr lang="en-US" sz="1050" dirty="0">
                <a:solidFill>
                  <a:srgbClr val="FFFFFF"/>
                </a:solidFill>
                <a:latin typeface="Calibri" pitchFamily="34" charset="0"/>
                <a:ea typeface="Calibri" pitchFamily="34" charset="-122"/>
                <a:cs typeface="Calibri" pitchFamily="34" charset="-120"/>
              </a:rPr>
              <a:t>agree cybersecurity</a:t>
            </a:r>
            <a:endParaRPr lang="en-US" sz="1050" dirty="0"/>
          </a:p>
          <a:p>
            <a:pPr algn="ctr" indent="0" marL="0">
              <a:lnSpc>
                <a:spcPct val="130000"/>
              </a:lnSpc>
              <a:buNone/>
            </a:pPr>
            <a:r>
              <a:rPr lang="en-US" sz="1050" dirty="0">
                <a:solidFill>
                  <a:srgbClr val="FFFFFF"/>
                </a:solidFill>
                <a:latin typeface="Calibri" pitchFamily="34" charset="0"/>
                <a:ea typeface="Calibri" pitchFamily="34" charset="-122"/>
                <a:cs typeface="Calibri" pitchFamily="34" charset="-120"/>
              </a:rPr>
              <a:t>awareness is important</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0F7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Recommendations – Education &amp; Awareness</a:t>
            </a:r>
            <a:endParaRPr lang="en-US" sz="3000" dirty="0"/>
          </a:p>
        </p:txBody>
      </p:sp>
      <p:sp>
        <p:nvSpPr>
          <p:cNvPr id="3" name="Shape 1"/>
          <p:cNvSpPr/>
          <p:nvPr/>
        </p:nvSpPr>
        <p:spPr>
          <a:xfrm>
            <a:off x="457200" y="749808"/>
            <a:ext cx="8229600" cy="36576"/>
          </a:xfrm>
          <a:prstGeom prst="rect">
            <a:avLst/>
          </a:prstGeom>
          <a:solidFill>
            <a:srgbClr val="CBD5E1"/>
          </a:solidFill>
          <a:ln w="12700">
            <a:solidFill>
              <a:srgbClr val="CBD5E1"/>
            </a:solidFill>
            <a:prstDash val="solid"/>
          </a:ln>
        </p:spPr>
      </p:sp>
      <p:sp>
        <p:nvSpPr>
          <p:cNvPr id="4" name="Shape 2"/>
          <p:cNvSpPr/>
          <p:nvPr/>
        </p:nvSpPr>
        <p:spPr>
          <a:xfrm>
            <a:off x="457200" y="960120"/>
            <a:ext cx="4114800" cy="18288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548640" y="1097280"/>
            <a:ext cx="594360" cy="6858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1207008" y="1069848"/>
            <a:ext cx="3246120" cy="365760"/>
          </a:xfrm>
          <a:prstGeom prst="rect">
            <a:avLst/>
          </a:prstGeom>
          <a:noFill/>
          <a:ln/>
        </p:spPr>
        <p:txBody>
          <a:bodyPr wrap="square" rtlCol="0" anchor="ctr"/>
          <a:lstStyle/>
          <a:p>
            <a:pPr indent="0" marL="0">
              <a:buNone/>
            </a:pPr>
            <a:r>
              <a:rPr lang="en-US" sz="1300" b="1" dirty="0">
                <a:solidFill>
                  <a:srgbClr val="1B3A5C"/>
                </a:solidFill>
              </a:rPr>
              <a:t>Integrate into Curricula</a:t>
            </a:r>
            <a:endParaRPr lang="en-US" sz="1300" dirty="0"/>
          </a:p>
        </p:txBody>
      </p:sp>
      <p:sp>
        <p:nvSpPr>
          <p:cNvPr id="7" name="Text 5"/>
          <p:cNvSpPr/>
          <p:nvPr/>
        </p:nvSpPr>
        <p:spPr>
          <a:xfrm>
            <a:off x="1207008" y="1490472"/>
            <a:ext cx="3246120" cy="1143000"/>
          </a:xfrm>
          <a:prstGeom prst="rect">
            <a:avLst/>
          </a:prstGeom>
          <a:noFill/>
          <a:ln/>
        </p:spPr>
        <p:txBody>
          <a:bodyPr wrap="square" rtlCol="0" anchor="t"/>
          <a:lstStyle/>
          <a:p>
            <a:pPr indent="0" marL="0">
              <a:lnSpc>
                <a:spcPct val="140000"/>
              </a:lnSpc>
              <a:buNone/>
            </a:pPr>
            <a:r>
              <a:rPr lang="en-US" sz="1200" dirty="0">
                <a:solidFill>
                  <a:srgbClr val="1E293B"/>
                </a:solidFill>
                <a:latin typeface="Calibri" pitchFamily="34" charset="0"/>
                <a:ea typeface="Calibri" pitchFamily="34" charset="-122"/>
                <a:cs typeface="Calibri" pitchFamily="34" charset="-120"/>
              </a:rPr>
              <a:t>Add cybersecurity modules to school and college Computer Science subjects. Cover password safety, phishing identification, privacy settings.</a:t>
            </a:r>
            <a:endParaRPr lang="en-US" sz="1200" dirty="0"/>
          </a:p>
        </p:txBody>
      </p:sp>
      <p:sp>
        <p:nvSpPr>
          <p:cNvPr id="8" name="Shape 6"/>
          <p:cNvSpPr/>
          <p:nvPr/>
        </p:nvSpPr>
        <p:spPr>
          <a:xfrm>
            <a:off x="4846320" y="960120"/>
            <a:ext cx="4114800" cy="18288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9" name="Text 7"/>
          <p:cNvSpPr/>
          <p:nvPr/>
        </p:nvSpPr>
        <p:spPr>
          <a:xfrm>
            <a:off x="4937760" y="1097280"/>
            <a:ext cx="594360" cy="6858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5596128" y="1069848"/>
            <a:ext cx="3246120" cy="365760"/>
          </a:xfrm>
          <a:prstGeom prst="rect">
            <a:avLst/>
          </a:prstGeom>
          <a:noFill/>
          <a:ln/>
        </p:spPr>
        <p:txBody>
          <a:bodyPr wrap="square" rtlCol="0" anchor="ctr"/>
          <a:lstStyle/>
          <a:p>
            <a:pPr indent="0" marL="0">
              <a:buNone/>
            </a:pPr>
            <a:r>
              <a:rPr lang="en-US" sz="1300" b="1" dirty="0">
                <a:solidFill>
                  <a:srgbClr val="1B3A5C"/>
                </a:solidFill>
              </a:rPr>
              <a:t>Community Awareness Campaigns</a:t>
            </a:r>
            <a:endParaRPr lang="en-US" sz="1300" dirty="0"/>
          </a:p>
        </p:txBody>
      </p:sp>
      <p:sp>
        <p:nvSpPr>
          <p:cNvPr id="11" name="Text 9"/>
          <p:cNvSpPr/>
          <p:nvPr/>
        </p:nvSpPr>
        <p:spPr>
          <a:xfrm>
            <a:off x="5596128" y="1490472"/>
            <a:ext cx="3246120" cy="1143000"/>
          </a:xfrm>
          <a:prstGeom prst="rect">
            <a:avLst/>
          </a:prstGeom>
          <a:noFill/>
          <a:ln/>
        </p:spPr>
        <p:txBody>
          <a:bodyPr wrap="square" rtlCol="0" anchor="t"/>
          <a:lstStyle/>
          <a:p>
            <a:pPr indent="0" marL="0">
              <a:lnSpc>
                <a:spcPct val="140000"/>
              </a:lnSpc>
              <a:buNone/>
            </a:pPr>
            <a:r>
              <a:rPr lang="en-US" sz="1200" dirty="0">
                <a:solidFill>
                  <a:srgbClr val="1E293B"/>
                </a:solidFill>
                <a:latin typeface="Calibri" pitchFamily="34" charset="0"/>
                <a:ea typeface="Calibri" pitchFamily="34" charset="-122"/>
                <a:cs typeface="Calibri" pitchFamily="34" charset="-120"/>
              </a:rPr>
              <a:t>Organize workshops, seminars, and nukkad nataks (street plays) targeting diverse groups including rural residents and homemakers.</a:t>
            </a:r>
            <a:endParaRPr lang="en-US" sz="1200" dirty="0"/>
          </a:p>
        </p:txBody>
      </p:sp>
      <p:sp>
        <p:nvSpPr>
          <p:cNvPr id="12" name="Shape 10"/>
          <p:cNvSpPr/>
          <p:nvPr/>
        </p:nvSpPr>
        <p:spPr>
          <a:xfrm>
            <a:off x="457200" y="2953512"/>
            <a:ext cx="4114800" cy="18288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13" name="Text 11"/>
          <p:cNvSpPr/>
          <p:nvPr/>
        </p:nvSpPr>
        <p:spPr>
          <a:xfrm>
            <a:off x="548640" y="3090672"/>
            <a:ext cx="594360" cy="6858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1207008" y="3063240"/>
            <a:ext cx="3246120" cy="365760"/>
          </a:xfrm>
          <a:prstGeom prst="rect">
            <a:avLst/>
          </a:prstGeom>
          <a:noFill/>
          <a:ln/>
        </p:spPr>
        <p:txBody>
          <a:bodyPr wrap="square" rtlCol="0" anchor="ctr"/>
          <a:lstStyle/>
          <a:p>
            <a:pPr indent="0" marL="0">
              <a:buNone/>
            </a:pPr>
            <a:r>
              <a:rPr lang="en-US" sz="1300" b="1" dirty="0">
                <a:solidFill>
                  <a:srgbClr val="1B3A5C"/>
                </a:solidFill>
              </a:rPr>
              <a:t>Promote Antivirus Tools</a:t>
            </a:r>
            <a:endParaRPr lang="en-US" sz="1300" dirty="0"/>
          </a:p>
        </p:txBody>
      </p:sp>
      <p:sp>
        <p:nvSpPr>
          <p:cNvPr id="15" name="Text 13"/>
          <p:cNvSpPr/>
          <p:nvPr/>
        </p:nvSpPr>
        <p:spPr>
          <a:xfrm>
            <a:off x="1207008" y="3483864"/>
            <a:ext cx="3246120" cy="1143000"/>
          </a:xfrm>
          <a:prstGeom prst="rect">
            <a:avLst/>
          </a:prstGeom>
          <a:noFill/>
          <a:ln/>
        </p:spPr>
        <p:txBody>
          <a:bodyPr wrap="square" rtlCol="0" anchor="t"/>
          <a:lstStyle/>
          <a:p>
            <a:pPr indent="0" marL="0">
              <a:lnSpc>
                <a:spcPct val="140000"/>
              </a:lnSpc>
              <a:buNone/>
            </a:pPr>
            <a:r>
              <a:rPr lang="en-US" sz="1200" dirty="0">
                <a:solidFill>
                  <a:srgbClr val="1E293B"/>
                </a:solidFill>
                <a:latin typeface="Calibri" pitchFamily="34" charset="0"/>
                <a:ea typeface="Calibri" pitchFamily="34" charset="-122"/>
                <a:cs typeface="Calibri" pitchFamily="34" charset="-120"/>
              </a:rPr>
              <a:t>Publicize free antivirus solutions via government channels. Run smartphone security demos in colleges and community centers.</a:t>
            </a:r>
            <a:endParaRPr lang="en-US" sz="1200" dirty="0"/>
          </a:p>
        </p:txBody>
      </p:sp>
      <p:sp>
        <p:nvSpPr>
          <p:cNvPr id="16" name="Shape 14"/>
          <p:cNvSpPr/>
          <p:nvPr/>
        </p:nvSpPr>
        <p:spPr>
          <a:xfrm>
            <a:off x="4846320" y="2953512"/>
            <a:ext cx="4114800" cy="1828800"/>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17" name="Text 15"/>
          <p:cNvSpPr/>
          <p:nvPr/>
        </p:nvSpPr>
        <p:spPr>
          <a:xfrm>
            <a:off x="4937760" y="3090672"/>
            <a:ext cx="594360" cy="6858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5596128" y="3063240"/>
            <a:ext cx="3246120" cy="365760"/>
          </a:xfrm>
          <a:prstGeom prst="rect">
            <a:avLst/>
          </a:prstGeom>
          <a:noFill/>
          <a:ln/>
        </p:spPr>
        <p:txBody>
          <a:bodyPr wrap="square" rtlCol="0" anchor="ctr"/>
          <a:lstStyle/>
          <a:p>
            <a:pPr indent="0" marL="0">
              <a:buNone/>
            </a:pPr>
            <a:r>
              <a:rPr lang="en-US" sz="1300" b="1" dirty="0">
                <a:solidFill>
                  <a:srgbClr val="1B3A5C"/>
                </a:solidFill>
              </a:rPr>
              <a:t>Regional Language Materials</a:t>
            </a:r>
            <a:endParaRPr lang="en-US" sz="1300" dirty="0"/>
          </a:p>
        </p:txBody>
      </p:sp>
      <p:sp>
        <p:nvSpPr>
          <p:cNvPr id="19" name="Text 17"/>
          <p:cNvSpPr/>
          <p:nvPr/>
        </p:nvSpPr>
        <p:spPr>
          <a:xfrm>
            <a:off x="5596128" y="3483864"/>
            <a:ext cx="3246120" cy="1143000"/>
          </a:xfrm>
          <a:prstGeom prst="rect">
            <a:avLst/>
          </a:prstGeom>
          <a:noFill/>
          <a:ln/>
        </p:spPr>
        <p:txBody>
          <a:bodyPr wrap="square" rtlCol="0" anchor="t"/>
          <a:lstStyle/>
          <a:p>
            <a:pPr indent="0" marL="0">
              <a:lnSpc>
                <a:spcPct val="140000"/>
              </a:lnSpc>
              <a:buNone/>
            </a:pPr>
            <a:r>
              <a:rPr lang="en-US" sz="1200" dirty="0">
                <a:solidFill>
                  <a:srgbClr val="1E293B"/>
                </a:solidFill>
                <a:latin typeface="Calibri" pitchFamily="34" charset="0"/>
                <a:ea typeface="Calibri" pitchFamily="34" charset="-122"/>
                <a:cs typeface="Calibri" pitchFamily="34" charset="-120"/>
              </a:rPr>
              <a:t>Distribute cybersecurity tips in Marathi and Hindi via WhatsApp, SMS broadcasts, pamphlets, and community radio.</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Recommendations – Institutional &amp; Policy</a:t>
            </a:r>
            <a:endParaRPr lang="en-US" sz="3000" dirty="0"/>
          </a:p>
        </p:txBody>
      </p:sp>
      <p:sp>
        <p:nvSpPr>
          <p:cNvPr id="3" name="Shape 1"/>
          <p:cNvSpPr/>
          <p:nvPr/>
        </p:nvSpPr>
        <p:spPr>
          <a:xfrm>
            <a:off x="457200" y="749808"/>
            <a:ext cx="8229600" cy="36576"/>
          </a:xfrm>
          <a:prstGeom prst="rect">
            <a:avLst/>
          </a:prstGeom>
          <a:solidFill>
            <a:srgbClr val="00B4D8"/>
          </a:solidFill>
          <a:ln w="12700">
            <a:solidFill>
              <a:srgbClr val="00B4D8"/>
            </a:solidFill>
            <a:prstDash val="solid"/>
          </a:ln>
        </p:spPr>
      </p:sp>
      <p:sp>
        <p:nvSpPr>
          <p:cNvPr id="4" name="Shape 2"/>
          <p:cNvSpPr/>
          <p:nvPr/>
        </p:nvSpPr>
        <p:spPr>
          <a:xfrm>
            <a:off x="457200" y="960120"/>
            <a:ext cx="4114800" cy="182880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5" name="Text 3"/>
          <p:cNvSpPr/>
          <p:nvPr/>
        </p:nvSpPr>
        <p:spPr>
          <a:xfrm>
            <a:off x="548640" y="1097280"/>
            <a:ext cx="594360" cy="6858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1207008" y="1069848"/>
            <a:ext cx="3246120" cy="365760"/>
          </a:xfrm>
          <a:prstGeom prst="rect">
            <a:avLst/>
          </a:prstGeom>
          <a:noFill/>
          <a:ln/>
        </p:spPr>
        <p:txBody>
          <a:bodyPr wrap="square" rtlCol="0" anchor="ctr"/>
          <a:lstStyle/>
          <a:p>
            <a:pPr indent="0" marL="0">
              <a:buNone/>
            </a:pPr>
            <a:r>
              <a:rPr lang="en-US" sz="1300" b="1" dirty="0">
                <a:solidFill>
                  <a:srgbClr val="00B4D8"/>
                </a:solidFill>
              </a:rPr>
              <a:t>College Cybersecurity Cells</a:t>
            </a:r>
            <a:endParaRPr lang="en-US" sz="1300" dirty="0"/>
          </a:p>
        </p:txBody>
      </p:sp>
      <p:sp>
        <p:nvSpPr>
          <p:cNvPr id="7" name="Text 5"/>
          <p:cNvSpPr/>
          <p:nvPr/>
        </p:nvSpPr>
        <p:spPr>
          <a:xfrm>
            <a:off x="1207008" y="1490472"/>
            <a:ext cx="3246120" cy="1143000"/>
          </a:xfrm>
          <a:prstGeom prst="rect">
            <a:avLst/>
          </a:prstGeom>
          <a:noFill/>
          <a:ln/>
        </p:spPr>
        <p:txBody>
          <a:bodyPr wrap="square" rtlCol="0" anchor="t"/>
          <a:lstStyle/>
          <a:p>
            <a:pPr indent="0" marL="0">
              <a:lnSpc>
                <a:spcPct val="140000"/>
              </a:lnSpc>
              <a:buNone/>
            </a:pPr>
            <a:r>
              <a:rPr lang="en-US" sz="1200" dirty="0">
                <a:solidFill>
                  <a:srgbClr val="FFFFFF"/>
                </a:solidFill>
                <a:latin typeface="Calibri" pitchFamily="34" charset="0"/>
                <a:ea typeface="Calibri" pitchFamily="34" charset="-122"/>
                <a:cs typeface="Calibri" pitchFamily="34" charset="-120"/>
              </a:rPr>
              <a:t>Institutions like CASAS should establish dedicated student-led cybersecurity outreach cells that run regular awareness activities.</a:t>
            </a:r>
            <a:endParaRPr lang="en-US" sz="1200" dirty="0"/>
          </a:p>
        </p:txBody>
      </p:sp>
      <p:sp>
        <p:nvSpPr>
          <p:cNvPr id="8" name="Shape 6"/>
          <p:cNvSpPr/>
          <p:nvPr/>
        </p:nvSpPr>
        <p:spPr>
          <a:xfrm>
            <a:off x="4846320" y="960120"/>
            <a:ext cx="4114800" cy="182880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9" name="Text 7"/>
          <p:cNvSpPr/>
          <p:nvPr/>
        </p:nvSpPr>
        <p:spPr>
          <a:xfrm>
            <a:off x="4937760" y="1097280"/>
            <a:ext cx="594360" cy="6858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5596128" y="1069848"/>
            <a:ext cx="3246120" cy="365760"/>
          </a:xfrm>
          <a:prstGeom prst="rect">
            <a:avLst/>
          </a:prstGeom>
          <a:noFill/>
          <a:ln/>
        </p:spPr>
        <p:txBody>
          <a:bodyPr wrap="square" rtlCol="0" anchor="ctr"/>
          <a:lstStyle/>
          <a:p>
            <a:pPr indent="0" marL="0">
              <a:buNone/>
            </a:pPr>
            <a:r>
              <a:rPr lang="en-US" sz="1300" b="1" dirty="0">
                <a:solidFill>
                  <a:srgbClr val="00B4D8"/>
                </a:solidFill>
              </a:rPr>
              <a:t>Promote Reporting Mechanisms</a:t>
            </a:r>
            <a:endParaRPr lang="en-US" sz="1300" dirty="0"/>
          </a:p>
        </p:txBody>
      </p:sp>
      <p:sp>
        <p:nvSpPr>
          <p:cNvPr id="11" name="Text 9"/>
          <p:cNvSpPr/>
          <p:nvPr/>
        </p:nvSpPr>
        <p:spPr>
          <a:xfrm>
            <a:off x="5596128" y="1490472"/>
            <a:ext cx="3246120" cy="1143000"/>
          </a:xfrm>
          <a:prstGeom prst="rect">
            <a:avLst/>
          </a:prstGeom>
          <a:noFill/>
          <a:ln/>
        </p:spPr>
        <p:txBody>
          <a:bodyPr wrap="square" rtlCol="0" anchor="t"/>
          <a:lstStyle/>
          <a:p>
            <a:pPr indent="0" marL="0">
              <a:lnSpc>
                <a:spcPct val="140000"/>
              </a:lnSpc>
              <a:buNone/>
            </a:pPr>
            <a:r>
              <a:rPr lang="en-US" sz="1200" dirty="0">
                <a:solidFill>
                  <a:srgbClr val="FFFFFF"/>
                </a:solidFill>
                <a:latin typeface="Calibri" pitchFamily="34" charset="0"/>
                <a:ea typeface="Calibri" pitchFamily="34" charset="-122"/>
                <a:cs typeface="Calibri" pitchFamily="34" charset="-120"/>
              </a:rPr>
              <a:t>Raise awareness about cybercrime.gov.in and the 1930 helpline. Make reporting feel accessible and stigma-free.</a:t>
            </a:r>
            <a:endParaRPr lang="en-US" sz="1200" dirty="0"/>
          </a:p>
        </p:txBody>
      </p:sp>
      <p:sp>
        <p:nvSpPr>
          <p:cNvPr id="12" name="Shape 10"/>
          <p:cNvSpPr/>
          <p:nvPr/>
        </p:nvSpPr>
        <p:spPr>
          <a:xfrm>
            <a:off x="457200" y="2953512"/>
            <a:ext cx="4114800" cy="182880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3" name="Text 11"/>
          <p:cNvSpPr/>
          <p:nvPr/>
        </p:nvSpPr>
        <p:spPr>
          <a:xfrm>
            <a:off x="548640" y="3090672"/>
            <a:ext cx="594360" cy="6858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1207008" y="3063240"/>
            <a:ext cx="3246120" cy="365760"/>
          </a:xfrm>
          <a:prstGeom prst="rect">
            <a:avLst/>
          </a:prstGeom>
          <a:noFill/>
          <a:ln/>
        </p:spPr>
        <p:txBody>
          <a:bodyPr wrap="square" rtlCol="0" anchor="ctr"/>
          <a:lstStyle/>
          <a:p>
            <a:pPr indent="0" marL="0">
              <a:buNone/>
            </a:pPr>
            <a:r>
              <a:rPr lang="en-US" sz="1300" b="1" dirty="0">
                <a:solidFill>
                  <a:srgbClr val="00B4D8"/>
                </a:solidFill>
              </a:rPr>
              <a:t>NGO &amp; Government Partnerships</a:t>
            </a:r>
            <a:endParaRPr lang="en-US" sz="1300" dirty="0"/>
          </a:p>
        </p:txBody>
      </p:sp>
      <p:sp>
        <p:nvSpPr>
          <p:cNvPr id="15" name="Text 13"/>
          <p:cNvSpPr/>
          <p:nvPr/>
        </p:nvSpPr>
        <p:spPr>
          <a:xfrm>
            <a:off x="1207008" y="3483864"/>
            <a:ext cx="3246120" cy="1143000"/>
          </a:xfrm>
          <a:prstGeom prst="rect">
            <a:avLst/>
          </a:prstGeom>
          <a:noFill/>
          <a:ln/>
        </p:spPr>
        <p:txBody>
          <a:bodyPr wrap="square" rtlCol="0" anchor="t"/>
          <a:lstStyle/>
          <a:p>
            <a:pPr indent="0" marL="0">
              <a:lnSpc>
                <a:spcPct val="140000"/>
              </a:lnSpc>
              <a:buNone/>
            </a:pPr>
            <a:r>
              <a:rPr lang="en-US" sz="1200" dirty="0">
                <a:solidFill>
                  <a:srgbClr val="FFFFFF"/>
                </a:solidFill>
                <a:latin typeface="Calibri" pitchFamily="34" charset="0"/>
                <a:ea typeface="Calibri" pitchFamily="34" charset="-122"/>
                <a:cs typeface="Calibri" pitchFamily="34" charset="-120"/>
              </a:rPr>
              <a:t>Partner with local NGOs, Panchayats, and government bodies to reach residents beyond the reach of academic institutions.</a:t>
            </a:r>
            <a:endParaRPr lang="en-US" sz="1200" dirty="0"/>
          </a:p>
        </p:txBody>
      </p:sp>
      <p:sp>
        <p:nvSpPr>
          <p:cNvPr id="16" name="Shape 14"/>
          <p:cNvSpPr/>
          <p:nvPr/>
        </p:nvSpPr>
        <p:spPr>
          <a:xfrm>
            <a:off x="4846320" y="2953512"/>
            <a:ext cx="4114800" cy="182880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7" name="Text 15"/>
          <p:cNvSpPr/>
          <p:nvPr/>
        </p:nvSpPr>
        <p:spPr>
          <a:xfrm>
            <a:off x="4937760" y="3090672"/>
            <a:ext cx="594360" cy="68580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5596128" y="3063240"/>
            <a:ext cx="3246120" cy="365760"/>
          </a:xfrm>
          <a:prstGeom prst="rect">
            <a:avLst/>
          </a:prstGeom>
          <a:noFill/>
          <a:ln/>
        </p:spPr>
        <p:txBody>
          <a:bodyPr wrap="square" rtlCol="0" anchor="ctr"/>
          <a:lstStyle/>
          <a:p>
            <a:pPr indent="0" marL="0">
              <a:buNone/>
            </a:pPr>
            <a:r>
              <a:rPr lang="en-US" sz="1300" b="1" dirty="0">
                <a:solidFill>
                  <a:srgbClr val="00B4D8"/>
                </a:solidFill>
              </a:rPr>
              <a:t>Mobile-First Safety Education</a:t>
            </a:r>
            <a:endParaRPr lang="en-US" sz="1300" dirty="0"/>
          </a:p>
        </p:txBody>
      </p:sp>
      <p:sp>
        <p:nvSpPr>
          <p:cNvPr id="19" name="Text 17"/>
          <p:cNvSpPr/>
          <p:nvPr/>
        </p:nvSpPr>
        <p:spPr>
          <a:xfrm>
            <a:off x="5596128" y="3483864"/>
            <a:ext cx="3246120" cy="1143000"/>
          </a:xfrm>
          <a:prstGeom prst="rect">
            <a:avLst/>
          </a:prstGeom>
          <a:noFill/>
          <a:ln/>
        </p:spPr>
        <p:txBody>
          <a:bodyPr wrap="square" rtlCol="0" anchor="t"/>
          <a:lstStyle/>
          <a:p>
            <a:pPr indent="0" marL="0">
              <a:lnSpc>
                <a:spcPct val="140000"/>
              </a:lnSpc>
              <a:buNone/>
            </a:pPr>
            <a:r>
              <a:rPr lang="en-US" sz="1200" dirty="0">
                <a:solidFill>
                  <a:srgbClr val="FFFFFF"/>
                </a:solidFill>
                <a:latin typeface="Calibri" pitchFamily="34" charset="0"/>
                <a:ea typeface="Calibri" pitchFamily="34" charset="-122"/>
                <a:cs typeface="Calibri" pitchFamily="34" charset="-120"/>
              </a:rPr>
              <a:t>Since smartphones dominate internet access, safety education must be mobile-first — short videos, WhatsApp forwards, YouTube reels.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sp>
      <p:sp>
        <p:nvSpPr>
          <p:cNvPr id="3" name="Text 1"/>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Conclusion</a:t>
            </a:r>
            <a:endParaRPr lang="en-US" sz="3000" dirty="0"/>
          </a:p>
        </p:txBody>
      </p:sp>
      <p:sp>
        <p:nvSpPr>
          <p:cNvPr id="4" name="Shape 2"/>
          <p:cNvSpPr/>
          <p:nvPr/>
        </p:nvSpPr>
        <p:spPr>
          <a:xfrm>
            <a:off x="457200" y="749808"/>
            <a:ext cx="8229600" cy="36576"/>
          </a:xfrm>
          <a:prstGeom prst="rect">
            <a:avLst/>
          </a:prstGeom>
          <a:solidFill>
            <a:srgbClr val="00B4D8"/>
          </a:solidFill>
          <a:ln w="12700">
            <a:solidFill>
              <a:srgbClr val="00B4D8"/>
            </a:solidFill>
            <a:prstDash val="solid"/>
          </a:ln>
        </p:spPr>
      </p:sp>
      <p:sp>
        <p:nvSpPr>
          <p:cNvPr id="5" name="Shape 3"/>
          <p:cNvSpPr/>
          <p:nvPr/>
        </p:nvSpPr>
        <p:spPr>
          <a:xfrm>
            <a:off x="365760" y="960120"/>
            <a:ext cx="8412480" cy="896112"/>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6" name="Shape 4"/>
          <p:cNvSpPr/>
          <p:nvPr/>
        </p:nvSpPr>
        <p:spPr>
          <a:xfrm>
            <a:off x="365760" y="960120"/>
            <a:ext cx="109728" cy="896112"/>
          </a:xfrm>
          <a:prstGeom prst="rect">
            <a:avLst/>
          </a:prstGeom>
          <a:solidFill>
            <a:srgbClr val="00B4D8"/>
          </a:solidFill>
          <a:ln w="12700">
            <a:solidFill>
              <a:srgbClr val="00B4D8"/>
            </a:solidFill>
            <a:prstDash val="solid"/>
          </a:ln>
        </p:spPr>
      </p:sp>
      <p:sp>
        <p:nvSpPr>
          <p:cNvPr id="7" name="Text 5"/>
          <p:cNvSpPr/>
          <p:nvPr/>
        </p:nvSpPr>
        <p:spPr>
          <a:xfrm>
            <a:off x="594360" y="1051560"/>
            <a:ext cx="2560320" cy="320040"/>
          </a:xfrm>
          <a:prstGeom prst="rect">
            <a:avLst/>
          </a:prstGeom>
          <a:noFill/>
          <a:ln/>
        </p:spPr>
        <p:txBody>
          <a:bodyPr wrap="square" rtlCol="0" anchor="ctr"/>
          <a:lstStyle/>
          <a:p>
            <a:pPr indent="0" marL="0">
              <a:buNone/>
            </a:pPr>
            <a:r>
              <a:rPr lang="en-US" sz="1300" b="1" dirty="0">
                <a:solidFill>
                  <a:srgbClr val="00B4D8"/>
                </a:solidFill>
              </a:rPr>
              <a:t>The Gap is Real</a:t>
            </a:r>
            <a:endParaRPr lang="en-US" sz="1300" dirty="0"/>
          </a:p>
        </p:txBody>
      </p:sp>
      <p:sp>
        <p:nvSpPr>
          <p:cNvPr id="8" name="Text 6"/>
          <p:cNvSpPr/>
          <p:nvPr/>
        </p:nvSpPr>
        <p:spPr>
          <a:xfrm>
            <a:off x="594360" y="1399032"/>
            <a:ext cx="8046720" cy="347472"/>
          </a:xfrm>
          <a:prstGeom prst="rect">
            <a:avLst/>
          </a:prstGeom>
          <a:noFill/>
          <a:ln/>
        </p:spPr>
        <p:txBody>
          <a:bodyPr wrap="square" rtlCol="0" anchor="t"/>
          <a:lstStyle/>
          <a:p>
            <a:pPr indent="0" marL="0">
              <a:lnSpc>
                <a:spcPct val="140000"/>
              </a:lnSpc>
              <a:buNone/>
            </a:pPr>
            <a:r>
              <a:rPr lang="en-US" sz="1200" dirty="0">
                <a:solidFill>
                  <a:srgbClr val="FFFFFF"/>
                </a:solidFill>
                <a:latin typeface="Calibri" pitchFamily="34" charset="0"/>
                <a:ea typeface="Calibri" pitchFamily="34" charset="-122"/>
                <a:cs typeface="Calibri" pitchFamily="34" charset="-120"/>
              </a:rPr>
              <a:t>48% experienced threats, 80% lack formal training — Ahmednagar has a clear and urgent cybersecurity awareness deficit.</a:t>
            </a:r>
            <a:endParaRPr lang="en-US" sz="1200" dirty="0"/>
          </a:p>
        </p:txBody>
      </p:sp>
      <p:sp>
        <p:nvSpPr>
          <p:cNvPr id="9" name="Shape 7"/>
          <p:cNvSpPr/>
          <p:nvPr/>
        </p:nvSpPr>
        <p:spPr>
          <a:xfrm>
            <a:off x="365760" y="1965960"/>
            <a:ext cx="8412480" cy="896112"/>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365760" y="1965960"/>
            <a:ext cx="109728" cy="896112"/>
          </a:xfrm>
          <a:prstGeom prst="rect">
            <a:avLst/>
          </a:prstGeom>
          <a:solidFill>
            <a:srgbClr val="00B4D8"/>
          </a:solidFill>
          <a:ln w="12700">
            <a:solidFill>
              <a:srgbClr val="00B4D8"/>
            </a:solidFill>
            <a:prstDash val="solid"/>
          </a:ln>
        </p:spPr>
      </p:sp>
      <p:sp>
        <p:nvSpPr>
          <p:cNvPr id="11" name="Text 9"/>
          <p:cNvSpPr/>
          <p:nvPr/>
        </p:nvSpPr>
        <p:spPr>
          <a:xfrm>
            <a:off x="594360" y="2057400"/>
            <a:ext cx="2560320" cy="320040"/>
          </a:xfrm>
          <a:prstGeom prst="rect">
            <a:avLst/>
          </a:prstGeom>
          <a:noFill/>
          <a:ln/>
        </p:spPr>
        <p:txBody>
          <a:bodyPr wrap="square" rtlCol="0" anchor="ctr"/>
          <a:lstStyle/>
          <a:p>
            <a:pPr indent="0" marL="0">
              <a:buNone/>
            </a:pPr>
            <a:r>
              <a:rPr lang="en-US" sz="1300" b="1" dirty="0">
                <a:solidFill>
                  <a:srgbClr val="00B4D8"/>
                </a:solidFill>
              </a:rPr>
              <a:t>Rapid Exposure, Slow Awareness</a:t>
            </a:r>
            <a:endParaRPr lang="en-US" sz="1300" dirty="0"/>
          </a:p>
        </p:txBody>
      </p:sp>
      <p:sp>
        <p:nvSpPr>
          <p:cNvPr id="12" name="Text 10"/>
          <p:cNvSpPr/>
          <p:nvPr/>
        </p:nvSpPr>
        <p:spPr>
          <a:xfrm>
            <a:off x="594360" y="2404872"/>
            <a:ext cx="8046720" cy="347472"/>
          </a:xfrm>
          <a:prstGeom prst="rect">
            <a:avLst/>
          </a:prstGeom>
          <a:noFill/>
          <a:ln/>
        </p:spPr>
        <p:txBody>
          <a:bodyPr wrap="square" rtlCol="0" anchor="t"/>
          <a:lstStyle/>
          <a:p>
            <a:pPr indent="0" marL="0">
              <a:lnSpc>
                <a:spcPct val="140000"/>
              </a:lnSpc>
              <a:buNone/>
            </a:pPr>
            <a:r>
              <a:rPr lang="en-US" sz="1200" dirty="0">
                <a:solidFill>
                  <a:srgbClr val="FFFFFF"/>
                </a:solidFill>
                <a:latin typeface="Calibri" pitchFamily="34" charset="0"/>
                <a:ea typeface="Calibri" pitchFamily="34" charset="-122"/>
                <a:cs typeface="Calibri" pitchFamily="34" charset="-120"/>
              </a:rPr>
              <a:t>80% are daily internet users but most lack basic protective habits like strong passwords and antivirus usage.</a:t>
            </a:r>
            <a:endParaRPr lang="en-US" sz="1200" dirty="0"/>
          </a:p>
        </p:txBody>
      </p:sp>
      <p:sp>
        <p:nvSpPr>
          <p:cNvPr id="13" name="Shape 11"/>
          <p:cNvSpPr/>
          <p:nvPr/>
        </p:nvSpPr>
        <p:spPr>
          <a:xfrm>
            <a:off x="365760" y="2971800"/>
            <a:ext cx="8412480" cy="896112"/>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365760" y="2971800"/>
            <a:ext cx="109728" cy="896112"/>
          </a:xfrm>
          <a:prstGeom prst="rect">
            <a:avLst/>
          </a:prstGeom>
          <a:solidFill>
            <a:srgbClr val="00B4D8"/>
          </a:solidFill>
          <a:ln w="12700">
            <a:solidFill>
              <a:srgbClr val="00B4D8"/>
            </a:solidFill>
            <a:prstDash val="solid"/>
          </a:ln>
        </p:spPr>
      </p:sp>
      <p:sp>
        <p:nvSpPr>
          <p:cNvPr id="15" name="Text 13"/>
          <p:cNvSpPr/>
          <p:nvPr/>
        </p:nvSpPr>
        <p:spPr>
          <a:xfrm>
            <a:off x="594360" y="3063240"/>
            <a:ext cx="2560320" cy="320040"/>
          </a:xfrm>
          <a:prstGeom prst="rect">
            <a:avLst/>
          </a:prstGeom>
          <a:noFill/>
          <a:ln/>
        </p:spPr>
        <p:txBody>
          <a:bodyPr wrap="square" rtlCol="0" anchor="ctr"/>
          <a:lstStyle/>
          <a:p>
            <a:pPr indent="0" marL="0">
              <a:buNone/>
            </a:pPr>
            <a:r>
              <a:rPr lang="en-US" sz="1300" b="1" dirty="0">
                <a:solidFill>
                  <a:srgbClr val="00B4D8"/>
                </a:solidFill>
              </a:rPr>
              <a:t>Attitude is Positive</a:t>
            </a:r>
            <a:endParaRPr lang="en-US" sz="1300" dirty="0"/>
          </a:p>
        </p:txBody>
      </p:sp>
      <p:sp>
        <p:nvSpPr>
          <p:cNvPr id="16" name="Text 14"/>
          <p:cNvSpPr/>
          <p:nvPr/>
        </p:nvSpPr>
        <p:spPr>
          <a:xfrm>
            <a:off x="594360" y="3410712"/>
            <a:ext cx="8046720" cy="347472"/>
          </a:xfrm>
          <a:prstGeom prst="rect">
            <a:avLst/>
          </a:prstGeom>
          <a:noFill/>
          <a:ln/>
        </p:spPr>
        <p:txBody>
          <a:bodyPr wrap="square" rtlCol="0" anchor="t"/>
          <a:lstStyle/>
          <a:p>
            <a:pPr indent="0" marL="0">
              <a:lnSpc>
                <a:spcPct val="140000"/>
              </a:lnSpc>
              <a:buNone/>
            </a:pPr>
            <a:r>
              <a:rPr lang="en-US" sz="1200" dirty="0">
                <a:solidFill>
                  <a:srgbClr val="FFFFFF"/>
                </a:solidFill>
                <a:latin typeface="Calibri" pitchFamily="34" charset="0"/>
                <a:ea typeface="Calibri" pitchFamily="34" charset="-122"/>
                <a:cs typeface="Calibri" pitchFamily="34" charset="-120"/>
              </a:rPr>
              <a:t>90% agree cybersecurity awareness is important — the community is ready to learn if opportunities are provided.</a:t>
            </a:r>
            <a:endParaRPr lang="en-US" sz="1200" dirty="0"/>
          </a:p>
        </p:txBody>
      </p:sp>
      <p:sp>
        <p:nvSpPr>
          <p:cNvPr id="17" name="Shape 15"/>
          <p:cNvSpPr/>
          <p:nvPr/>
        </p:nvSpPr>
        <p:spPr>
          <a:xfrm>
            <a:off x="365760" y="3977640"/>
            <a:ext cx="8412480" cy="896112"/>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8000"/>
              </a:srgbClr>
            </a:outerShdw>
          </a:effectLst>
        </p:spPr>
      </p:sp>
      <p:sp>
        <p:nvSpPr>
          <p:cNvPr id="18" name="Shape 16"/>
          <p:cNvSpPr/>
          <p:nvPr/>
        </p:nvSpPr>
        <p:spPr>
          <a:xfrm>
            <a:off x="365760" y="3977640"/>
            <a:ext cx="109728" cy="896112"/>
          </a:xfrm>
          <a:prstGeom prst="rect">
            <a:avLst/>
          </a:prstGeom>
          <a:solidFill>
            <a:srgbClr val="00B4D8"/>
          </a:solidFill>
          <a:ln w="12700">
            <a:solidFill>
              <a:srgbClr val="00B4D8"/>
            </a:solidFill>
            <a:prstDash val="solid"/>
          </a:ln>
        </p:spPr>
      </p:sp>
      <p:sp>
        <p:nvSpPr>
          <p:cNvPr id="19" name="Text 17"/>
          <p:cNvSpPr/>
          <p:nvPr/>
        </p:nvSpPr>
        <p:spPr>
          <a:xfrm>
            <a:off x="594360" y="4069080"/>
            <a:ext cx="2560320" cy="320040"/>
          </a:xfrm>
          <a:prstGeom prst="rect">
            <a:avLst/>
          </a:prstGeom>
          <a:noFill/>
          <a:ln/>
        </p:spPr>
        <p:txBody>
          <a:bodyPr wrap="square" rtlCol="0" anchor="ctr"/>
          <a:lstStyle/>
          <a:p>
            <a:pPr indent="0" marL="0">
              <a:buNone/>
            </a:pPr>
            <a:r>
              <a:rPr lang="en-US" sz="1300" b="1" dirty="0">
                <a:solidFill>
                  <a:srgbClr val="00B4D8"/>
                </a:solidFill>
              </a:rPr>
              <a:t>Action is Needed Now</a:t>
            </a:r>
            <a:endParaRPr lang="en-US" sz="1300" dirty="0"/>
          </a:p>
        </p:txBody>
      </p:sp>
      <p:sp>
        <p:nvSpPr>
          <p:cNvPr id="20" name="Text 18"/>
          <p:cNvSpPr/>
          <p:nvPr/>
        </p:nvSpPr>
        <p:spPr>
          <a:xfrm>
            <a:off x="594360" y="4416552"/>
            <a:ext cx="8046720" cy="347472"/>
          </a:xfrm>
          <a:prstGeom prst="rect">
            <a:avLst/>
          </a:prstGeom>
          <a:noFill/>
          <a:ln/>
        </p:spPr>
        <p:txBody>
          <a:bodyPr wrap="square" rtlCol="0" anchor="t"/>
          <a:lstStyle/>
          <a:p>
            <a:pPr indent="0" marL="0">
              <a:lnSpc>
                <a:spcPct val="140000"/>
              </a:lnSpc>
              <a:buNone/>
            </a:pPr>
            <a:r>
              <a:rPr lang="en-US" sz="1200" dirty="0">
                <a:solidFill>
                  <a:srgbClr val="FFFFFF"/>
                </a:solidFill>
                <a:latin typeface="Calibri" pitchFamily="34" charset="0"/>
                <a:ea typeface="Calibri" pitchFamily="34" charset="-122"/>
                <a:cs typeface="Calibri" pitchFamily="34" charset="-120"/>
              </a:rPr>
              <a:t>As internet penetration continues to grow, the window for proactive education is NOW — before victimization rates escalate.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7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Our Learning Experience</a:t>
            </a:r>
            <a:endParaRPr lang="en-US" sz="3000" dirty="0"/>
          </a:p>
        </p:txBody>
      </p:sp>
      <p:sp>
        <p:nvSpPr>
          <p:cNvPr id="3" name="Shape 1"/>
          <p:cNvSpPr/>
          <p:nvPr/>
        </p:nvSpPr>
        <p:spPr>
          <a:xfrm>
            <a:off x="457200" y="749808"/>
            <a:ext cx="8229600" cy="36576"/>
          </a:xfrm>
          <a:prstGeom prst="rect">
            <a:avLst/>
          </a:prstGeom>
          <a:solidFill>
            <a:srgbClr val="CBD5E1"/>
          </a:solidFill>
          <a:ln w="12700">
            <a:solidFill>
              <a:srgbClr val="CBD5E1"/>
            </a:solidFill>
            <a:prstDash val="solid"/>
          </a:ln>
        </p:spPr>
      </p:sp>
      <p:sp>
        <p:nvSpPr>
          <p:cNvPr id="4" name="Text 2"/>
          <p:cNvSpPr/>
          <p:nvPr/>
        </p:nvSpPr>
        <p:spPr>
          <a:xfrm>
            <a:off x="457200" y="841248"/>
            <a:ext cx="8229600" cy="347472"/>
          </a:xfrm>
          <a:prstGeom prst="rect">
            <a:avLst/>
          </a:prstGeom>
          <a:noFill/>
          <a:ln/>
        </p:spPr>
        <p:txBody>
          <a:bodyPr wrap="square" rtlCol="0" anchor="ctr"/>
          <a:lstStyle/>
          <a:p>
            <a:pPr algn="ctr" indent="0" marL="0">
              <a:buNone/>
            </a:pPr>
            <a:r>
              <a:rPr lang="en-US" sz="1400" b="1" dirty="0">
                <a:solidFill>
                  <a:srgbClr val="1B3A5C"/>
                </a:solidFill>
              </a:rPr>
              <a:t>What We Gained from This CEP Project</a:t>
            </a:r>
            <a:endParaRPr lang="en-US" sz="1400" dirty="0"/>
          </a:p>
        </p:txBody>
      </p:sp>
      <p:sp>
        <p:nvSpPr>
          <p:cNvPr id="5" name="Shape 3"/>
          <p:cNvSpPr/>
          <p:nvPr/>
        </p:nvSpPr>
        <p:spPr>
          <a:xfrm>
            <a:off x="457200" y="1417320"/>
            <a:ext cx="2697480" cy="1627632"/>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6" name="Text 4"/>
          <p:cNvSpPr/>
          <p:nvPr/>
        </p:nvSpPr>
        <p:spPr>
          <a:xfrm>
            <a:off x="457200" y="1508760"/>
            <a:ext cx="2697480" cy="438912"/>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7" name="Text 5"/>
          <p:cNvSpPr/>
          <p:nvPr/>
        </p:nvSpPr>
        <p:spPr>
          <a:xfrm>
            <a:off x="566928" y="1984248"/>
            <a:ext cx="2487168" cy="320040"/>
          </a:xfrm>
          <a:prstGeom prst="rect">
            <a:avLst/>
          </a:prstGeom>
          <a:noFill/>
          <a:ln/>
        </p:spPr>
        <p:txBody>
          <a:bodyPr wrap="square" rtlCol="0" anchor="ctr"/>
          <a:lstStyle/>
          <a:p>
            <a:pPr algn="ctr" indent="0" marL="0">
              <a:buNone/>
            </a:pPr>
            <a:r>
              <a:rPr lang="en-US" sz="1200" b="1" dirty="0">
                <a:solidFill>
                  <a:srgbClr val="1B3A5C"/>
                </a:solidFill>
              </a:rPr>
              <a:t>Applied Theoretical Knowledge</a:t>
            </a:r>
            <a:endParaRPr lang="en-US" sz="1200" dirty="0"/>
          </a:p>
        </p:txBody>
      </p:sp>
      <p:sp>
        <p:nvSpPr>
          <p:cNvPr id="8" name="Text 6"/>
          <p:cNvSpPr/>
          <p:nvPr/>
        </p:nvSpPr>
        <p:spPr>
          <a:xfrm>
            <a:off x="566928" y="2331720"/>
            <a:ext cx="2487168" cy="594360"/>
          </a:xfrm>
          <a:prstGeom prst="rect">
            <a:avLst/>
          </a:prstGeom>
          <a:noFill/>
          <a:ln/>
        </p:spPr>
        <p:txBody>
          <a:bodyPr wrap="square" rtlCol="0" anchor="t"/>
          <a:lstStyle/>
          <a:p>
            <a:pPr indent="0" marL="0">
              <a:lnSpc>
                <a:spcPct val="140000"/>
              </a:lnSpc>
              <a:buNone/>
            </a:pPr>
            <a:r>
              <a:rPr lang="en-US" sz="1050" dirty="0">
                <a:solidFill>
                  <a:srgbClr val="1E293B"/>
                </a:solidFill>
                <a:latin typeface="Calibri" pitchFamily="34" charset="0"/>
                <a:ea typeface="Calibri" pitchFamily="34" charset="-122"/>
                <a:cs typeface="Calibri" pitchFamily="34" charset="-120"/>
              </a:rPr>
              <a:t>BCA concepts from Computer Networks and Information Security applied to a real community context.</a:t>
            </a:r>
            <a:endParaRPr lang="en-US" sz="1050" dirty="0"/>
          </a:p>
        </p:txBody>
      </p:sp>
      <p:sp>
        <p:nvSpPr>
          <p:cNvPr id="9" name="Shape 7"/>
          <p:cNvSpPr/>
          <p:nvPr/>
        </p:nvSpPr>
        <p:spPr>
          <a:xfrm>
            <a:off x="3310128" y="1417320"/>
            <a:ext cx="2697480" cy="1627632"/>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10" name="Text 8"/>
          <p:cNvSpPr/>
          <p:nvPr/>
        </p:nvSpPr>
        <p:spPr>
          <a:xfrm>
            <a:off x="3310128" y="1508760"/>
            <a:ext cx="2697480" cy="438912"/>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1" name="Text 9"/>
          <p:cNvSpPr/>
          <p:nvPr/>
        </p:nvSpPr>
        <p:spPr>
          <a:xfrm>
            <a:off x="3419856" y="1984248"/>
            <a:ext cx="2487168" cy="320040"/>
          </a:xfrm>
          <a:prstGeom prst="rect">
            <a:avLst/>
          </a:prstGeom>
          <a:noFill/>
          <a:ln/>
        </p:spPr>
        <p:txBody>
          <a:bodyPr wrap="square" rtlCol="0" anchor="ctr"/>
          <a:lstStyle/>
          <a:p>
            <a:pPr algn="ctr" indent="0" marL="0">
              <a:buNone/>
            </a:pPr>
            <a:r>
              <a:rPr lang="en-US" sz="1200" b="1" dirty="0">
                <a:solidFill>
                  <a:srgbClr val="1B3A5C"/>
                </a:solidFill>
              </a:rPr>
              <a:t>Data Collection &amp; Analysis</a:t>
            </a:r>
            <a:endParaRPr lang="en-US" sz="1200" dirty="0"/>
          </a:p>
        </p:txBody>
      </p:sp>
      <p:sp>
        <p:nvSpPr>
          <p:cNvPr id="12" name="Text 10"/>
          <p:cNvSpPr/>
          <p:nvPr/>
        </p:nvSpPr>
        <p:spPr>
          <a:xfrm>
            <a:off x="3419856" y="2331720"/>
            <a:ext cx="2487168" cy="594360"/>
          </a:xfrm>
          <a:prstGeom prst="rect">
            <a:avLst/>
          </a:prstGeom>
          <a:noFill/>
          <a:ln/>
        </p:spPr>
        <p:txBody>
          <a:bodyPr wrap="square" rtlCol="0" anchor="t"/>
          <a:lstStyle/>
          <a:p>
            <a:pPr indent="0" marL="0">
              <a:lnSpc>
                <a:spcPct val="140000"/>
              </a:lnSpc>
              <a:buNone/>
            </a:pPr>
            <a:r>
              <a:rPr lang="en-US" sz="1050" dirty="0">
                <a:solidFill>
                  <a:srgbClr val="1E293B"/>
                </a:solidFill>
                <a:latin typeface="Calibri" pitchFamily="34" charset="0"/>
                <a:ea typeface="Calibri" pitchFamily="34" charset="-122"/>
                <a:cs typeface="Calibri" pitchFamily="34" charset="-120"/>
              </a:rPr>
              <a:t>Hands-on experience designing surveys, collecting responses, and interpreting data through charts.</a:t>
            </a:r>
            <a:endParaRPr lang="en-US" sz="1050" dirty="0"/>
          </a:p>
        </p:txBody>
      </p:sp>
      <p:sp>
        <p:nvSpPr>
          <p:cNvPr id="13" name="Shape 11"/>
          <p:cNvSpPr/>
          <p:nvPr/>
        </p:nvSpPr>
        <p:spPr>
          <a:xfrm>
            <a:off x="6163056" y="1417320"/>
            <a:ext cx="2697480" cy="1627632"/>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14" name="Text 12"/>
          <p:cNvSpPr/>
          <p:nvPr/>
        </p:nvSpPr>
        <p:spPr>
          <a:xfrm>
            <a:off x="6163056" y="1508760"/>
            <a:ext cx="2697480" cy="438912"/>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5" name="Text 13"/>
          <p:cNvSpPr/>
          <p:nvPr/>
        </p:nvSpPr>
        <p:spPr>
          <a:xfrm>
            <a:off x="6272784" y="1984248"/>
            <a:ext cx="2487168" cy="320040"/>
          </a:xfrm>
          <a:prstGeom prst="rect">
            <a:avLst/>
          </a:prstGeom>
          <a:noFill/>
          <a:ln/>
        </p:spPr>
        <p:txBody>
          <a:bodyPr wrap="square" rtlCol="0" anchor="ctr"/>
          <a:lstStyle/>
          <a:p>
            <a:pPr algn="ctr" indent="0" marL="0">
              <a:buNone/>
            </a:pPr>
            <a:r>
              <a:rPr lang="en-US" sz="1200" b="1" dirty="0">
                <a:solidFill>
                  <a:srgbClr val="1B3A5C"/>
                </a:solidFill>
              </a:rPr>
              <a:t>Social Awareness</a:t>
            </a:r>
            <a:endParaRPr lang="en-US" sz="1200" dirty="0"/>
          </a:p>
        </p:txBody>
      </p:sp>
      <p:sp>
        <p:nvSpPr>
          <p:cNvPr id="16" name="Text 14"/>
          <p:cNvSpPr/>
          <p:nvPr/>
        </p:nvSpPr>
        <p:spPr>
          <a:xfrm>
            <a:off x="6272784" y="2331720"/>
            <a:ext cx="2487168" cy="594360"/>
          </a:xfrm>
          <a:prstGeom prst="rect">
            <a:avLst/>
          </a:prstGeom>
          <a:noFill/>
          <a:ln/>
        </p:spPr>
        <p:txBody>
          <a:bodyPr wrap="square" rtlCol="0" anchor="t"/>
          <a:lstStyle/>
          <a:p>
            <a:pPr indent="0" marL="0">
              <a:lnSpc>
                <a:spcPct val="140000"/>
              </a:lnSpc>
              <a:buNone/>
            </a:pPr>
            <a:r>
              <a:rPr lang="en-US" sz="1050" dirty="0">
                <a:solidFill>
                  <a:srgbClr val="1E293B"/>
                </a:solidFill>
                <a:latin typeface="Calibri" pitchFamily="34" charset="0"/>
                <a:ea typeface="Calibri" pitchFamily="34" charset="-122"/>
                <a:cs typeface="Calibri" pitchFamily="34" charset="-120"/>
              </a:rPr>
              <a:t>Deepened understanding of how cybercrime affects ordinary people — not just corporations.</a:t>
            </a:r>
            <a:endParaRPr lang="en-US" sz="1050" dirty="0"/>
          </a:p>
        </p:txBody>
      </p:sp>
      <p:sp>
        <p:nvSpPr>
          <p:cNvPr id="17" name="Shape 15"/>
          <p:cNvSpPr/>
          <p:nvPr/>
        </p:nvSpPr>
        <p:spPr>
          <a:xfrm>
            <a:off x="457200" y="3172968"/>
            <a:ext cx="2697480" cy="1627632"/>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18" name="Text 16"/>
          <p:cNvSpPr/>
          <p:nvPr/>
        </p:nvSpPr>
        <p:spPr>
          <a:xfrm>
            <a:off x="457200" y="3264408"/>
            <a:ext cx="2697480" cy="438912"/>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9" name="Text 17"/>
          <p:cNvSpPr/>
          <p:nvPr/>
        </p:nvSpPr>
        <p:spPr>
          <a:xfrm>
            <a:off x="566928" y="3739896"/>
            <a:ext cx="2487168" cy="320040"/>
          </a:xfrm>
          <a:prstGeom prst="rect">
            <a:avLst/>
          </a:prstGeom>
          <a:noFill/>
          <a:ln/>
        </p:spPr>
        <p:txBody>
          <a:bodyPr wrap="square" rtlCol="0" anchor="ctr"/>
          <a:lstStyle/>
          <a:p>
            <a:pPr algn="ctr" indent="0" marL="0">
              <a:buNone/>
            </a:pPr>
            <a:r>
              <a:rPr lang="en-US" sz="1200" b="1" dirty="0">
                <a:solidFill>
                  <a:srgbClr val="1B3A5C"/>
                </a:solidFill>
              </a:rPr>
              <a:t>Communication Skills</a:t>
            </a:r>
            <a:endParaRPr lang="en-US" sz="1200" dirty="0"/>
          </a:p>
        </p:txBody>
      </p:sp>
      <p:sp>
        <p:nvSpPr>
          <p:cNvPr id="20" name="Text 18"/>
          <p:cNvSpPr/>
          <p:nvPr/>
        </p:nvSpPr>
        <p:spPr>
          <a:xfrm>
            <a:off x="566928" y="4087368"/>
            <a:ext cx="2487168" cy="594360"/>
          </a:xfrm>
          <a:prstGeom prst="rect">
            <a:avLst/>
          </a:prstGeom>
          <a:noFill/>
          <a:ln/>
        </p:spPr>
        <p:txBody>
          <a:bodyPr wrap="square" rtlCol="0" anchor="t"/>
          <a:lstStyle/>
          <a:p>
            <a:pPr indent="0" marL="0">
              <a:lnSpc>
                <a:spcPct val="140000"/>
              </a:lnSpc>
              <a:buNone/>
            </a:pPr>
            <a:r>
              <a:rPr lang="en-US" sz="1050" dirty="0">
                <a:solidFill>
                  <a:srgbClr val="1E293B"/>
                </a:solidFill>
                <a:latin typeface="Calibri" pitchFamily="34" charset="0"/>
                <a:ea typeface="Calibri" pitchFamily="34" charset="-122"/>
                <a:cs typeface="Calibri" pitchFamily="34" charset="-120"/>
              </a:rPr>
              <a:t>Learned to present technical cybersecurity concepts in simple, accessible language for a general audience.</a:t>
            </a:r>
            <a:endParaRPr lang="en-US" sz="1050" dirty="0"/>
          </a:p>
        </p:txBody>
      </p:sp>
      <p:sp>
        <p:nvSpPr>
          <p:cNvPr id="21" name="Shape 19"/>
          <p:cNvSpPr/>
          <p:nvPr/>
        </p:nvSpPr>
        <p:spPr>
          <a:xfrm>
            <a:off x="3310128" y="3172968"/>
            <a:ext cx="2697480" cy="1627632"/>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22" name="Text 20"/>
          <p:cNvSpPr/>
          <p:nvPr/>
        </p:nvSpPr>
        <p:spPr>
          <a:xfrm>
            <a:off x="3310128" y="3264408"/>
            <a:ext cx="2697480" cy="438912"/>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3" name="Text 21"/>
          <p:cNvSpPr/>
          <p:nvPr/>
        </p:nvSpPr>
        <p:spPr>
          <a:xfrm>
            <a:off x="3419856" y="3739896"/>
            <a:ext cx="2487168" cy="320040"/>
          </a:xfrm>
          <a:prstGeom prst="rect">
            <a:avLst/>
          </a:prstGeom>
          <a:noFill/>
          <a:ln/>
        </p:spPr>
        <p:txBody>
          <a:bodyPr wrap="square" rtlCol="0" anchor="ctr"/>
          <a:lstStyle/>
          <a:p>
            <a:pPr algn="ctr" indent="0" marL="0">
              <a:buNone/>
            </a:pPr>
            <a:r>
              <a:rPr lang="en-US" sz="1200" b="1" dirty="0">
                <a:solidFill>
                  <a:srgbClr val="1B3A5C"/>
                </a:solidFill>
              </a:rPr>
              <a:t>Personal Security Improvement</a:t>
            </a:r>
            <a:endParaRPr lang="en-US" sz="1200" dirty="0"/>
          </a:p>
        </p:txBody>
      </p:sp>
      <p:sp>
        <p:nvSpPr>
          <p:cNvPr id="24" name="Text 22"/>
          <p:cNvSpPr/>
          <p:nvPr/>
        </p:nvSpPr>
        <p:spPr>
          <a:xfrm>
            <a:off x="3419856" y="4087368"/>
            <a:ext cx="2487168" cy="594360"/>
          </a:xfrm>
          <a:prstGeom prst="rect">
            <a:avLst/>
          </a:prstGeom>
          <a:noFill/>
          <a:ln/>
        </p:spPr>
        <p:txBody>
          <a:bodyPr wrap="square" rtlCol="0" anchor="t"/>
          <a:lstStyle/>
          <a:p>
            <a:pPr indent="0" marL="0">
              <a:lnSpc>
                <a:spcPct val="140000"/>
              </a:lnSpc>
              <a:buNone/>
            </a:pPr>
            <a:r>
              <a:rPr lang="en-US" sz="1050" dirty="0">
                <a:solidFill>
                  <a:srgbClr val="1E293B"/>
                </a:solidFill>
                <a:latin typeface="Calibri" pitchFamily="34" charset="0"/>
                <a:ea typeface="Calibri" pitchFamily="34" charset="-122"/>
                <a:cs typeface="Calibri" pitchFamily="34" charset="-120"/>
              </a:rPr>
              <a:t>This project made us more conscious of our own online safety practices and digital hygiene.</a:t>
            </a:r>
            <a:endParaRPr lang="en-US" sz="1050" dirty="0"/>
          </a:p>
        </p:txBody>
      </p:sp>
      <p:sp>
        <p:nvSpPr>
          <p:cNvPr id="25" name="Shape 23"/>
          <p:cNvSpPr/>
          <p:nvPr/>
        </p:nvSpPr>
        <p:spPr>
          <a:xfrm>
            <a:off x="6163056" y="3172968"/>
            <a:ext cx="2697480" cy="1627632"/>
          </a:xfrm>
          <a:prstGeom prst="rect">
            <a:avLst/>
          </a:prstGeom>
          <a:solidFill>
            <a:srgbClr val="FFFFFF"/>
          </a:solidFill>
          <a:ln w="12700">
            <a:solidFill>
              <a:srgbClr val="CBD5E1"/>
            </a:solidFill>
            <a:prstDash val="solid"/>
          </a:ln>
          <a:effectLst>
            <a:outerShdw sx="100000" sy="100000" kx="0" ky="0" algn="bl" rotWithShape="0" blurRad="101600" dist="38100" dir="8100000">
              <a:srgbClr val="000000">
                <a:alpha val="18000"/>
              </a:srgbClr>
            </a:outerShdw>
          </a:effectLst>
        </p:spPr>
      </p:sp>
      <p:sp>
        <p:nvSpPr>
          <p:cNvPr id="26" name="Text 24"/>
          <p:cNvSpPr/>
          <p:nvPr/>
        </p:nvSpPr>
        <p:spPr>
          <a:xfrm>
            <a:off x="6163056" y="3264408"/>
            <a:ext cx="2697480" cy="438912"/>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7" name="Text 25"/>
          <p:cNvSpPr/>
          <p:nvPr/>
        </p:nvSpPr>
        <p:spPr>
          <a:xfrm>
            <a:off x="6272784" y="3739896"/>
            <a:ext cx="2487168" cy="320040"/>
          </a:xfrm>
          <a:prstGeom prst="rect">
            <a:avLst/>
          </a:prstGeom>
          <a:noFill/>
          <a:ln/>
        </p:spPr>
        <p:txBody>
          <a:bodyPr wrap="square" rtlCol="0" anchor="ctr"/>
          <a:lstStyle/>
          <a:p>
            <a:pPr algn="ctr" indent="0" marL="0">
              <a:buNone/>
            </a:pPr>
            <a:r>
              <a:rPr lang="en-US" sz="1200" b="1" dirty="0">
                <a:solidFill>
                  <a:srgbClr val="1B3A5C"/>
                </a:solidFill>
              </a:rPr>
              <a:t>Teamwork &amp; Collaboration</a:t>
            </a:r>
            <a:endParaRPr lang="en-US" sz="1200" dirty="0"/>
          </a:p>
        </p:txBody>
      </p:sp>
      <p:sp>
        <p:nvSpPr>
          <p:cNvPr id="28" name="Text 26"/>
          <p:cNvSpPr/>
          <p:nvPr/>
        </p:nvSpPr>
        <p:spPr>
          <a:xfrm>
            <a:off x="6272784" y="4087368"/>
            <a:ext cx="2487168" cy="594360"/>
          </a:xfrm>
          <a:prstGeom prst="rect">
            <a:avLst/>
          </a:prstGeom>
          <a:noFill/>
          <a:ln/>
        </p:spPr>
        <p:txBody>
          <a:bodyPr wrap="square" rtlCol="0" anchor="t"/>
          <a:lstStyle/>
          <a:p>
            <a:pPr indent="0" marL="0">
              <a:lnSpc>
                <a:spcPct val="140000"/>
              </a:lnSpc>
              <a:buNone/>
            </a:pPr>
            <a:r>
              <a:rPr lang="en-US" sz="1050" dirty="0">
                <a:solidFill>
                  <a:srgbClr val="1E293B"/>
                </a:solidFill>
                <a:latin typeface="Calibri" pitchFamily="34" charset="0"/>
                <a:ea typeface="Calibri" pitchFamily="34" charset="-122"/>
                <a:cs typeface="Calibri" pitchFamily="34" charset="-120"/>
              </a:rPr>
              <a:t>Working as a team of two helped us divide research, analyze data together, and produce a stronger final output.</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7FF"/>
        </a:solidFill>
      </p:bgPr>
    </p:bg>
    <p:spTree>
      <p:nvGrpSpPr>
        <p:cNvPr id="1" name=""/>
        <p:cNvGrpSpPr/>
        <p:nvPr/>
      </p:nvGrpSpPr>
      <p:grpSpPr>
        <a:xfrm>
          <a:off x="0" y="0"/>
          <a:ext cx="0" cy="0"/>
          <a:chOff x="0" y="0"/>
          <a:chExt cx="0" cy="0"/>
        </a:xfrm>
      </p:grpSpPr>
      <p:sp>
        <p:nvSpPr>
          <p:cNvPr id="2" name="Text 0"/>
          <p:cNvSpPr/>
          <p:nvPr/>
        </p:nvSpPr>
        <p:spPr>
          <a:xfrm>
            <a:off x="457200" y="201168"/>
            <a:ext cx="8229600" cy="502920"/>
          </a:xfrm>
          <a:prstGeom prst="rect">
            <a:avLst/>
          </a:prstGeom>
          <a:noFill/>
          <a:ln/>
        </p:spPr>
        <p:txBody>
          <a:bodyPr wrap="square" rtlCol="0" anchor="ctr"/>
          <a:lstStyle/>
          <a:p>
            <a:pPr indent="0" marL="0">
              <a:buNone/>
            </a:pPr>
            <a:r>
              <a:rPr lang="en-US" sz="3000" b="1" dirty="0">
                <a:solidFill>
                  <a:srgbClr val="0D1B2A"/>
                </a:solidFill>
                <a:latin typeface="Calibri" pitchFamily="34" charset="0"/>
                <a:ea typeface="Calibri" pitchFamily="34" charset="-122"/>
                <a:cs typeface="Calibri" pitchFamily="34" charset="-120"/>
              </a:rPr>
              <a:t>References</a:t>
            </a:r>
            <a:endParaRPr lang="en-US" sz="3000" dirty="0"/>
          </a:p>
        </p:txBody>
      </p:sp>
      <p:sp>
        <p:nvSpPr>
          <p:cNvPr id="3" name="Shape 1"/>
          <p:cNvSpPr/>
          <p:nvPr/>
        </p:nvSpPr>
        <p:spPr>
          <a:xfrm>
            <a:off x="457200" y="749808"/>
            <a:ext cx="8229600" cy="36576"/>
          </a:xfrm>
          <a:prstGeom prst="rect">
            <a:avLst/>
          </a:prstGeom>
          <a:solidFill>
            <a:srgbClr val="CBD5E1"/>
          </a:solidFill>
          <a:ln w="12700">
            <a:solidFill>
              <a:srgbClr val="CBD5E1"/>
            </a:solidFill>
            <a:prstDash val="solid"/>
          </a:ln>
        </p:spPr>
      </p:sp>
      <p:sp>
        <p:nvSpPr>
          <p:cNvPr id="4" name="Shape 2"/>
          <p:cNvSpPr/>
          <p:nvPr/>
        </p:nvSpPr>
        <p:spPr>
          <a:xfrm>
            <a:off x="457200" y="1069848"/>
            <a:ext cx="201168" cy="201168"/>
          </a:xfrm>
          <a:prstGeom prst="rect">
            <a:avLst/>
          </a:prstGeom>
          <a:solidFill>
            <a:srgbClr val="00B4D8"/>
          </a:solidFill>
          <a:ln w="12700">
            <a:solidFill>
              <a:srgbClr val="00B4D8"/>
            </a:solidFill>
            <a:prstDash val="solid"/>
          </a:ln>
        </p:spPr>
      </p:sp>
      <p:sp>
        <p:nvSpPr>
          <p:cNvPr id="5" name="Text 3"/>
          <p:cNvSpPr/>
          <p:nvPr/>
        </p:nvSpPr>
        <p:spPr>
          <a:xfrm>
            <a:off x="457200" y="1051560"/>
            <a:ext cx="201168" cy="228600"/>
          </a:xfrm>
          <a:prstGeom prst="rect">
            <a:avLst/>
          </a:prstGeom>
          <a:noFill/>
          <a:ln/>
        </p:spPr>
        <p:txBody>
          <a:bodyPr wrap="square" rtlCol="0" anchor="ctr"/>
          <a:lstStyle/>
          <a:p>
            <a:pPr algn="ctr" indent="0" marL="0">
              <a:buNone/>
            </a:pPr>
            <a:r>
              <a:rPr lang="en-US" sz="1000" b="1" dirty="0">
                <a:solidFill>
                  <a:srgbClr val="FFFFFF"/>
                </a:solidFill>
              </a:rPr>
              <a:t>1</a:t>
            </a:r>
            <a:endParaRPr lang="en-US" sz="1000" dirty="0"/>
          </a:p>
        </p:txBody>
      </p:sp>
      <p:sp>
        <p:nvSpPr>
          <p:cNvPr id="6" name="Text 4"/>
          <p:cNvSpPr/>
          <p:nvPr/>
        </p:nvSpPr>
        <p:spPr>
          <a:xfrm>
            <a:off x="777240" y="960120"/>
            <a:ext cx="8046720" cy="475488"/>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CERT-In Annual Report 2022–23 — Indian Computer Emergency Response Team, Ministry of Electronics &amp; IT</a:t>
            </a:r>
            <a:endParaRPr lang="en-US" sz="1200" dirty="0"/>
          </a:p>
        </p:txBody>
      </p:sp>
      <p:sp>
        <p:nvSpPr>
          <p:cNvPr id="7" name="Shape 5"/>
          <p:cNvSpPr/>
          <p:nvPr/>
        </p:nvSpPr>
        <p:spPr>
          <a:xfrm>
            <a:off x="457200" y="1581912"/>
            <a:ext cx="201168" cy="201168"/>
          </a:xfrm>
          <a:prstGeom prst="rect">
            <a:avLst/>
          </a:prstGeom>
          <a:solidFill>
            <a:srgbClr val="00B4D8"/>
          </a:solidFill>
          <a:ln w="12700">
            <a:solidFill>
              <a:srgbClr val="00B4D8"/>
            </a:solidFill>
            <a:prstDash val="solid"/>
          </a:ln>
        </p:spPr>
      </p:sp>
      <p:sp>
        <p:nvSpPr>
          <p:cNvPr id="8" name="Text 6"/>
          <p:cNvSpPr/>
          <p:nvPr/>
        </p:nvSpPr>
        <p:spPr>
          <a:xfrm>
            <a:off x="457200" y="1563624"/>
            <a:ext cx="201168" cy="228600"/>
          </a:xfrm>
          <a:prstGeom prst="rect">
            <a:avLst/>
          </a:prstGeom>
          <a:noFill/>
          <a:ln/>
        </p:spPr>
        <p:txBody>
          <a:bodyPr wrap="square" rtlCol="0" anchor="ctr"/>
          <a:lstStyle/>
          <a:p>
            <a:pPr algn="ctr" indent="0" marL="0">
              <a:buNone/>
            </a:pPr>
            <a:r>
              <a:rPr lang="en-US" sz="1000" b="1" dirty="0">
                <a:solidFill>
                  <a:srgbClr val="FFFFFF"/>
                </a:solidFill>
              </a:rPr>
              <a:t>2</a:t>
            </a:r>
            <a:endParaRPr lang="en-US" sz="1000" dirty="0"/>
          </a:p>
        </p:txBody>
      </p:sp>
      <p:sp>
        <p:nvSpPr>
          <p:cNvPr id="9" name="Text 7"/>
          <p:cNvSpPr/>
          <p:nvPr/>
        </p:nvSpPr>
        <p:spPr>
          <a:xfrm>
            <a:off x="777240" y="1472184"/>
            <a:ext cx="8046720" cy="475488"/>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NCRB Crime in India Report 2022 — National Crime Records Bureau, Ministry of Home Affairs</a:t>
            </a:r>
            <a:endParaRPr lang="en-US" sz="1200" dirty="0"/>
          </a:p>
        </p:txBody>
      </p:sp>
      <p:sp>
        <p:nvSpPr>
          <p:cNvPr id="10" name="Shape 8"/>
          <p:cNvSpPr/>
          <p:nvPr/>
        </p:nvSpPr>
        <p:spPr>
          <a:xfrm>
            <a:off x="457200" y="2093976"/>
            <a:ext cx="201168" cy="201168"/>
          </a:xfrm>
          <a:prstGeom prst="rect">
            <a:avLst/>
          </a:prstGeom>
          <a:solidFill>
            <a:srgbClr val="00B4D8"/>
          </a:solidFill>
          <a:ln w="12700">
            <a:solidFill>
              <a:srgbClr val="00B4D8"/>
            </a:solidFill>
            <a:prstDash val="solid"/>
          </a:ln>
        </p:spPr>
      </p:sp>
      <p:sp>
        <p:nvSpPr>
          <p:cNvPr id="11" name="Text 9"/>
          <p:cNvSpPr/>
          <p:nvPr/>
        </p:nvSpPr>
        <p:spPr>
          <a:xfrm>
            <a:off x="457200" y="2075688"/>
            <a:ext cx="201168" cy="228600"/>
          </a:xfrm>
          <a:prstGeom prst="rect">
            <a:avLst/>
          </a:prstGeom>
          <a:noFill/>
          <a:ln/>
        </p:spPr>
        <p:txBody>
          <a:bodyPr wrap="square" rtlCol="0" anchor="ctr"/>
          <a:lstStyle/>
          <a:p>
            <a:pPr algn="ctr" indent="0" marL="0">
              <a:buNone/>
            </a:pPr>
            <a:r>
              <a:rPr lang="en-US" sz="1000" b="1" dirty="0">
                <a:solidFill>
                  <a:srgbClr val="FFFFFF"/>
                </a:solidFill>
              </a:rPr>
              <a:t>3</a:t>
            </a:r>
            <a:endParaRPr lang="en-US" sz="1000" dirty="0"/>
          </a:p>
        </p:txBody>
      </p:sp>
      <p:sp>
        <p:nvSpPr>
          <p:cNvPr id="12" name="Text 10"/>
          <p:cNvSpPr/>
          <p:nvPr/>
        </p:nvSpPr>
        <p:spPr>
          <a:xfrm>
            <a:off x="777240" y="1984248"/>
            <a:ext cx="8046720" cy="475488"/>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TRAI Telecom Subscription Data 2024 — Telecom Regulatory Authority of India</a:t>
            </a:r>
            <a:endParaRPr lang="en-US" sz="1200" dirty="0"/>
          </a:p>
        </p:txBody>
      </p:sp>
      <p:sp>
        <p:nvSpPr>
          <p:cNvPr id="13" name="Shape 11"/>
          <p:cNvSpPr/>
          <p:nvPr/>
        </p:nvSpPr>
        <p:spPr>
          <a:xfrm>
            <a:off x="457200" y="2606040"/>
            <a:ext cx="201168" cy="201168"/>
          </a:xfrm>
          <a:prstGeom prst="rect">
            <a:avLst/>
          </a:prstGeom>
          <a:solidFill>
            <a:srgbClr val="00B4D8"/>
          </a:solidFill>
          <a:ln w="12700">
            <a:solidFill>
              <a:srgbClr val="00B4D8"/>
            </a:solidFill>
            <a:prstDash val="solid"/>
          </a:ln>
        </p:spPr>
      </p:sp>
      <p:sp>
        <p:nvSpPr>
          <p:cNvPr id="14" name="Text 12"/>
          <p:cNvSpPr/>
          <p:nvPr/>
        </p:nvSpPr>
        <p:spPr>
          <a:xfrm>
            <a:off x="457200" y="2587752"/>
            <a:ext cx="201168" cy="228600"/>
          </a:xfrm>
          <a:prstGeom prst="rect">
            <a:avLst/>
          </a:prstGeom>
          <a:noFill/>
          <a:ln/>
        </p:spPr>
        <p:txBody>
          <a:bodyPr wrap="square" rtlCol="0" anchor="ctr"/>
          <a:lstStyle/>
          <a:p>
            <a:pPr algn="ctr" indent="0" marL="0">
              <a:buNone/>
            </a:pPr>
            <a:r>
              <a:rPr lang="en-US" sz="1000" b="1" dirty="0">
                <a:solidFill>
                  <a:srgbClr val="FFFFFF"/>
                </a:solidFill>
              </a:rPr>
              <a:t>4</a:t>
            </a:r>
            <a:endParaRPr lang="en-US" sz="1000" dirty="0"/>
          </a:p>
        </p:txBody>
      </p:sp>
      <p:sp>
        <p:nvSpPr>
          <p:cNvPr id="15" name="Text 13"/>
          <p:cNvSpPr/>
          <p:nvPr/>
        </p:nvSpPr>
        <p:spPr>
          <a:xfrm>
            <a:off x="777240" y="2496312"/>
            <a:ext cx="8046720" cy="475488"/>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Cyber Surakshit Bharat Program — Ministry of Electronics and Information Technology (MeitY)</a:t>
            </a:r>
            <a:endParaRPr lang="en-US" sz="1200" dirty="0"/>
          </a:p>
        </p:txBody>
      </p:sp>
      <p:sp>
        <p:nvSpPr>
          <p:cNvPr id="16" name="Shape 14"/>
          <p:cNvSpPr/>
          <p:nvPr/>
        </p:nvSpPr>
        <p:spPr>
          <a:xfrm>
            <a:off x="457200" y="3118104"/>
            <a:ext cx="201168" cy="201168"/>
          </a:xfrm>
          <a:prstGeom prst="rect">
            <a:avLst/>
          </a:prstGeom>
          <a:solidFill>
            <a:srgbClr val="00B4D8"/>
          </a:solidFill>
          <a:ln w="12700">
            <a:solidFill>
              <a:srgbClr val="00B4D8"/>
            </a:solidFill>
            <a:prstDash val="solid"/>
          </a:ln>
        </p:spPr>
      </p:sp>
      <p:sp>
        <p:nvSpPr>
          <p:cNvPr id="17" name="Text 15"/>
          <p:cNvSpPr/>
          <p:nvPr/>
        </p:nvSpPr>
        <p:spPr>
          <a:xfrm>
            <a:off x="457200" y="3099816"/>
            <a:ext cx="201168" cy="228600"/>
          </a:xfrm>
          <a:prstGeom prst="rect">
            <a:avLst/>
          </a:prstGeom>
          <a:noFill/>
          <a:ln/>
        </p:spPr>
        <p:txBody>
          <a:bodyPr wrap="square" rtlCol="0" anchor="ctr"/>
          <a:lstStyle/>
          <a:p>
            <a:pPr algn="ctr" indent="0" marL="0">
              <a:buNone/>
            </a:pPr>
            <a:r>
              <a:rPr lang="en-US" sz="1000" b="1" dirty="0">
                <a:solidFill>
                  <a:srgbClr val="FFFFFF"/>
                </a:solidFill>
              </a:rPr>
              <a:t>5</a:t>
            </a:r>
            <a:endParaRPr lang="en-US" sz="1000" dirty="0"/>
          </a:p>
        </p:txBody>
      </p:sp>
      <p:sp>
        <p:nvSpPr>
          <p:cNvPr id="18" name="Text 16"/>
          <p:cNvSpPr/>
          <p:nvPr/>
        </p:nvSpPr>
        <p:spPr>
          <a:xfrm>
            <a:off x="777240" y="3008376"/>
            <a:ext cx="8046720" cy="475488"/>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National Cybercrime Reporting Portal — cybercrime.gov.in</a:t>
            </a:r>
            <a:endParaRPr lang="en-US" sz="1200" dirty="0"/>
          </a:p>
        </p:txBody>
      </p:sp>
      <p:sp>
        <p:nvSpPr>
          <p:cNvPr id="19" name="Shape 17"/>
          <p:cNvSpPr/>
          <p:nvPr/>
        </p:nvSpPr>
        <p:spPr>
          <a:xfrm>
            <a:off x="457200" y="3630168"/>
            <a:ext cx="201168" cy="201168"/>
          </a:xfrm>
          <a:prstGeom prst="rect">
            <a:avLst/>
          </a:prstGeom>
          <a:solidFill>
            <a:srgbClr val="00B4D8"/>
          </a:solidFill>
          <a:ln w="12700">
            <a:solidFill>
              <a:srgbClr val="00B4D8"/>
            </a:solidFill>
            <a:prstDash val="solid"/>
          </a:ln>
        </p:spPr>
      </p:sp>
      <p:sp>
        <p:nvSpPr>
          <p:cNvPr id="20" name="Text 18"/>
          <p:cNvSpPr/>
          <p:nvPr/>
        </p:nvSpPr>
        <p:spPr>
          <a:xfrm>
            <a:off x="457200" y="3611880"/>
            <a:ext cx="201168" cy="228600"/>
          </a:xfrm>
          <a:prstGeom prst="rect">
            <a:avLst/>
          </a:prstGeom>
          <a:noFill/>
          <a:ln/>
        </p:spPr>
        <p:txBody>
          <a:bodyPr wrap="square" rtlCol="0" anchor="ctr"/>
          <a:lstStyle/>
          <a:p>
            <a:pPr algn="ctr" indent="0" marL="0">
              <a:buNone/>
            </a:pPr>
            <a:r>
              <a:rPr lang="en-US" sz="1000" b="1" dirty="0">
                <a:solidFill>
                  <a:srgbClr val="FFFFFF"/>
                </a:solidFill>
              </a:rPr>
              <a:t>6</a:t>
            </a:r>
            <a:endParaRPr lang="en-US" sz="1000" dirty="0"/>
          </a:p>
        </p:txBody>
      </p:sp>
      <p:sp>
        <p:nvSpPr>
          <p:cNvPr id="21" name="Text 19"/>
          <p:cNvSpPr/>
          <p:nvPr/>
        </p:nvSpPr>
        <p:spPr>
          <a:xfrm>
            <a:off x="777240" y="3520440"/>
            <a:ext cx="8046720" cy="475488"/>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BharatNet Project Overview — Department of Telecommunications, Government of India</a:t>
            </a:r>
            <a:endParaRPr lang="en-US" sz="1200" dirty="0"/>
          </a:p>
        </p:txBody>
      </p:sp>
      <p:sp>
        <p:nvSpPr>
          <p:cNvPr id="22" name="Shape 20"/>
          <p:cNvSpPr/>
          <p:nvPr/>
        </p:nvSpPr>
        <p:spPr>
          <a:xfrm>
            <a:off x="457200" y="4142232"/>
            <a:ext cx="201168" cy="201168"/>
          </a:xfrm>
          <a:prstGeom prst="rect">
            <a:avLst/>
          </a:prstGeom>
          <a:solidFill>
            <a:srgbClr val="00B4D8"/>
          </a:solidFill>
          <a:ln w="12700">
            <a:solidFill>
              <a:srgbClr val="00B4D8"/>
            </a:solidFill>
            <a:prstDash val="solid"/>
          </a:ln>
        </p:spPr>
      </p:sp>
      <p:sp>
        <p:nvSpPr>
          <p:cNvPr id="23" name="Text 21"/>
          <p:cNvSpPr/>
          <p:nvPr/>
        </p:nvSpPr>
        <p:spPr>
          <a:xfrm>
            <a:off x="457200" y="4123944"/>
            <a:ext cx="201168" cy="228600"/>
          </a:xfrm>
          <a:prstGeom prst="rect">
            <a:avLst/>
          </a:prstGeom>
          <a:noFill/>
          <a:ln/>
        </p:spPr>
        <p:txBody>
          <a:bodyPr wrap="square" rtlCol="0" anchor="ctr"/>
          <a:lstStyle/>
          <a:p>
            <a:pPr algn="ctr" indent="0" marL="0">
              <a:buNone/>
            </a:pPr>
            <a:r>
              <a:rPr lang="en-US" sz="1000" b="1" dirty="0">
                <a:solidFill>
                  <a:srgbClr val="FFFFFF"/>
                </a:solidFill>
              </a:rPr>
              <a:t>7</a:t>
            </a:r>
            <a:endParaRPr lang="en-US" sz="1000" dirty="0"/>
          </a:p>
        </p:txBody>
      </p:sp>
      <p:sp>
        <p:nvSpPr>
          <p:cNvPr id="24" name="Text 22"/>
          <p:cNvSpPr/>
          <p:nvPr/>
        </p:nvSpPr>
        <p:spPr>
          <a:xfrm>
            <a:off x="777240" y="4032504"/>
            <a:ext cx="8046720" cy="475488"/>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Census of India 2011 — District Census Handbook, Ahmednagar</a:t>
            </a:r>
            <a:endParaRPr lang="en-US" sz="1200" dirty="0"/>
          </a:p>
        </p:txBody>
      </p:sp>
      <p:sp>
        <p:nvSpPr>
          <p:cNvPr id="25" name="Shape 23"/>
          <p:cNvSpPr/>
          <p:nvPr/>
        </p:nvSpPr>
        <p:spPr>
          <a:xfrm>
            <a:off x="457200" y="4654296"/>
            <a:ext cx="201168" cy="201168"/>
          </a:xfrm>
          <a:prstGeom prst="rect">
            <a:avLst/>
          </a:prstGeom>
          <a:solidFill>
            <a:srgbClr val="00B4D8"/>
          </a:solidFill>
          <a:ln w="12700">
            <a:solidFill>
              <a:srgbClr val="00B4D8"/>
            </a:solidFill>
            <a:prstDash val="solid"/>
          </a:ln>
        </p:spPr>
      </p:sp>
      <p:sp>
        <p:nvSpPr>
          <p:cNvPr id="26" name="Text 24"/>
          <p:cNvSpPr/>
          <p:nvPr/>
        </p:nvSpPr>
        <p:spPr>
          <a:xfrm>
            <a:off x="457200" y="4636008"/>
            <a:ext cx="201168" cy="228600"/>
          </a:xfrm>
          <a:prstGeom prst="rect">
            <a:avLst/>
          </a:prstGeom>
          <a:noFill/>
          <a:ln/>
        </p:spPr>
        <p:txBody>
          <a:bodyPr wrap="square" rtlCol="0" anchor="ctr"/>
          <a:lstStyle/>
          <a:p>
            <a:pPr algn="ctr" indent="0" marL="0">
              <a:buNone/>
            </a:pPr>
            <a:r>
              <a:rPr lang="en-US" sz="1000" b="1" dirty="0">
                <a:solidFill>
                  <a:srgbClr val="FFFFFF"/>
                </a:solidFill>
              </a:rPr>
              <a:t>8</a:t>
            </a:r>
            <a:endParaRPr lang="en-US" sz="1000" dirty="0"/>
          </a:p>
        </p:txBody>
      </p:sp>
      <p:sp>
        <p:nvSpPr>
          <p:cNvPr id="27" name="Text 25"/>
          <p:cNvSpPr/>
          <p:nvPr/>
        </p:nvSpPr>
        <p:spPr>
          <a:xfrm>
            <a:off x="777240" y="4544568"/>
            <a:ext cx="8046720" cy="475488"/>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Pew Research Center 2023 — Global Patterns of Internet Use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B4D8"/>
          </a:solidFill>
          <a:ln w="12700">
            <a:solidFill>
              <a:srgbClr val="00B4D8"/>
            </a:solidFill>
            <a:prstDash val="solid"/>
          </a:ln>
        </p:spPr>
      </p:sp>
      <p:sp>
        <p:nvSpPr>
          <p:cNvPr id="3" name="Shape 1"/>
          <p:cNvSpPr/>
          <p:nvPr/>
        </p:nvSpPr>
        <p:spPr>
          <a:xfrm>
            <a:off x="0" y="5029200"/>
            <a:ext cx="9144000" cy="114300"/>
          </a:xfrm>
          <a:prstGeom prst="rect">
            <a:avLst/>
          </a:prstGeom>
          <a:solidFill>
            <a:srgbClr val="00B4D8"/>
          </a:solidFill>
          <a:ln w="12700">
            <a:solidFill>
              <a:srgbClr val="00B4D8"/>
            </a:solidFill>
            <a:prstDash val="solid"/>
          </a:ln>
        </p:spPr>
      </p:sp>
      <p:sp>
        <p:nvSpPr>
          <p:cNvPr id="4" name="Text 2"/>
          <p:cNvSpPr/>
          <p:nvPr/>
        </p:nvSpPr>
        <p:spPr>
          <a:xfrm>
            <a:off x="457200" y="1097280"/>
            <a:ext cx="8229600" cy="1097280"/>
          </a:xfrm>
          <a:prstGeom prst="rect">
            <a:avLst/>
          </a:prstGeom>
          <a:noFill/>
          <a:ln/>
        </p:spPr>
        <p:txBody>
          <a:bodyPr wrap="square" rtlCol="0" anchor="ctr"/>
          <a:lstStyle/>
          <a:p>
            <a:pPr algn="ctr" indent="0" marL="0">
              <a:buNone/>
            </a:pPr>
            <a:r>
              <a:rPr lang="en-US" sz="5800" b="1" dirty="0">
                <a:solidFill>
                  <a:srgbClr val="FFFFFF"/>
                </a:solidFill>
                <a:latin typeface="Calibri" pitchFamily="34" charset="0"/>
                <a:ea typeface="Calibri" pitchFamily="34" charset="-122"/>
                <a:cs typeface="Calibri" pitchFamily="34" charset="-120"/>
              </a:rPr>
              <a:t>Thank You</a:t>
            </a:r>
            <a:endParaRPr lang="en-US" sz="5800" dirty="0"/>
          </a:p>
        </p:txBody>
      </p:sp>
      <p:sp>
        <p:nvSpPr>
          <p:cNvPr id="5" name="Shape 3"/>
          <p:cNvSpPr/>
          <p:nvPr/>
        </p:nvSpPr>
        <p:spPr>
          <a:xfrm>
            <a:off x="2926080" y="2331720"/>
            <a:ext cx="3291840" cy="45720"/>
          </a:xfrm>
          <a:prstGeom prst="rect">
            <a:avLst/>
          </a:prstGeom>
          <a:solidFill>
            <a:srgbClr val="00B4D8"/>
          </a:solidFill>
          <a:ln w="12700">
            <a:solidFill>
              <a:srgbClr val="00B4D8"/>
            </a:solidFill>
            <a:prstDash val="solid"/>
          </a:ln>
        </p:spPr>
      </p:sp>
      <p:sp>
        <p:nvSpPr>
          <p:cNvPr id="6" name="Text 4"/>
          <p:cNvSpPr/>
          <p:nvPr/>
        </p:nvSpPr>
        <p:spPr>
          <a:xfrm>
            <a:off x="457200" y="2487168"/>
            <a:ext cx="8229600" cy="347472"/>
          </a:xfrm>
          <a:prstGeom prst="rect">
            <a:avLst/>
          </a:prstGeom>
          <a:noFill/>
          <a:ln/>
        </p:spPr>
        <p:txBody>
          <a:bodyPr wrap="square" rtlCol="0" anchor="ctr"/>
          <a:lstStyle/>
          <a:p>
            <a:pPr algn="ctr" indent="0" marL="0">
              <a:buNone/>
            </a:pPr>
            <a:r>
              <a:rPr lang="en-US" sz="1300" b="1" dirty="0">
                <a:solidFill>
                  <a:srgbClr val="CBD5E1"/>
                </a:solidFill>
              </a:rPr>
              <a:t>Submitted By</a:t>
            </a:r>
            <a:endParaRPr lang="en-US" sz="1300" dirty="0"/>
          </a:p>
        </p:txBody>
      </p:sp>
      <p:sp>
        <p:nvSpPr>
          <p:cNvPr id="7" name="Text 5"/>
          <p:cNvSpPr/>
          <p:nvPr/>
        </p:nvSpPr>
        <p:spPr>
          <a:xfrm>
            <a:off x="457200" y="2834640"/>
            <a:ext cx="8229600" cy="457200"/>
          </a:xfrm>
          <a:prstGeom prst="rect">
            <a:avLst/>
          </a:prstGeom>
          <a:noFill/>
          <a:ln/>
        </p:spPr>
        <p:txBody>
          <a:bodyPr wrap="square" rtlCol="0" anchor="ctr"/>
          <a:lstStyle/>
          <a:p>
            <a:pPr algn="ctr" indent="0" marL="0">
              <a:buNone/>
            </a:pPr>
            <a:r>
              <a:rPr lang="en-US" sz="2200" b="1" dirty="0">
                <a:solidFill>
                  <a:srgbClr val="00B4D8"/>
                </a:solidFill>
                <a:latin typeface="Calibri" pitchFamily="34" charset="0"/>
                <a:ea typeface="Calibri" pitchFamily="34" charset="-122"/>
                <a:cs typeface="Calibri" pitchFamily="34" charset="-120"/>
              </a:rPr>
              <a:t>Vimal Borana  &amp;  Yash Goyal</a:t>
            </a:r>
            <a:endParaRPr lang="en-US" sz="2200" dirty="0"/>
          </a:p>
        </p:txBody>
      </p:sp>
      <p:sp>
        <p:nvSpPr>
          <p:cNvPr id="8" name="Text 6"/>
          <p:cNvSpPr/>
          <p:nvPr/>
        </p:nvSpPr>
        <p:spPr>
          <a:xfrm>
            <a:off x="457200" y="3337560"/>
            <a:ext cx="8229600" cy="347472"/>
          </a:xfrm>
          <a:prstGeom prst="rect">
            <a:avLst/>
          </a:prstGeom>
          <a:noFill/>
          <a:ln/>
        </p:spPr>
        <p:txBody>
          <a:bodyPr wrap="square" rtlCol="0" anchor="ctr"/>
          <a:lstStyle/>
          <a:p>
            <a:pPr algn="ctr" indent="0" marL="0">
              <a:buNone/>
            </a:pPr>
            <a:r>
              <a:rPr lang="en-US" sz="1300" dirty="0">
                <a:solidFill>
                  <a:srgbClr val="CBD5E1"/>
                </a:solidFill>
              </a:rPr>
              <a:t>Class: SYBCA  |  New Arts, Commerce and Science College, Ahmednagar</a:t>
            </a:r>
            <a:endParaRPr lang="en-US" sz="1300" dirty="0"/>
          </a:p>
        </p:txBody>
      </p:sp>
      <p:sp>
        <p:nvSpPr>
          <p:cNvPr id="9" name="Text 7"/>
          <p:cNvSpPr/>
          <p:nvPr/>
        </p:nvSpPr>
        <p:spPr>
          <a:xfrm>
            <a:off x="457200" y="3703320"/>
            <a:ext cx="8229600" cy="320040"/>
          </a:xfrm>
          <a:prstGeom prst="rect">
            <a:avLst/>
          </a:prstGeom>
          <a:noFill/>
          <a:ln/>
        </p:spPr>
        <p:txBody>
          <a:bodyPr wrap="square" rtlCol="0" anchor="ctr"/>
          <a:lstStyle/>
          <a:p>
            <a:pPr algn="ctr" indent="0" marL="0">
              <a:buNone/>
            </a:pPr>
            <a:r>
              <a:rPr lang="en-US" sz="1200" dirty="0">
                <a:solidFill>
                  <a:srgbClr val="64748B"/>
                </a:solidFill>
              </a:rPr>
              <a:t>Guide: Prof. _______________  |  Academic Year: 2025–2026</a:t>
            </a:r>
            <a:endParaRPr lang="en-US" sz="1200" dirty="0"/>
          </a:p>
        </p:txBody>
      </p:sp>
      <p:sp>
        <p:nvSpPr>
          <p:cNvPr id="10" name="Text 8"/>
          <p:cNvSpPr/>
          <p:nvPr/>
        </p:nvSpPr>
        <p:spPr>
          <a:xfrm>
            <a:off x="457200" y="4160520"/>
            <a:ext cx="8229600" cy="320040"/>
          </a:xfrm>
          <a:prstGeom prst="rect">
            <a:avLst/>
          </a:prstGeom>
          <a:noFill/>
          <a:ln/>
        </p:spPr>
        <p:txBody>
          <a:bodyPr wrap="square" rtlCol="0" anchor="ctr"/>
          <a:lstStyle/>
          <a:p>
            <a:pPr algn="ctr" indent="0" marL="0">
              <a:buNone/>
            </a:pPr>
            <a:r>
              <a:rPr lang="en-US" sz="1300" i="1" dirty="0">
                <a:solidFill>
                  <a:srgbClr val="64748B"/>
                </a:solidFill>
              </a:rPr>
              <a:t>Open to Questions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CEP - Cybersecurity Awareness</dc:title>
  <dc:subject>PptxGenJS Presentation</dc:subject>
  <dc:creator>PptxGenJS</dc:creator>
  <cp:lastModifiedBy>PptxGenJS</cp:lastModifiedBy>
  <cp:revision>1</cp:revision>
  <dcterms:created xsi:type="dcterms:W3CDTF">2026-04-24T03:47:50Z</dcterms:created>
  <dcterms:modified xsi:type="dcterms:W3CDTF">2026-04-24T03:47:50Z</dcterms:modified>
</cp:coreProperties>
</file>